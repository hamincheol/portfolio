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24"/>
  </p:notesMasterIdLst>
  <p:sldIdLst>
    <p:sldId id="258" r:id="rId2"/>
    <p:sldId id="263" r:id="rId3"/>
    <p:sldId id="270" r:id="rId4"/>
    <p:sldId id="292" r:id="rId5"/>
    <p:sldId id="306" r:id="rId6"/>
    <p:sldId id="293" r:id="rId7"/>
    <p:sldId id="323" r:id="rId8"/>
    <p:sldId id="324" r:id="rId9"/>
    <p:sldId id="326" r:id="rId10"/>
    <p:sldId id="311" r:id="rId11"/>
    <p:sldId id="313" r:id="rId12"/>
    <p:sldId id="325" r:id="rId13"/>
    <p:sldId id="327" r:id="rId14"/>
    <p:sldId id="317" r:id="rId15"/>
    <p:sldId id="319" r:id="rId16"/>
    <p:sldId id="295" r:id="rId17"/>
    <p:sldId id="321" r:id="rId18"/>
    <p:sldId id="333" r:id="rId19"/>
    <p:sldId id="330" r:id="rId20"/>
    <p:sldId id="328" r:id="rId21"/>
    <p:sldId id="332" r:id="rId22"/>
    <p:sldId id="322" r:id="rId23"/>
  </p:sldIdLst>
  <p:sldSz cx="12192000" cy="6858000"/>
  <p:notesSz cx="6858000" cy="9144000"/>
  <p:embeddedFontLst>
    <p:embeddedFont>
      <p:font typeface="맑은 고딕" panose="020B0503020000020004" pitchFamily="34" charset="-127"/>
      <p:regular r:id="rId25"/>
      <p:bold r:id="rId26"/>
    </p:embeddedFont>
    <p:embeddedFont>
      <p:font typeface="GYEONGGITITLEOTF LIGHT" panose="02020403020101020101" pitchFamily="18" charset="-127"/>
      <p:regular r:id="rId27"/>
    </p:embeddedFont>
    <p:embeddedFont>
      <p:font typeface="GYEONGGITITLEOTF LIGHT" panose="02020403020101020101" pitchFamily="18" charset="-127"/>
      <p:regular r:id="rId27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C5397"/>
    <a:srgbClr val="7C786F"/>
    <a:srgbClr val="F3E2BF"/>
    <a:srgbClr val="C9B488"/>
    <a:srgbClr val="C44741"/>
    <a:srgbClr val="C62828"/>
    <a:srgbClr val="393832"/>
    <a:srgbClr val="D5CAB6"/>
    <a:srgbClr val="1D4999"/>
    <a:srgbClr val="DBD7D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보통 스타일 2 - 강조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69CF1AB2-1976-4502-BF36-3FF5EA218861}" styleName="보통 스타일 4 - 강조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443" autoAdjust="0"/>
    <p:restoredTop sz="96370" autoAdjust="0"/>
  </p:normalViewPr>
  <p:slideViewPr>
    <p:cSldViewPr snapToGrid="0">
      <p:cViewPr varScale="1">
        <p:scale>
          <a:sx n="154" d="100"/>
          <a:sy n="154" d="100"/>
        </p:scale>
        <p:origin x="216" y="21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2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1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3.fnt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D034FCE-6843-45E0-BA14-DDBF9226175D}" type="datetimeFigureOut">
              <a:rPr lang="ko-KR" altLang="en-US" smtClean="0"/>
              <a:t>2025. 12. 6.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22F450D-1742-4673-9B90-1E28198A00C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310123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2F450D-1742-4673-9B90-1E28198A00C9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551933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3EBE285-5BB2-7F6C-1A7A-D1A17B5B96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1AD7EE4F-F7EF-ADB0-1EE9-67361112D9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E300C88-5787-E853-2128-FA5525AFE6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76371-2C91-4B44-ABC0-90A72F97BE46}" type="datetime1">
              <a:rPr lang="ko-KR" altLang="en-US" smtClean="0"/>
              <a:t>2025. 12. 6.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849A026-D826-1AE7-567A-94C818F5F9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41D6070-1E21-6D4C-54A6-E0DBF36997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99A680-B6F1-42BA-AD9E-39D06E378BF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491819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64BB4D8-CD42-0D9F-849D-FE0E541DD5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567C5BC-EC17-2008-C468-27D067C362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728BFD9-C824-8D4F-C08E-0F2811E1CF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9C5119-3FA8-9A47-B505-BB3FB1C4286F}" type="datetime1">
              <a:rPr lang="ko-KR" altLang="en-US" smtClean="0"/>
              <a:t>2025. 12. 6.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48A7A78-5CBB-9A67-7A24-8CF24A02BE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10E54CF-AB07-086A-2CBE-31ABBBD4EA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99A680-B6F1-42BA-AD9E-39D06E378BF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595105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B80B6DD-3B8F-7A10-CA05-57E331EB4F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2574A5A-A17E-870A-445B-807DA88D91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66B1C34-2FE6-257B-A801-CF9039CBCF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30F16D-7D84-1145-90E5-EDA10BD35CFA}" type="datetime1">
              <a:rPr lang="ko-KR" altLang="en-US" smtClean="0"/>
              <a:t>2025. 12. 6.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228AAEC-65E9-C846-1BF7-A77D6FF995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CECE5D7-2672-36D6-75B3-F045BA0FF0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99A680-B6F1-42BA-AD9E-39D06E378BF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789174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E66D51F-0F26-2EAD-89CA-320E9F2277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C1830EA-4021-9FAC-D7E1-4C5B897D846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1931610-47AC-EBB7-B7EE-588F8A983C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07D0ACB-F2DA-0DD0-ACDD-6DAFD376BF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10A7DC-9F56-C141-85A4-790EDDE38E2C}" type="datetime1">
              <a:rPr lang="ko-KR" altLang="en-US" smtClean="0"/>
              <a:t>2025. 12. 6.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5D6AD6A-21DC-16A7-4045-9107E7C9DD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F346F0A-7479-AFC3-4B1B-3ED832C7E9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99A680-B6F1-42BA-AD9E-39D06E378BF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975976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26F6F86-E1E6-AB53-6977-FDA92682D1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998558F-5DAF-ED8E-E57D-3EB0C1A92B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12A489F-1FA0-71E7-DBA2-2E10A7A8D7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86315B39-656E-7A19-E4A9-CA6690C96A2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17FCB787-ACCB-C72E-312D-DD12AD4B95B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93EC2561-A61B-8FD3-D66C-B3E90E303B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BD1441-E83A-5C4E-B4CA-B46F9E8B724A}" type="datetime1">
              <a:rPr lang="ko-KR" altLang="en-US" smtClean="0"/>
              <a:t>2025. 12. 6.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3F77EF7B-8BEB-6E5E-F854-2E8B528E74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CCF85F4B-CEA3-8BF4-B79E-D49C5AA05A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99A680-B6F1-42BA-AD9E-39D06E378BF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187438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BCBA8A1-F558-CD0A-BA56-762ABA322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85DCBA9A-B6F7-E876-37A4-8B3FBFFF81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5CEFC4-4730-2B4B-A510-3C36EAA86602}" type="datetime1">
              <a:rPr lang="ko-KR" altLang="en-US" smtClean="0"/>
              <a:t>2025. 12. 6.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0125FF1-EE81-63BE-AD01-E524B9F116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145EA85-EF6E-300A-FC0A-86A2034309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99A680-B6F1-42BA-AD9E-39D06E378BF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99248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52D18F67-0286-5A14-2CB9-412ADD036B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4AC46B-EBED-4842-A347-EB29DAD1397F}" type="datetime1">
              <a:rPr lang="ko-KR" altLang="en-US" smtClean="0"/>
              <a:t>2025. 12. 6.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CD212378-678A-D19C-7609-8C85D90823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9F23651-D3DA-6447-2848-6802C21372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99A680-B6F1-42BA-AD9E-39D06E378BF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15855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8A50FAD-510A-C677-8AE2-7EABA421A6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29B4967-A551-9A4C-4F3E-7C18DCFDF9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6B0AFD7-BF6A-61C3-43C6-2456BFEB41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1ADBC4C-CA4E-2E9C-3E6F-7219BA387F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4689BE-BDB1-1543-A0DC-1CF2E0F2E4F8}" type="datetime1">
              <a:rPr lang="ko-KR" altLang="en-US" smtClean="0"/>
              <a:t>2025. 12. 6.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8C809A4-BC6C-A034-4D2C-3481266E59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08353BF-2513-E9BE-1B20-E8298F5A8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99A680-B6F1-42BA-AD9E-39D06E378BF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101854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EC48CE7-0215-FE69-A2EC-A2C9BCC231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4F2DF259-6A56-375D-1D22-DA1E1DE65F1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4D49379-60D8-6403-C0E3-C549A302D4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0402B7E-C5C8-407E-1D80-0595A8C89F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1CCD1C-A63A-9943-B08B-244262483392}" type="datetime1">
              <a:rPr lang="ko-KR" altLang="en-US" smtClean="0"/>
              <a:t>2025. 12. 6.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A2545E5-0249-9BA6-6D02-1F357EB653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08DD7AB-EDE2-B33B-A013-B68FD485A0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99A680-B6F1-42BA-AD9E-39D06E378BF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170862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1168CD9-77ED-52E1-CE77-FA4DC99110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6B781F0-005E-941D-80B1-2ED4B2E76E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471146B-D710-91F9-2EB6-C80133670C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8BEA2B-EB78-E847-A7FE-26AE90AAAB60}" type="datetime1">
              <a:rPr lang="ko-KR" altLang="en-US" smtClean="0"/>
              <a:t>2025. 12. 6.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6D248A6-646B-1579-117A-298CA70F80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6E1B8AA-370A-84C3-C6B6-F3732C81DE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99A680-B6F1-42BA-AD9E-39D06E378BF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367472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028D34E2-E60E-0FCF-C1A7-8FC88CE0B94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E5D4A15-2EA0-6AA9-2A3B-4AD7FE8BD5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4AC3DE5-9C54-2B26-EB78-41E116494C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C4F439-A6BE-0143-9007-DB493EFA70A8}" type="datetime1">
              <a:rPr lang="ko-KR" altLang="en-US" smtClean="0"/>
              <a:t>2025. 12. 6.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2FCD656-AFB8-6A4B-3433-21D62A73C5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30F72A1-4182-B30B-B446-20AA7595EF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99A680-B6F1-42BA-AD9E-39D06E378BF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042819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B6E02841-D73B-11CB-EF94-C674B06A5F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B124A89-BBF5-5F50-22CA-C835BBCDC7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C81E28A-6B37-A2F6-FE68-B90DB645898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2E0C49-992A-DA4B-B9C1-75348030805D}" type="datetime1">
              <a:rPr lang="ko-KR" altLang="en-US" smtClean="0"/>
              <a:t>2025. 12. 6.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92DAF5F-6991-A5B1-A048-9B649001A8B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82998B0-4F5A-7D19-E7BD-F140A10B06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99A680-B6F1-42BA-AD9E-39D06E378BF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655512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microsoft.com/office/2007/relationships/hdphoto" Target="../media/hdphoto1.wdp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8" Type="http://schemas.microsoft.com/office/2007/relationships/hdphoto" Target="../media/hdphoto2.wdp"/><Relationship Id="rId3" Type="http://schemas.openxmlformats.org/officeDocument/2006/relationships/image" Target="../media/image1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9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Relationship Id="rId9" Type="http://schemas.microsoft.com/office/2007/relationships/hdphoto" Target="../media/hdphoto1.wdp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11" Type="http://schemas.openxmlformats.org/officeDocument/2006/relationships/image" Target="../media/image33.png"/><Relationship Id="rId5" Type="http://schemas.openxmlformats.org/officeDocument/2006/relationships/image" Target="../media/image27.png"/><Relationship Id="rId10" Type="http://schemas.openxmlformats.org/officeDocument/2006/relationships/image" Target="../media/image32.png"/><Relationship Id="rId4" Type="http://schemas.openxmlformats.org/officeDocument/2006/relationships/image" Target="../media/image26.png"/><Relationship Id="rId9" Type="http://schemas.openxmlformats.org/officeDocument/2006/relationships/image" Target="../media/image31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image" Target="../media/image22.png"/><Relationship Id="rId7" Type="http://schemas.openxmlformats.org/officeDocument/2006/relationships/image" Target="../media/image3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10" Type="http://schemas.openxmlformats.org/officeDocument/2006/relationships/image" Target="../media/image25.png"/><Relationship Id="rId4" Type="http://schemas.openxmlformats.org/officeDocument/2006/relationships/image" Target="../media/image34.png"/><Relationship Id="rId9" Type="http://schemas.openxmlformats.org/officeDocument/2006/relationships/image" Target="../media/image3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7" Type="http://schemas.openxmlformats.org/officeDocument/2006/relationships/image" Target="../media/image3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41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3" Type="http://schemas.openxmlformats.org/officeDocument/2006/relationships/image" Target="../media/image34.png"/><Relationship Id="rId7" Type="http://schemas.openxmlformats.org/officeDocument/2006/relationships/image" Target="../media/image2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2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Relationship Id="rId9" Type="http://schemas.openxmlformats.org/officeDocument/2006/relationships/image" Target="../media/image44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45.png"/><Relationship Id="rId7" Type="http://schemas.openxmlformats.org/officeDocument/2006/relationships/image" Target="../media/image3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png"/><Relationship Id="rId11" Type="http://schemas.openxmlformats.org/officeDocument/2006/relationships/image" Target="../media/image21.png"/><Relationship Id="rId5" Type="http://schemas.openxmlformats.org/officeDocument/2006/relationships/image" Target="../media/image29.png"/><Relationship Id="rId10" Type="http://schemas.openxmlformats.org/officeDocument/2006/relationships/image" Target="../media/image48.png"/><Relationship Id="rId4" Type="http://schemas.openxmlformats.org/officeDocument/2006/relationships/image" Target="../media/image46.png"/><Relationship Id="rId9" Type="http://schemas.openxmlformats.org/officeDocument/2006/relationships/image" Target="../media/image47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png"/><Relationship Id="rId3" Type="http://schemas.openxmlformats.org/officeDocument/2006/relationships/image" Target="../media/image49.png"/><Relationship Id="rId7" Type="http://schemas.openxmlformats.org/officeDocument/2006/relationships/image" Target="../media/image5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50.png"/><Relationship Id="rId4" Type="http://schemas.openxmlformats.org/officeDocument/2006/relationships/image" Target="../media/image34.png"/><Relationship Id="rId9" Type="http://schemas.openxmlformats.org/officeDocument/2006/relationships/image" Target="../media/image5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7" Type="http://schemas.openxmlformats.org/officeDocument/2006/relationships/image" Target="../media/image5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4.png"/><Relationship Id="rId5" Type="http://schemas.openxmlformats.org/officeDocument/2006/relationships/image" Target="../media/image21.png"/><Relationship Id="rId4" Type="http://schemas.openxmlformats.org/officeDocument/2006/relationships/image" Target="../media/image5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png"/><Relationship Id="rId3" Type="http://schemas.openxmlformats.org/officeDocument/2006/relationships/image" Target="../media/image57.png"/><Relationship Id="rId7" Type="http://schemas.microsoft.com/office/2007/relationships/hdphoto" Target="../media/hdphoto4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9.png"/><Relationship Id="rId5" Type="http://schemas.microsoft.com/office/2007/relationships/hdphoto" Target="../media/hdphoto3.wdp"/><Relationship Id="rId4" Type="http://schemas.openxmlformats.org/officeDocument/2006/relationships/image" Target="../media/image58.png"/><Relationship Id="rId9" Type="http://schemas.microsoft.com/office/2007/relationships/hdphoto" Target="../media/hdphoto5.wdp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2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6.png"/><Relationship Id="rId3" Type="http://schemas.openxmlformats.org/officeDocument/2006/relationships/image" Target="../media/image63.png"/><Relationship Id="rId7" Type="http://schemas.openxmlformats.org/officeDocument/2006/relationships/image" Target="../media/image6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microsoft.com/office/2007/relationships/hdphoto" Target="../media/hdphoto7.wdp"/><Relationship Id="rId5" Type="http://schemas.openxmlformats.org/officeDocument/2006/relationships/image" Target="../media/image64.png"/><Relationship Id="rId4" Type="http://schemas.microsoft.com/office/2007/relationships/hdphoto" Target="../media/hdphoto6.wdp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9.png"/><Relationship Id="rId3" Type="http://schemas.openxmlformats.org/officeDocument/2006/relationships/image" Target="../media/image67.png"/><Relationship Id="rId7" Type="http://schemas.microsoft.com/office/2007/relationships/hdphoto" Target="../media/hdphoto7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4.png"/><Relationship Id="rId11" Type="http://schemas.openxmlformats.org/officeDocument/2006/relationships/image" Target="../media/image71.png"/><Relationship Id="rId5" Type="http://schemas.microsoft.com/office/2007/relationships/hdphoto" Target="../media/hdphoto8.wdp"/><Relationship Id="rId10" Type="http://schemas.openxmlformats.org/officeDocument/2006/relationships/image" Target="../media/image70.png"/><Relationship Id="rId4" Type="http://schemas.openxmlformats.org/officeDocument/2006/relationships/image" Target="../media/image68.png"/><Relationship Id="rId9" Type="http://schemas.openxmlformats.org/officeDocument/2006/relationships/image" Target="../media/image6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3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5.png"/><Relationship Id="rId3" Type="http://schemas.openxmlformats.org/officeDocument/2006/relationships/image" Target="../media/image21.png"/><Relationship Id="rId7" Type="http://schemas.openxmlformats.org/officeDocument/2006/relationships/image" Target="../media/image5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11" Type="http://schemas.openxmlformats.org/officeDocument/2006/relationships/image" Target="../media/image25.png"/><Relationship Id="rId5" Type="http://schemas.openxmlformats.org/officeDocument/2006/relationships/image" Target="../media/image34.png"/><Relationship Id="rId10" Type="http://schemas.openxmlformats.org/officeDocument/2006/relationships/image" Target="../media/image77.png"/><Relationship Id="rId4" Type="http://schemas.openxmlformats.org/officeDocument/2006/relationships/image" Target="../media/image74.png"/><Relationship Id="rId9" Type="http://schemas.openxmlformats.org/officeDocument/2006/relationships/image" Target="../media/image76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순서도: 수동 입력 11">
            <a:extLst>
              <a:ext uri="{FF2B5EF4-FFF2-40B4-BE49-F238E27FC236}">
                <a16:creationId xmlns:a16="http://schemas.microsoft.com/office/drawing/2014/main" id="{67D662FA-D326-4C2F-3DE4-D5C9C1B0C93B}"/>
              </a:ext>
            </a:extLst>
          </p:cNvPr>
          <p:cNvSpPr/>
          <p:nvPr/>
        </p:nvSpPr>
        <p:spPr>
          <a:xfrm rot="5400000" flipV="1">
            <a:off x="10591616" y="5284938"/>
            <a:ext cx="828675" cy="2076450"/>
          </a:xfrm>
          <a:prstGeom prst="flowChartManualInput">
            <a:avLst/>
          </a:prstGeom>
          <a:solidFill>
            <a:srgbClr val="BDAB90"/>
          </a:solidFill>
          <a:ln/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4D7935A-04BA-3182-6CC1-A1FE24A95597}"/>
              </a:ext>
            </a:extLst>
          </p:cNvPr>
          <p:cNvSpPr txBox="1"/>
          <p:nvPr/>
        </p:nvSpPr>
        <p:spPr>
          <a:xfrm>
            <a:off x="10466726" y="6069924"/>
            <a:ext cx="157726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latin typeface="GyeonggiTitleVOTF Bold" panose="02020803020101020101" pitchFamily="18" charset="-127"/>
                <a:ea typeface="GyeonggiTitleVOTF Bold" panose="02020803020101020101" pitchFamily="18" charset="-127"/>
              </a:rPr>
              <a:t>하민철</a:t>
            </a:r>
          </a:p>
        </p:txBody>
      </p:sp>
      <p:pic>
        <p:nvPicPr>
          <p:cNvPr id="3076" name="Picture 4" descr="세븐나이츠 리버스 - 넷마블">
            <a:extLst>
              <a:ext uri="{FF2B5EF4-FFF2-40B4-BE49-F238E27FC236}">
                <a16:creationId xmlns:a16="http://schemas.microsoft.com/office/drawing/2014/main" id="{B9C9CC25-7E55-2BB9-E05B-0B4CE4ACC3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94562" y="999033"/>
            <a:ext cx="8002875" cy="5070891"/>
          </a:xfrm>
          <a:prstGeom prst="rect">
            <a:avLst/>
          </a:prstGeom>
          <a:noFill/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5" name="그룹 14">
            <a:extLst>
              <a:ext uri="{FF2B5EF4-FFF2-40B4-BE49-F238E27FC236}">
                <a16:creationId xmlns:a16="http://schemas.microsoft.com/office/drawing/2014/main" id="{4D1F5095-6A1F-AB2E-B038-AE450ECDCE6C}"/>
              </a:ext>
            </a:extLst>
          </p:cNvPr>
          <p:cNvGrpSpPr/>
          <p:nvPr/>
        </p:nvGrpSpPr>
        <p:grpSpPr>
          <a:xfrm>
            <a:off x="147821" y="120497"/>
            <a:ext cx="4329344" cy="1865074"/>
            <a:chOff x="147821" y="120497"/>
            <a:chExt cx="4329344" cy="1865074"/>
          </a:xfrm>
        </p:grpSpPr>
        <p:sp>
          <p:nvSpPr>
            <p:cNvPr id="10" name="순서도: 수동 입력 9">
              <a:extLst>
                <a:ext uri="{FF2B5EF4-FFF2-40B4-BE49-F238E27FC236}">
                  <a16:creationId xmlns:a16="http://schemas.microsoft.com/office/drawing/2014/main" id="{635F6DBB-1C1A-6056-A623-19B524002E7D}"/>
                </a:ext>
              </a:extLst>
            </p:cNvPr>
            <p:cNvSpPr/>
            <p:nvPr/>
          </p:nvSpPr>
          <p:spPr>
            <a:xfrm rot="5400000" flipH="1">
              <a:off x="1379956" y="-1111638"/>
              <a:ext cx="1865074" cy="4329344"/>
            </a:xfrm>
            <a:prstGeom prst="flowChartManualInput">
              <a:avLst/>
            </a:prstGeom>
            <a:solidFill>
              <a:srgbClr val="BDAB90"/>
            </a:solidFill>
            <a:ln/>
          </p:spPr>
          <p:style>
            <a:lnRef idx="0">
              <a:schemeClr val="accent4"/>
            </a:lnRef>
            <a:fillRef idx="3">
              <a:schemeClr val="accent4"/>
            </a:fillRef>
            <a:effectRef idx="3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752DBAA4-B068-BF14-C015-E1A4B6A5126D}"/>
                </a:ext>
              </a:extLst>
            </p:cNvPr>
            <p:cNvSpPr txBox="1"/>
            <p:nvPr/>
          </p:nvSpPr>
          <p:spPr>
            <a:xfrm>
              <a:off x="370700" y="453320"/>
              <a:ext cx="3667044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3000" b="1" dirty="0">
                  <a:latin typeface="GyeonggiTitleVOTF Bold" panose="02020803020101020101" pitchFamily="18" charset="-127"/>
                  <a:ea typeface="GyeonggiTitleVOTF Bold" panose="02020803020101020101" pitchFamily="18" charset="-127"/>
                  <a:cs typeface="KOTRA LEAP" panose="020B0600000101010101" pitchFamily="34" charset="-127"/>
                </a:rPr>
                <a:t>세븐나이츠 리버스</a:t>
              </a:r>
              <a:endParaRPr lang="en-US" altLang="ko-KR" sz="3000" b="1" dirty="0">
                <a:latin typeface="GyeonggiTitleVOTF Bold" panose="02020803020101020101" pitchFamily="18" charset="-127"/>
                <a:ea typeface="GyeonggiTitleVOTF Bold" panose="02020803020101020101" pitchFamily="18" charset="-127"/>
                <a:cs typeface="KOTRA LEAP" panose="020B0600000101010101" pitchFamily="34" charset="-127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34258D28-3919-309F-1B93-48F803ADD136}"/>
                </a:ext>
              </a:extLst>
            </p:cNvPr>
            <p:cNvSpPr txBox="1"/>
            <p:nvPr/>
          </p:nvSpPr>
          <p:spPr>
            <a:xfrm>
              <a:off x="370700" y="1123329"/>
              <a:ext cx="2457450" cy="6771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2000" dirty="0">
                  <a:latin typeface="경기천년제목VOTF Bold" panose="02020803020101020101" pitchFamily="18" charset="-127"/>
                  <a:ea typeface="경기천년제목VOTF Bold" panose="02020803020101020101" pitchFamily="18" charset="-127"/>
                </a:rPr>
                <a:t>게임 분석서 </a:t>
              </a:r>
            </a:p>
            <a:p>
              <a:endParaRPr lang="ko-KR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3473103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845AB36-9BC7-F7DA-4894-AFC41B567C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114750BB-24F2-A96D-AFF7-532F47BB8874}"/>
              </a:ext>
            </a:extLst>
          </p:cNvPr>
          <p:cNvSpPr txBox="1"/>
          <p:nvPr/>
        </p:nvSpPr>
        <p:spPr>
          <a:xfrm>
            <a:off x="1072526" y="586716"/>
            <a:ext cx="1146799" cy="9079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500" dirty="0">
                <a:latin typeface="경기천년제목VOTF Bold" panose="02020803020101020101" pitchFamily="18" charset="-127"/>
                <a:ea typeface="경기천년제목VOTF Bold" panose="02020803020101020101" pitchFamily="18" charset="-127"/>
              </a:rPr>
              <a:t>목차</a:t>
            </a:r>
            <a:endParaRPr lang="en-US" altLang="ko-KR" sz="3500" dirty="0">
              <a:latin typeface="경기천년제목VOTF Bold" panose="02020803020101020101" pitchFamily="18" charset="-127"/>
              <a:ea typeface="경기천년제목VOTF Bold" panose="02020803020101020101" pitchFamily="18" charset="-127"/>
            </a:endParaRPr>
          </a:p>
          <a:p>
            <a:endParaRPr lang="ko-KR" altLang="en-US" dirty="0"/>
          </a:p>
        </p:txBody>
      </p:sp>
      <p:pic>
        <p:nvPicPr>
          <p:cNvPr id="23" name="그림 22" descr="인간의 얼굴, 가상의 캐릭터, 만화 영화, 의류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72B4958-DD2B-6DB1-3593-F3F0FEC1906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5645" y="1373623"/>
            <a:ext cx="3572731" cy="438255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01E907E-632F-21AE-11E0-DEF9B9D24C59}"/>
              </a:ext>
            </a:extLst>
          </p:cNvPr>
          <p:cNvSpPr txBox="1"/>
          <p:nvPr/>
        </p:nvSpPr>
        <p:spPr>
          <a:xfrm>
            <a:off x="6975526" y="1284614"/>
            <a:ext cx="1976823" cy="13542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dirty="0">
                <a:latin typeface="경기천년제목VOTF Bold" panose="02020803020101020101" pitchFamily="18" charset="-127"/>
                <a:ea typeface="경기천년제목VOTF Bold" panose="02020803020101020101" pitchFamily="18" charset="-127"/>
              </a:rPr>
              <a:t>게임 소개</a:t>
            </a:r>
            <a:endParaRPr lang="en-US" altLang="ko-KR" sz="2800" dirty="0">
              <a:latin typeface="경기천년제목VOTF Bold" panose="02020803020101020101" pitchFamily="18" charset="-127"/>
              <a:ea typeface="경기천년제목VOTF Bold" panose="02020803020101020101" pitchFamily="18" charset="-127"/>
            </a:endParaRPr>
          </a:p>
          <a:p>
            <a:pPr marL="285750" indent="-285750">
              <a:buFontTx/>
              <a:buChar char="-"/>
            </a:pPr>
            <a:r>
              <a:rPr lang="ko-KR" altLang="en-US" dirty="0">
                <a:latin typeface="GyeonggiTitleOTF Light" panose="02020403020101020101" pitchFamily="18" charset="-127"/>
                <a:ea typeface="GyeonggiTitleOTF Light" panose="02020403020101020101" pitchFamily="18" charset="-127"/>
              </a:rPr>
              <a:t>게임 컨텐츠 소개</a:t>
            </a:r>
            <a:endParaRPr lang="en-US" altLang="ko-KR" dirty="0">
              <a:latin typeface="GyeonggiTitleOTF Light" panose="02020403020101020101" pitchFamily="18" charset="-127"/>
              <a:ea typeface="GyeonggiTitleOTF Light" panose="02020403020101020101" pitchFamily="18" charset="-127"/>
            </a:endParaRPr>
          </a:p>
          <a:p>
            <a:pPr marL="285750" indent="-285750">
              <a:buFontTx/>
              <a:buChar char="-"/>
            </a:pPr>
            <a:r>
              <a:rPr lang="ko-KR" altLang="en-US" dirty="0">
                <a:latin typeface="GyeonggiTitleOTF Light" panose="02020403020101020101" pitchFamily="18" charset="-127"/>
                <a:ea typeface="GyeonggiTitleOTF Light" panose="02020403020101020101" pitchFamily="18" charset="-127"/>
              </a:rPr>
              <a:t>게임 컨텐츠 맵</a:t>
            </a:r>
            <a:endParaRPr lang="en-US" altLang="ko-KR" dirty="0">
              <a:latin typeface="GyeonggiTitleOTF Light" panose="02020403020101020101" pitchFamily="18" charset="-127"/>
              <a:ea typeface="GyeonggiTitleOTF Light" panose="02020403020101020101" pitchFamily="18" charset="-127"/>
            </a:endParaRPr>
          </a:p>
          <a:p>
            <a:endParaRPr kumimoji="1" lang="ko-KR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6E4F448-BAFC-91CC-35BA-4076DFEA310A}"/>
              </a:ext>
            </a:extLst>
          </p:cNvPr>
          <p:cNvSpPr txBox="1"/>
          <p:nvPr/>
        </p:nvSpPr>
        <p:spPr>
          <a:xfrm>
            <a:off x="6975526" y="2377221"/>
            <a:ext cx="331052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dirty="0">
                <a:latin typeface="경기천년제목VOTF Bold" panose="02020803020101020101" pitchFamily="18" charset="-127"/>
                <a:ea typeface="경기천년제목VOTF Bold" panose="02020803020101020101" pitchFamily="18" charset="-127"/>
              </a:rPr>
              <a:t>메타분석 선택이유</a:t>
            </a:r>
            <a:endParaRPr lang="en-US" altLang="ko-KR" sz="2800" dirty="0">
              <a:latin typeface="경기천년제목VOTF Bold" panose="02020803020101020101" pitchFamily="18" charset="-127"/>
              <a:ea typeface="경기천년제목VOTF Bold" panose="02020803020101020101" pitchFamily="18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7C39BB1-78B3-CFB8-554F-709D3730AB26}"/>
              </a:ext>
            </a:extLst>
          </p:cNvPr>
          <p:cNvSpPr txBox="1"/>
          <p:nvPr/>
        </p:nvSpPr>
        <p:spPr>
          <a:xfrm>
            <a:off x="6975526" y="2928951"/>
            <a:ext cx="2459328" cy="16312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dirty="0">
                <a:latin typeface="경기천년제목VOTF Bold" panose="02020803020101020101" pitchFamily="18" charset="-127"/>
                <a:ea typeface="경기천년제목VOTF Bold" panose="02020803020101020101" pitchFamily="18" charset="-127"/>
              </a:rPr>
              <a:t>PvP </a:t>
            </a:r>
            <a:r>
              <a:rPr lang="ko-KR" altLang="en-US" sz="2800" dirty="0">
                <a:latin typeface="경기천년제목VOTF Bold" panose="02020803020101020101" pitchFamily="18" charset="-127"/>
                <a:ea typeface="경기천년제목VOTF Bold" panose="02020803020101020101" pitchFamily="18" charset="-127"/>
              </a:rPr>
              <a:t>전투 메타</a:t>
            </a:r>
            <a:endParaRPr lang="en-US" altLang="ko-KR" sz="2800" dirty="0">
              <a:latin typeface="경기천년제목VOTF Bold" panose="02020803020101020101" pitchFamily="18" charset="-127"/>
              <a:ea typeface="경기천년제목VOTF Bold" panose="02020803020101020101" pitchFamily="18" charset="-127"/>
            </a:endParaRPr>
          </a:p>
          <a:p>
            <a:pPr marL="342900" indent="-342900">
              <a:buFontTx/>
              <a:buChar char="-"/>
            </a:pPr>
            <a:r>
              <a:rPr lang="ko-KR" altLang="en-US" dirty="0">
                <a:latin typeface="GyeonggiTitleOTF Light" panose="02020403020101020101" pitchFamily="18" charset="-127"/>
                <a:ea typeface="GyeonggiTitleOTF Light" panose="02020403020101020101" pitchFamily="18" charset="-127"/>
              </a:rPr>
              <a:t>덱 메타 분포</a:t>
            </a:r>
            <a:endParaRPr lang="en-US" altLang="ko-KR" dirty="0">
              <a:latin typeface="GyeonggiTitleOTF Light" panose="02020403020101020101" pitchFamily="18" charset="-127"/>
              <a:ea typeface="GyeonggiTitleOTF Light" panose="02020403020101020101" pitchFamily="18" charset="-127"/>
            </a:endParaRPr>
          </a:p>
          <a:p>
            <a:pPr marL="342900" indent="-342900">
              <a:buFontTx/>
              <a:buChar char="-"/>
            </a:pPr>
            <a:r>
              <a:rPr lang="ko-KR" altLang="en-US" dirty="0">
                <a:latin typeface="GyeonggiTitleOTF Light" panose="02020403020101020101" pitchFamily="18" charset="-127"/>
                <a:ea typeface="GyeonggiTitleOTF Light" panose="02020403020101020101" pitchFamily="18" charset="-127"/>
              </a:rPr>
              <a:t>플라튼</a:t>
            </a:r>
            <a:endParaRPr lang="en-US" altLang="ko-KR" dirty="0">
              <a:latin typeface="GyeonggiTitleOTF Light" panose="02020403020101020101" pitchFamily="18" charset="-127"/>
              <a:ea typeface="GyeonggiTitleOTF Light" panose="02020403020101020101" pitchFamily="18" charset="-127"/>
            </a:endParaRPr>
          </a:p>
          <a:p>
            <a:pPr marL="342900" indent="-342900">
              <a:buFontTx/>
              <a:buChar char="-"/>
            </a:pPr>
            <a:r>
              <a:rPr lang="ko-KR" altLang="en-US" dirty="0">
                <a:latin typeface="GyeonggiTitleOTF Light" panose="02020403020101020101" pitchFamily="18" charset="-127"/>
                <a:ea typeface="GyeonggiTitleOTF Light" panose="02020403020101020101" pitchFamily="18" charset="-127"/>
              </a:rPr>
              <a:t>카일</a:t>
            </a:r>
            <a:endParaRPr lang="en-US" altLang="ko-KR" dirty="0">
              <a:latin typeface="GyeonggiTitleOTF Light" panose="02020403020101020101" pitchFamily="18" charset="-127"/>
              <a:ea typeface="GyeonggiTitleOTF Light" panose="02020403020101020101" pitchFamily="18" charset="-127"/>
            </a:endParaRPr>
          </a:p>
          <a:p>
            <a:endParaRPr kumimoji="1" lang="ko-KR" alt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C549EB5-57DD-0D94-CB96-D09E663B9994}"/>
              </a:ext>
            </a:extLst>
          </p:cNvPr>
          <p:cNvSpPr txBox="1"/>
          <p:nvPr/>
        </p:nvSpPr>
        <p:spPr>
          <a:xfrm>
            <a:off x="6971927" y="5311776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dirty="0">
                <a:latin typeface="경기천년제목VOTF Bold" panose="02020803020101020101" pitchFamily="18" charset="-127"/>
                <a:ea typeface="경기천년제목VOTF Bold" panose="02020803020101020101" pitchFamily="18" charset="-127"/>
              </a:rPr>
              <a:t>결론</a:t>
            </a:r>
            <a:endParaRPr kumimoji="1" lang="ko-KR" altLang="en-US" sz="2800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412FEF7-35B4-F223-6990-8E8AAC94CCAE}"/>
              </a:ext>
            </a:extLst>
          </p:cNvPr>
          <p:cNvSpPr txBox="1"/>
          <p:nvPr/>
        </p:nvSpPr>
        <p:spPr>
          <a:xfrm>
            <a:off x="5848109" y="6412606"/>
            <a:ext cx="49578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ko-KR" sz="1000" dirty="0">
                <a:latin typeface="GyeonggiTitle Bold" panose="02020803020101020101" pitchFamily="18" charset="-127"/>
                <a:ea typeface="GyeonggiTitle Bold" panose="02020803020101020101" pitchFamily="18" charset="-127"/>
              </a:rPr>
              <a:t>- 1 - </a:t>
            </a:r>
            <a:endParaRPr kumimoji="1" lang="ko-KR" altLang="en-US" sz="1000" dirty="0">
              <a:latin typeface="GyeonggiTitle Bold" panose="02020803020101020101" pitchFamily="18" charset="-127"/>
              <a:ea typeface="GyeonggiTitle Bold" panose="02020803020101020101" pitchFamily="18" charset="-127"/>
            </a:endParaRPr>
          </a:p>
        </p:txBody>
      </p:sp>
      <p:pic>
        <p:nvPicPr>
          <p:cNvPr id="33" name="그림 32" descr="천문학, 별, 창의성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F0F6CDB-722B-0AB7-A104-0E6075A78E0D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rgbClr val="D9C3A5">
                <a:tint val="50000"/>
                <a:satMod val="180000"/>
              </a:srgbClr>
            </a:duoton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colorTemperature colorTemp="1500"/>
                    </a14:imgEffect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7808" t="11518" r="20576" b="33449"/>
          <a:stretch>
            <a:fillRect/>
          </a:stretch>
        </p:blipFill>
        <p:spPr>
          <a:xfrm>
            <a:off x="6526131" y="1038392"/>
            <a:ext cx="490728" cy="52322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65B4E97-7011-3019-B7FF-1AC64F06B985}"/>
              </a:ext>
            </a:extLst>
          </p:cNvPr>
          <p:cNvSpPr txBox="1"/>
          <p:nvPr/>
        </p:nvSpPr>
        <p:spPr>
          <a:xfrm>
            <a:off x="6971927" y="4298557"/>
            <a:ext cx="3421129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2800" b="1" dirty="0">
                <a:latin typeface="GyeonggiTitleVOTF Bold" panose="02020803020101020101" pitchFamily="18" charset="-127"/>
                <a:ea typeface="GyeonggiTitleVOTF Bold" panose="02020803020101020101" pitchFamily="18" charset="-127"/>
              </a:rPr>
              <a:t>메타 순환 모범 사례</a:t>
            </a:r>
            <a:endParaRPr kumimoji="1" lang="en-US" altLang="ko-KR" sz="2800" b="1" dirty="0">
              <a:latin typeface="GyeonggiTitleVOTF Bold" panose="02020803020101020101" pitchFamily="18" charset="-127"/>
              <a:ea typeface="GyeonggiTitleVOTF Bold" panose="02020803020101020101" pitchFamily="18" charset="-127"/>
            </a:endParaRPr>
          </a:p>
          <a:p>
            <a:r>
              <a:rPr kumimoji="1" lang="en-US" altLang="ko-KR" dirty="0">
                <a:latin typeface="GyeonggiTitleOTF Light" panose="02020403020101020101" pitchFamily="18" charset="-127"/>
                <a:ea typeface="GyeonggiTitleOTF Light" panose="02020403020101020101" pitchFamily="18" charset="-127"/>
              </a:rPr>
              <a:t>- </a:t>
            </a:r>
            <a:r>
              <a:rPr kumimoji="1" lang="ko-KR" altLang="en-US" dirty="0">
                <a:latin typeface="GyeonggiTitleOTF Light" panose="02020403020101020101" pitchFamily="18" charset="-127"/>
                <a:ea typeface="GyeonggiTitleOTF Light" panose="02020403020101020101" pitchFamily="18" charset="-127"/>
              </a:rPr>
              <a:t>블루 아카이브</a:t>
            </a:r>
            <a:endParaRPr kumimoji="1" lang="en-US" altLang="ko-KR" dirty="0">
              <a:latin typeface="GyeonggiTitleOTF Light" panose="02020403020101020101" pitchFamily="18" charset="-127"/>
              <a:ea typeface="GyeonggiTitleOTF Light" panose="02020403020101020101" pitchFamily="18" charset="-127"/>
            </a:endParaRPr>
          </a:p>
          <a:p>
            <a:r>
              <a:rPr kumimoji="1" lang="en-US" altLang="ko-KR" dirty="0">
                <a:latin typeface="GyeonggiTitleOTF Light" panose="02020403020101020101" pitchFamily="18" charset="-127"/>
                <a:ea typeface="GyeonggiTitleOTF Light" panose="02020403020101020101" pitchFamily="18" charset="-127"/>
              </a:rPr>
              <a:t>- </a:t>
            </a:r>
            <a:r>
              <a:rPr kumimoji="1" lang="ko-KR" altLang="en-US" dirty="0">
                <a:latin typeface="GyeonggiTitleOTF Light" panose="02020403020101020101" pitchFamily="18" charset="-127"/>
                <a:ea typeface="GyeonggiTitleOTF Light" panose="02020403020101020101" pitchFamily="18" charset="-127"/>
              </a:rPr>
              <a:t>에픽 세븐</a:t>
            </a:r>
          </a:p>
        </p:txBody>
      </p:sp>
    </p:spTree>
    <p:extLst>
      <p:ext uri="{BB962C8B-B14F-4D97-AF65-F5344CB8AC3E}">
        <p14:creationId xmlns:p14="http://schemas.microsoft.com/office/powerpoint/2010/main" val="34393957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F486E2F-2946-5D48-13A3-EF20AB2D5D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4D825876-4550-C24C-14E6-1E2AD8487F55}"/>
              </a:ext>
            </a:extLst>
          </p:cNvPr>
          <p:cNvSpPr txBox="1"/>
          <p:nvPr/>
        </p:nvSpPr>
        <p:spPr>
          <a:xfrm>
            <a:off x="1072526" y="586716"/>
            <a:ext cx="6242674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500" dirty="0">
                <a:latin typeface="경기천년제목VOTF Bold" panose="02020803020101020101" pitchFamily="18" charset="-127"/>
                <a:ea typeface="경기천년제목VOTF Bold" panose="02020803020101020101" pitchFamily="18" charset="-127"/>
              </a:rPr>
              <a:t>게임 컨텐츠 소개</a:t>
            </a:r>
            <a:endParaRPr lang="ko-KR" altLang="en-US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68F47FC-8220-7D23-7F0A-FC921CCC5DA7}"/>
              </a:ext>
            </a:extLst>
          </p:cNvPr>
          <p:cNvSpPr txBox="1"/>
          <p:nvPr/>
        </p:nvSpPr>
        <p:spPr>
          <a:xfrm>
            <a:off x="5848109" y="6412606"/>
            <a:ext cx="49578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ko-KR" sz="1000" dirty="0">
                <a:latin typeface="GyeonggiTitle Bold" panose="02020803020101020101" pitchFamily="18" charset="-127"/>
                <a:ea typeface="GyeonggiTitle Bold" panose="02020803020101020101" pitchFamily="18" charset="-127"/>
              </a:rPr>
              <a:t>- 2 - </a:t>
            </a:r>
            <a:endParaRPr kumimoji="1" lang="ko-KR" altLang="en-US" sz="1000" dirty="0">
              <a:latin typeface="GyeonggiTitle Bold" panose="02020803020101020101" pitchFamily="18" charset="-127"/>
              <a:ea typeface="GyeonggiTitle Bold" panose="02020803020101020101" pitchFamily="18" charset="-127"/>
            </a:endParaRPr>
          </a:p>
        </p:txBody>
      </p: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ADF39D26-3116-ECC8-7918-8165E66F6FE7}"/>
              </a:ext>
            </a:extLst>
          </p:cNvPr>
          <p:cNvGrpSpPr/>
          <p:nvPr/>
        </p:nvGrpSpPr>
        <p:grpSpPr>
          <a:xfrm>
            <a:off x="864000" y="1728000"/>
            <a:ext cx="10851997" cy="4160314"/>
            <a:chOff x="778502" y="1900787"/>
            <a:chExt cx="10851997" cy="4160314"/>
          </a:xfrm>
        </p:grpSpPr>
        <p:sp>
          <p:nvSpPr>
            <p:cNvPr id="2" name="대각선 방향의 모서리가 둥근 사각형 1">
              <a:extLst>
                <a:ext uri="{FF2B5EF4-FFF2-40B4-BE49-F238E27FC236}">
                  <a16:creationId xmlns:a16="http://schemas.microsoft.com/office/drawing/2014/main" id="{7713310B-E52B-5EFF-021C-4E2D23E133FB}"/>
                </a:ext>
              </a:extLst>
            </p:cNvPr>
            <p:cNvSpPr/>
            <p:nvPr/>
          </p:nvSpPr>
          <p:spPr>
            <a:xfrm>
              <a:off x="778502" y="1900787"/>
              <a:ext cx="10634996" cy="4160314"/>
            </a:xfrm>
            <a:prstGeom prst="round2DiagRect">
              <a:avLst>
                <a:gd name="adj1" fmla="val 5253"/>
                <a:gd name="adj2" fmla="val 0"/>
              </a:avLst>
            </a:prstGeom>
            <a:solidFill>
              <a:srgbClr val="B4B4B3">
                <a:alpha val="36515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eaLnBrk="0" fontAlgn="base" latinLnBrk="0" hangingPunct="0">
                <a:spcBef>
                  <a:spcPct val="0"/>
                </a:spcBef>
                <a:spcAft>
                  <a:spcPct val="0"/>
                </a:spcAft>
              </a:pPr>
              <a:endParaRPr lang="en-US" altLang="ko-KR" sz="1600" dirty="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grpSp>
          <p:nvGrpSpPr>
            <p:cNvPr id="3" name="그룹 2">
              <a:extLst>
                <a:ext uri="{FF2B5EF4-FFF2-40B4-BE49-F238E27FC236}">
                  <a16:creationId xmlns:a16="http://schemas.microsoft.com/office/drawing/2014/main" id="{41C877B0-2526-5A39-0051-C028225747BA}"/>
                </a:ext>
              </a:extLst>
            </p:cNvPr>
            <p:cNvGrpSpPr/>
            <p:nvPr/>
          </p:nvGrpSpPr>
          <p:grpSpPr>
            <a:xfrm>
              <a:off x="859973" y="2062828"/>
              <a:ext cx="3244324" cy="3714058"/>
              <a:chOff x="3878216" y="905654"/>
              <a:chExt cx="3244324" cy="4994694"/>
            </a:xfrm>
            <a:effectLst>
              <a:outerShdw blurRad="50800" dist="131726" dir="2700000" algn="ctr" rotWithShape="0">
                <a:srgbClr val="000000">
                  <a:alpha val="50000"/>
                </a:srgbClr>
              </a:outerShdw>
            </a:effectLst>
          </p:grpSpPr>
          <p:grpSp>
            <p:nvGrpSpPr>
              <p:cNvPr id="4" name="그룹 3">
                <a:extLst>
                  <a:ext uri="{FF2B5EF4-FFF2-40B4-BE49-F238E27FC236}">
                    <a16:creationId xmlns:a16="http://schemas.microsoft.com/office/drawing/2014/main" id="{004BF18F-0E73-4E19-7146-D1B7DFD4311A}"/>
                  </a:ext>
                </a:extLst>
              </p:cNvPr>
              <p:cNvGrpSpPr/>
              <p:nvPr/>
            </p:nvGrpSpPr>
            <p:grpSpPr>
              <a:xfrm>
                <a:off x="3930766" y="905654"/>
                <a:ext cx="3191774" cy="4994694"/>
                <a:chOff x="3930766" y="905654"/>
                <a:chExt cx="3191774" cy="4994694"/>
              </a:xfrm>
            </p:grpSpPr>
            <p:grpSp>
              <p:nvGrpSpPr>
                <p:cNvPr id="6" name="그룹 5">
                  <a:extLst>
                    <a:ext uri="{FF2B5EF4-FFF2-40B4-BE49-F238E27FC236}">
                      <a16:creationId xmlns:a16="http://schemas.microsoft.com/office/drawing/2014/main" id="{5100731C-C963-6EC0-B8DC-2EDF910371A0}"/>
                    </a:ext>
                  </a:extLst>
                </p:cNvPr>
                <p:cNvGrpSpPr/>
                <p:nvPr/>
              </p:nvGrpSpPr>
              <p:grpSpPr>
                <a:xfrm>
                  <a:off x="3930766" y="905654"/>
                  <a:ext cx="3191774" cy="4994694"/>
                  <a:chOff x="3907766" y="931653"/>
                  <a:chExt cx="3191774" cy="4994694"/>
                </a:xfrm>
              </p:grpSpPr>
              <p:sp>
                <p:nvSpPr>
                  <p:cNvPr id="8" name="대각선 방향의 모서리가 둥근 사각형 7">
                    <a:extLst>
                      <a:ext uri="{FF2B5EF4-FFF2-40B4-BE49-F238E27FC236}">
                        <a16:creationId xmlns:a16="http://schemas.microsoft.com/office/drawing/2014/main" id="{FD76125A-A278-7635-25C8-728B8D611DE1}"/>
                      </a:ext>
                    </a:extLst>
                  </p:cNvPr>
                  <p:cNvSpPr/>
                  <p:nvPr/>
                </p:nvSpPr>
                <p:spPr>
                  <a:xfrm>
                    <a:off x="3907766" y="931653"/>
                    <a:ext cx="3191774" cy="4994694"/>
                  </a:xfrm>
                  <a:prstGeom prst="round2DiagRect">
                    <a:avLst>
                      <a:gd name="adj1" fmla="val 10451"/>
                      <a:gd name="adj2" fmla="val 0"/>
                    </a:avLst>
                  </a:prstGeom>
                  <a:solidFill>
                    <a:srgbClr val="DEDCDA"/>
                  </a:solidFill>
                  <a:ln>
                    <a:solidFill>
                      <a:srgbClr val="DEDCDA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ko-KR" altLang="en-US"/>
                  </a:p>
                </p:txBody>
              </p:sp>
              <p:sp>
                <p:nvSpPr>
                  <p:cNvPr id="9" name="대각선 방향의 모서리가 둥근 사각형 8">
                    <a:extLst>
                      <a:ext uri="{FF2B5EF4-FFF2-40B4-BE49-F238E27FC236}">
                        <a16:creationId xmlns:a16="http://schemas.microsoft.com/office/drawing/2014/main" id="{D399C5F7-759D-33E5-7BAB-58554AB487E5}"/>
                      </a:ext>
                    </a:extLst>
                  </p:cNvPr>
                  <p:cNvSpPr/>
                  <p:nvPr/>
                </p:nvSpPr>
                <p:spPr>
                  <a:xfrm>
                    <a:off x="3907766" y="931653"/>
                    <a:ext cx="3191774" cy="726354"/>
                  </a:xfrm>
                  <a:prstGeom prst="round2DiagRect">
                    <a:avLst>
                      <a:gd name="adj1" fmla="val 48374"/>
                      <a:gd name="adj2" fmla="val 0"/>
                    </a:avLst>
                  </a:prstGeom>
                  <a:solidFill>
                    <a:srgbClr val="393833"/>
                  </a:solidFill>
                  <a:ln>
                    <a:solidFill>
                      <a:srgbClr val="DFDCDA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ko-KR" altLang="en-US" b="1" dirty="0"/>
                  </a:p>
                </p:txBody>
              </p:sp>
            </p:grpSp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F2905F70-202F-2943-4CBC-10842A56381D}"/>
                    </a:ext>
                  </a:extLst>
                </p:cNvPr>
                <p:cNvSpPr txBox="1"/>
                <p:nvPr/>
              </p:nvSpPr>
              <p:spPr>
                <a:xfrm>
                  <a:off x="4244836" y="1046188"/>
                  <a:ext cx="2458529" cy="49668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ko-KR" dirty="0">
                      <a:solidFill>
                        <a:schemeClr val="bg1"/>
                      </a:solidFill>
                      <a:latin typeface="경기천년제목VOTF Bold" panose="02020803020101020101" pitchFamily="18" charset="-127"/>
                      <a:ea typeface="경기천년제목VOTF Bold" panose="02020803020101020101" pitchFamily="18" charset="-127"/>
                    </a:rPr>
                    <a:t>PVE</a:t>
                  </a:r>
                  <a:endParaRPr kumimoji="1" lang="ko-KR" altLang="en-US" b="1" dirty="0">
                    <a:solidFill>
                      <a:schemeClr val="bg1"/>
                    </a:solidFill>
                  </a:endParaRPr>
                </a:p>
              </p:txBody>
            </p:sp>
          </p:grpSp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3C79EFA-B88E-40A2-99FA-2200EDCF6482}"/>
                  </a:ext>
                </a:extLst>
              </p:cNvPr>
              <p:cNvSpPr txBox="1"/>
              <p:nvPr/>
            </p:nvSpPr>
            <p:spPr>
              <a:xfrm>
                <a:off x="3878216" y="1809398"/>
                <a:ext cx="3191771" cy="343537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ko-KR" altLang="en-US" sz="1600" dirty="0" err="1">
                    <a:latin typeface="GyeonggiTitleOTF Light" panose="02020403020101020101" pitchFamily="18" charset="-127"/>
                    <a:ea typeface="GyeonggiTitleOTF Light" panose="02020403020101020101" pitchFamily="18" charset="-127"/>
                  </a:rPr>
                  <a:t>공성전</a:t>
                </a:r>
                <a:endParaRPr lang="en-US" altLang="ko-KR" sz="1600" dirty="0">
                  <a:latin typeface="GyeonggiTitleOTF Light" panose="02020403020101020101" pitchFamily="18" charset="-127"/>
                  <a:ea typeface="GyeonggiTitleOTF Light" panose="02020403020101020101" pitchFamily="18" charset="-127"/>
                </a:endParaRPr>
              </a:p>
              <a:p>
                <a:pPr algn="ctr"/>
                <a:r>
                  <a:rPr lang="ko-KR" altLang="en-US" sz="1600" dirty="0">
                    <a:latin typeface="GyeonggiTitleOTF Light" panose="02020403020101020101" pitchFamily="18" charset="-127"/>
                    <a:ea typeface="GyeonggiTitleOTF Light" panose="02020403020101020101" pitchFamily="18" charset="-127"/>
                  </a:rPr>
                  <a:t>강림원정대</a:t>
                </a:r>
                <a:endParaRPr lang="en-US" altLang="ko-KR" sz="1600" dirty="0">
                  <a:latin typeface="GyeonggiTitleOTF Light" panose="02020403020101020101" pitchFamily="18" charset="-127"/>
                  <a:ea typeface="GyeonggiTitleOTF Light" panose="02020403020101020101" pitchFamily="18" charset="-127"/>
                </a:endParaRPr>
              </a:p>
              <a:p>
                <a:pPr algn="ctr"/>
                <a:endParaRPr lang="en-US" altLang="ko-KR" sz="1600" dirty="0">
                  <a:latin typeface="GyeonggiTitleOTF Light" panose="02020403020101020101" pitchFamily="18" charset="-127"/>
                  <a:ea typeface="GyeonggiTitleOTF Light" panose="02020403020101020101" pitchFamily="18" charset="-127"/>
                </a:endParaRPr>
              </a:p>
              <a:p>
                <a:pPr algn="ctr"/>
                <a:r>
                  <a:rPr lang="ko-KR" altLang="en-US" sz="1600" dirty="0">
                    <a:latin typeface="GyeonggiTitleOTF Light" panose="02020403020101020101" pitchFamily="18" charset="-127"/>
                    <a:ea typeface="GyeonggiTitleOTF Light" panose="02020403020101020101" pitchFamily="18" charset="-127"/>
                  </a:rPr>
                  <a:t>성장 던전</a:t>
                </a:r>
                <a:endParaRPr lang="en-US" altLang="ko-KR" sz="1600" dirty="0">
                  <a:latin typeface="GyeonggiTitleOTF Light" panose="02020403020101020101" pitchFamily="18" charset="-127"/>
                  <a:ea typeface="GyeonggiTitleOTF Light" panose="02020403020101020101" pitchFamily="18" charset="-127"/>
                </a:endParaRPr>
              </a:p>
              <a:p>
                <a:pPr algn="ctr"/>
                <a:r>
                  <a:rPr lang="ko-KR" altLang="en-US" sz="1600" dirty="0">
                    <a:latin typeface="GyeonggiTitleOTF Light" panose="02020403020101020101" pitchFamily="18" charset="-127"/>
                    <a:ea typeface="GyeonggiTitleOTF Light" panose="02020403020101020101" pitchFamily="18" charset="-127"/>
                  </a:rPr>
                  <a:t>모험</a:t>
                </a:r>
                <a:endParaRPr lang="en-US" altLang="ko-KR" sz="1600" dirty="0">
                  <a:latin typeface="GyeonggiTitleOTF Light" panose="02020403020101020101" pitchFamily="18" charset="-127"/>
                  <a:ea typeface="GyeonggiTitleOTF Light" panose="02020403020101020101" pitchFamily="18" charset="-127"/>
                </a:endParaRPr>
              </a:p>
              <a:p>
                <a:pPr algn="ctr"/>
                <a:endParaRPr lang="en-US" altLang="ko-KR" sz="1600" dirty="0">
                  <a:latin typeface="GyeonggiTitleOTF Light" panose="02020403020101020101" pitchFamily="18" charset="-127"/>
                  <a:ea typeface="GyeonggiTitleOTF Light" panose="02020403020101020101" pitchFamily="18" charset="-127"/>
                </a:endParaRPr>
              </a:p>
              <a:p>
                <a:pPr algn="ctr"/>
                <a:r>
                  <a:rPr lang="ko-KR" altLang="en-US" sz="1600" dirty="0">
                    <a:latin typeface="GyeonggiTitleOTF Light" panose="02020403020101020101" pitchFamily="18" charset="-127"/>
                    <a:ea typeface="GyeonggiTitleOTF Light" panose="02020403020101020101" pitchFamily="18" charset="-127"/>
                  </a:rPr>
                  <a:t>레이드 </a:t>
                </a:r>
                <a:endParaRPr lang="en-US" altLang="ko-KR" sz="1600" dirty="0">
                  <a:latin typeface="GyeonggiTitleOTF Light" panose="02020403020101020101" pitchFamily="18" charset="-127"/>
                  <a:ea typeface="GyeonggiTitleOTF Light" panose="02020403020101020101" pitchFamily="18" charset="-127"/>
                </a:endParaRPr>
              </a:p>
              <a:p>
                <a:pPr algn="ctr"/>
                <a:endParaRPr lang="en-US" altLang="ko-KR" sz="1600" dirty="0">
                  <a:latin typeface="GyeonggiTitleOTF Light" panose="02020403020101020101" pitchFamily="18" charset="-127"/>
                  <a:ea typeface="GyeonggiTitleOTF Light" panose="02020403020101020101" pitchFamily="18" charset="-127"/>
                </a:endParaRPr>
              </a:p>
              <a:p>
                <a:pPr algn="ctr"/>
                <a:r>
                  <a:rPr lang="ko-KR" altLang="en-US" sz="1600" dirty="0">
                    <a:latin typeface="GyeonggiTitleOTF Light" panose="02020403020101020101" pitchFamily="18" charset="-127"/>
                    <a:ea typeface="GyeonggiTitleOTF Light" panose="02020403020101020101" pitchFamily="18" charset="-127"/>
                  </a:rPr>
                  <a:t>무한의 탑</a:t>
                </a:r>
                <a:endParaRPr lang="en-US" altLang="ko-KR" sz="1600" dirty="0">
                  <a:latin typeface="GyeonggiTitleOTF Light" panose="02020403020101020101" pitchFamily="18" charset="-127"/>
                  <a:ea typeface="GyeonggiTitleOTF Light" panose="02020403020101020101" pitchFamily="18" charset="-127"/>
                </a:endParaRPr>
              </a:p>
              <a:p>
                <a:pPr algn="ctr"/>
                <a:r>
                  <a:rPr lang="ko-KR" altLang="en-US" sz="1600" dirty="0">
                    <a:latin typeface="GyeonggiTitleOTF Light" panose="02020403020101020101" pitchFamily="18" charset="-127"/>
                    <a:ea typeface="GyeonggiTitleOTF Light" panose="02020403020101020101" pitchFamily="18" charset="-127"/>
                  </a:rPr>
                  <a:t>시련의 탑</a:t>
                </a:r>
              </a:p>
            </p:txBody>
          </p:sp>
        </p:grpSp>
        <p:grpSp>
          <p:nvGrpSpPr>
            <p:cNvPr id="10" name="그룹 9">
              <a:extLst>
                <a:ext uri="{FF2B5EF4-FFF2-40B4-BE49-F238E27FC236}">
                  <a16:creationId xmlns:a16="http://schemas.microsoft.com/office/drawing/2014/main" id="{39DC907E-BB88-7593-CD6D-BBAC8E9DD1BD}"/>
                </a:ext>
              </a:extLst>
            </p:cNvPr>
            <p:cNvGrpSpPr/>
            <p:nvPr/>
          </p:nvGrpSpPr>
          <p:grpSpPr>
            <a:xfrm>
              <a:off x="4431016" y="2062828"/>
              <a:ext cx="3271596" cy="3714058"/>
              <a:chOff x="2904209" y="1707509"/>
              <a:chExt cx="3271596" cy="4430274"/>
            </a:xfrm>
            <a:effectLst>
              <a:outerShdw blurRad="50800" dist="127000" dir="2700000" algn="ctr" rotWithShape="0">
                <a:srgbClr val="000000">
                  <a:alpha val="50000"/>
                </a:srgbClr>
              </a:outerShdw>
            </a:effectLst>
          </p:grpSpPr>
          <p:grpSp>
            <p:nvGrpSpPr>
              <p:cNvPr id="11" name="그룹 10">
                <a:extLst>
                  <a:ext uri="{FF2B5EF4-FFF2-40B4-BE49-F238E27FC236}">
                    <a16:creationId xmlns:a16="http://schemas.microsoft.com/office/drawing/2014/main" id="{C6DE9A16-1D98-5442-B6BD-3A7F52E8402F}"/>
                  </a:ext>
                </a:extLst>
              </p:cNvPr>
              <p:cNvGrpSpPr/>
              <p:nvPr/>
            </p:nvGrpSpPr>
            <p:grpSpPr>
              <a:xfrm>
                <a:off x="2904209" y="1707509"/>
                <a:ext cx="3191774" cy="4430274"/>
                <a:chOff x="3907766" y="931653"/>
                <a:chExt cx="3191774" cy="4994694"/>
              </a:xfrm>
            </p:grpSpPr>
            <p:sp>
              <p:nvSpPr>
                <p:cNvPr id="16" name="대각선 방향의 모서리가 둥근 사각형 15">
                  <a:extLst>
                    <a:ext uri="{FF2B5EF4-FFF2-40B4-BE49-F238E27FC236}">
                      <a16:creationId xmlns:a16="http://schemas.microsoft.com/office/drawing/2014/main" id="{7F687D15-9CD4-AA30-8255-1AF6E4340B11}"/>
                    </a:ext>
                  </a:extLst>
                </p:cNvPr>
                <p:cNvSpPr/>
                <p:nvPr/>
              </p:nvSpPr>
              <p:spPr>
                <a:xfrm>
                  <a:off x="3907766" y="931653"/>
                  <a:ext cx="3191774" cy="4994694"/>
                </a:xfrm>
                <a:prstGeom prst="round2DiagRect">
                  <a:avLst>
                    <a:gd name="adj1" fmla="val 10451"/>
                    <a:gd name="adj2" fmla="val 0"/>
                  </a:avLst>
                </a:prstGeom>
                <a:solidFill>
                  <a:srgbClr val="DEDCDA"/>
                </a:solidFill>
                <a:ln>
                  <a:solidFill>
                    <a:srgbClr val="DEDCDA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endParaRPr lang="ko-KR" altLang="en-US" dirty="0">
                    <a:latin typeface="경기천년제목VOTF Bold" panose="02020803020101020101" pitchFamily="18" charset="-127"/>
                    <a:ea typeface="경기천년제목VOTF Bold" panose="02020803020101020101" pitchFamily="18" charset="-127"/>
                  </a:endParaRPr>
                </a:p>
                <a:p>
                  <a:pPr algn="ctr"/>
                  <a:endParaRPr kumimoji="1" lang="ko-KR" altLang="en-US" dirty="0"/>
                </a:p>
              </p:txBody>
            </p:sp>
            <p:sp>
              <p:nvSpPr>
                <p:cNvPr id="17" name="대각선 방향의 모서리가 둥근 사각형 16">
                  <a:extLst>
                    <a:ext uri="{FF2B5EF4-FFF2-40B4-BE49-F238E27FC236}">
                      <a16:creationId xmlns:a16="http://schemas.microsoft.com/office/drawing/2014/main" id="{695C36E1-AB14-B550-E07B-165C9F2D04D6}"/>
                    </a:ext>
                  </a:extLst>
                </p:cNvPr>
                <p:cNvSpPr/>
                <p:nvPr/>
              </p:nvSpPr>
              <p:spPr>
                <a:xfrm>
                  <a:off x="3907766" y="931653"/>
                  <a:ext cx="3191774" cy="726354"/>
                </a:xfrm>
                <a:prstGeom prst="round2DiagRect">
                  <a:avLst>
                    <a:gd name="adj1" fmla="val 48374"/>
                    <a:gd name="adj2" fmla="val 0"/>
                  </a:avLst>
                </a:prstGeom>
                <a:solidFill>
                  <a:srgbClr val="393833"/>
                </a:solidFill>
                <a:ln>
                  <a:solidFill>
                    <a:srgbClr val="DFDCDA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ko-KR" altLang="en-US" b="1" dirty="0"/>
                </a:p>
              </p:txBody>
            </p:sp>
          </p:grpSp>
          <p:grpSp>
            <p:nvGrpSpPr>
              <p:cNvPr id="12" name="그룹 11">
                <a:extLst>
                  <a:ext uri="{FF2B5EF4-FFF2-40B4-BE49-F238E27FC236}">
                    <a16:creationId xmlns:a16="http://schemas.microsoft.com/office/drawing/2014/main" id="{F9E3D079-81BC-5F1E-6639-2072DF46A1DB}"/>
                  </a:ext>
                </a:extLst>
              </p:cNvPr>
              <p:cNvGrpSpPr/>
              <p:nvPr/>
            </p:nvGrpSpPr>
            <p:grpSpPr>
              <a:xfrm>
                <a:off x="2984034" y="1832162"/>
                <a:ext cx="3191771" cy="858174"/>
                <a:chOff x="3087551" y="1803503"/>
                <a:chExt cx="3191771" cy="858174"/>
              </a:xfrm>
            </p:grpSpPr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65B0723B-393D-886F-8E20-062E3E50A92E}"/>
                    </a:ext>
                  </a:extLst>
                </p:cNvPr>
                <p:cNvSpPr txBox="1"/>
                <p:nvPr/>
              </p:nvSpPr>
              <p:spPr>
                <a:xfrm>
                  <a:off x="4257274" y="1803503"/>
                  <a:ext cx="692676" cy="440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ko-KR" dirty="0">
                      <a:solidFill>
                        <a:schemeClr val="bg1"/>
                      </a:solidFill>
                      <a:latin typeface="경기천년제목VOTF Bold" panose="02020803020101020101" pitchFamily="18" charset="-127"/>
                      <a:ea typeface="경기천년제목VOTF Bold" panose="02020803020101020101" pitchFamily="18" charset="-127"/>
                    </a:rPr>
                    <a:t>PVP</a:t>
                  </a:r>
                  <a:endParaRPr kumimoji="1" lang="ko-KR" altLang="en-US" b="1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64FEC2DA-0AA0-982B-BD0C-2A4849420733}"/>
                    </a:ext>
                  </a:extLst>
                </p:cNvPr>
                <p:cNvSpPr txBox="1"/>
                <p:nvPr/>
              </p:nvSpPr>
              <p:spPr>
                <a:xfrm>
                  <a:off x="3087551" y="2323123"/>
                  <a:ext cx="3191771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endParaRPr kumimoji="1" lang="en-US" altLang="ko-KR" sz="1600" dirty="0">
                    <a:solidFill>
                      <a:srgbClr val="302F2C"/>
                    </a:solidFill>
                  </a:endParaRPr>
                </a:p>
              </p:txBody>
            </p:sp>
          </p:grpSp>
        </p:grpSp>
        <p:grpSp>
          <p:nvGrpSpPr>
            <p:cNvPr id="18" name="그룹 17">
              <a:extLst>
                <a:ext uri="{FF2B5EF4-FFF2-40B4-BE49-F238E27FC236}">
                  <a16:creationId xmlns:a16="http://schemas.microsoft.com/office/drawing/2014/main" id="{A05D2B5E-220A-8272-3A46-F29799636A44}"/>
                </a:ext>
              </a:extLst>
            </p:cNvPr>
            <p:cNvGrpSpPr/>
            <p:nvPr/>
          </p:nvGrpSpPr>
          <p:grpSpPr>
            <a:xfrm>
              <a:off x="7928728" y="2061310"/>
              <a:ext cx="3233320" cy="3714058"/>
              <a:chOff x="2883431" y="1707509"/>
              <a:chExt cx="3233320" cy="4430274"/>
            </a:xfrm>
            <a:effectLst>
              <a:outerShdw blurRad="50800" dist="127000" dir="2700000" algn="ctr" rotWithShape="0">
                <a:srgbClr val="000000">
                  <a:alpha val="50000"/>
                </a:srgbClr>
              </a:outerShdw>
            </a:effectLst>
          </p:grpSpPr>
          <p:grpSp>
            <p:nvGrpSpPr>
              <p:cNvPr id="19" name="그룹 18">
                <a:extLst>
                  <a:ext uri="{FF2B5EF4-FFF2-40B4-BE49-F238E27FC236}">
                    <a16:creationId xmlns:a16="http://schemas.microsoft.com/office/drawing/2014/main" id="{72C9A61E-4E9E-6234-E71F-761DB7600DFC}"/>
                  </a:ext>
                </a:extLst>
              </p:cNvPr>
              <p:cNvGrpSpPr/>
              <p:nvPr/>
            </p:nvGrpSpPr>
            <p:grpSpPr>
              <a:xfrm>
                <a:off x="2904209" y="1707509"/>
                <a:ext cx="3191774" cy="4430274"/>
                <a:chOff x="3907766" y="931653"/>
                <a:chExt cx="3191774" cy="4994694"/>
              </a:xfrm>
            </p:grpSpPr>
            <p:sp>
              <p:nvSpPr>
                <p:cNvPr id="23" name="대각선 방향의 모서리가 둥근 사각형 22">
                  <a:extLst>
                    <a:ext uri="{FF2B5EF4-FFF2-40B4-BE49-F238E27FC236}">
                      <a16:creationId xmlns:a16="http://schemas.microsoft.com/office/drawing/2014/main" id="{EA19A648-6F38-52F2-F567-E40B21055F69}"/>
                    </a:ext>
                  </a:extLst>
                </p:cNvPr>
                <p:cNvSpPr/>
                <p:nvPr/>
              </p:nvSpPr>
              <p:spPr>
                <a:xfrm>
                  <a:off x="3907766" y="931653"/>
                  <a:ext cx="3191774" cy="4994694"/>
                </a:xfrm>
                <a:prstGeom prst="round2DiagRect">
                  <a:avLst>
                    <a:gd name="adj1" fmla="val 10451"/>
                    <a:gd name="adj2" fmla="val 0"/>
                  </a:avLst>
                </a:prstGeom>
                <a:solidFill>
                  <a:srgbClr val="DEDCDA"/>
                </a:solidFill>
                <a:ln>
                  <a:solidFill>
                    <a:srgbClr val="DEDCDA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ko-KR" altLang="en-US"/>
                </a:p>
              </p:txBody>
            </p:sp>
            <p:sp>
              <p:nvSpPr>
                <p:cNvPr id="24" name="대각선 방향의 모서리가 둥근 사각형 23">
                  <a:extLst>
                    <a:ext uri="{FF2B5EF4-FFF2-40B4-BE49-F238E27FC236}">
                      <a16:creationId xmlns:a16="http://schemas.microsoft.com/office/drawing/2014/main" id="{8E6FFA3A-03A6-DC38-5D43-AD5AEF5A40E8}"/>
                    </a:ext>
                  </a:extLst>
                </p:cNvPr>
                <p:cNvSpPr/>
                <p:nvPr/>
              </p:nvSpPr>
              <p:spPr>
                <a:xfrm>
                  <a:off x="3907766" y="931653"/>
                  <a:ext cx="3191774" cy="726354"/>
                </a:xfrm>
                <a:prstGeom prst="round2DiagRect">
                  <a:avLst>
                    <a:gd name="adj1" fmla="val 48374"/>
                    <a:gd name="adj2" fmla="val 0"/>
                  </a:avLst>
                </a:prstGeom>
                <a:solidFill>
                  <a:srgbClr val="393833"/>
                </a:solidFill>
                <a:ln>
                  <a:solidFill>
                    <a:srgbClr val="DFDCDA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ko-KR" altLang="en-US" b="1" dirty="0"/>
                </a:p>
              </p:txBody>
            </p:sp>
          </p:grpSp>
          <p:grpSp>
            <p:nvGrpSpPr>
              <p:cNvPr id="20" name="그룹 19">
                <a:extLst>
                  <a:ext uri="{FF2B5EF4-FFF2-40B4-BE49-F238E27FC236}">
                    <a16:creationId xmlns:a16="http://schemas.microsoft.com/office/drawing/2014/main" id="{2F346EE0-2E02-4DAA-37AF-E5AC45E20062}"/>
                  </a:ext>
                </a:extLst>
              </p:cNvPr>
              <p:cNvGrpSpPr/>
              <p:nvPr/>
            </p:nvGrpSpPr>
            <p:grpSpPr>
              <a:xfrm>
                <a:off x="2883431" y="1794034"/>
                <a:ext cx="3233320" cy="2590907"/>
                <a:chOff x="2986948" y="1765375"/>
                <a:chExt cx="3233320" cy="2590907"/>
              </a:xfrm>
            </p:grpSpPr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5DFF475A-8A79-D17D-1A21-76684A42FD76}"/>
                    </a:ext>
                  </a:extLst>
                </p:cNvPr>
                <p:cNvSpPr txBox="1"/>
                <p:nvPr/>
              </p:nvSpPr>
              <p:spPr>
                <a:xfrm>
                  <a:off x="2986948" y="1765375"/>
                  <a:ext cx="3233320" cy="440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ko-KR" altLang="en-US" dirty="0" err="1">
                      <a:solidFill>
                        <a:schemeClr val="bg1"/>
                      </a:solidFill>
                      <a:latin typeface="경기천년제목VOTF Bold" panose="02020803020101020101" pitchFamily="18" charset="-127"/>
                      <a:ea typeface="경기천년제목VOTF Bold" panose="02020803020101020101" pitchFamily="18" charset="-127"/>
                    </a:rPr>
                    <a:t>비전투</a:t>
                  </a:r>
                  <a:r>
                    <a:rPr lang="ko-KR" altLang="en-US" dirty="0">
                      <a:solidFill>
                        <a:schemeClr val="bg1"/>
                      </a:solidFill>
                      <a:latin typeface="경기천년제목VOTF Bold" panose="02020803020101020101" pitchFamily="18" charset="-127"/>
                      <a:ea typeface="경기천년제목VOTF Bold" panose="02020803020101020101" pitchFamily="18" charset="-127"/>
                    </a:rPr>
                    <a:t> 컨텐츠</a:t>
                  </a:r>
                </a:p>
              </p:txBody>
            </p:sp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BF23C0F8-6419-3395-4DE5-53748D10F452}"/>
                    </a:ext>
                  </a:extLst>
                </p:cNvPr>
                <p:cNvSpPr txBox="1"/>
                <p:nvPr/>
              </p:nvSpPr>
              <p:spPr>
                <a:xfrm>
                  <a:off x="3007723" y="2483930"/>
                  <a:ext cx="3191771" cy="187235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ko-KR" altLang="en-US" sz="1600" dirty="0">
                      <a:latin typeface="GyeonggiTitleOTF Light" panose="02020403020101020101" pitchFamily="18" charset="-127"/>
                      <a:ea typeface="GyeonggiTitleOTF Light" panose="02020403020101020101" pitchFamily="18" charset="-127"/>
                    </a:rPr>
                    <a:t>영웅강화</a:t>
                  </a:r>
                  <a:r>
                    <a:rPr lang="en-US" altLang="ko-KR" sz="1600" dirty="0">
                      <a:latin typeface="GyeonggiTitleOTF Light" panose="02020403020101020101" pitchFamily="18" charset="-127"/>
                      <a:ea typeface="GyeonggiTitleOTF Light" panose="02020403020101020101" pitchFamily="18" charset="-127"/>
                    </a:rPr>
                    <a:t>, </a:t>
                  </a:r>
                  <a:r>
                    <a:rPr lang="ko-KR" altLang="en-US" sz="1600" dirty="0">
                      <a:latin typeface="GyeonggiTitleOTF Light" panose="02020403020101020101" pitchFamily="18" charset="-127"/>
                      <a:ea typeface="GyeonggiTitleOTF Light" panose="02020403020101020101" pitchFamily="18" charset="-127"/>
                    </a:rPr>
                    <a:t>초월</a:t>
                  </a:r>
                  <a:endParaRPr lang="en-US" altLang="ko-KR" sz="1600" dirty="0">
                    <a:latin typeface="GyeonggiTitleOTF Light" panose="02020403020101020101" pitchFamily="18" charset="-127"/>
                    <a:ea typeface="GyeonggiTitleOTF Light" panose="02020403020101020101" pitchFamily="18" charset="-127"/>
                  </a:endParaRPr>
                </a:p>
                <a:p>
                  <a:pPr algn="ctr"/>
                  <a:endParaRPr lang="en-US" altLang="ko-KR" sz="1600" dirty="0">
                    <a:latin typeface="GyeonggiTitleOTF Light" panose="02020403020101020101" pitchFamily="18" charset="-127"/>
                    <a:ea typeface="GyeonggiTitleOTF Light" panose="02020403020101020101" pitchFamily="18" charset="-127"/>
                  </a:endParaRPr>
                </a:p>
                <a:p>
                  <a:pPr algn="ctr"/>
                  <a:r>
                    <a:rPr lang="ko-KR" altLang="en-US" sz="1600" dirty="0">
                      <a:latin typeface="GyeonggiTitleOTF Light" panose="02020403020101020101" pitchFamily="18" charset="-127"/>
                      <a:ea typeface="GyeonggiTitleOTF Light" panose="02020403020101020101" pitchFamily="18" charset="-127"/>
                    </a:rPr>
                    <a:t>수집</a:t>
                  </a:r>
                  <a:endParaRPr lang="en-US" altLang="ko-KR" sz="1600" dirty="0">
                    <a:latin typeface="GyeonggiTitleOTF Light" panose="02020403020101020101" pitchFamily="18" charset="-127"/>
                    <a:ea typeface="GyeonggiTitleOTF Light" panose="02020403020101020101" pitchFamily="18" charset="-127"/>
                  </a:endParaRPr>
                </a:p>
                <a:p>
                  <a:pPr algn="ctr"/>
                  <a:endParaRPr lang="en-US" altLang="ko-KR" sz="1600" dirty="0">
                    <a:latin typeface="GyeonggiTitleOTF Light" panose="02020403020101020101" pitchFamily="18" charset="-127"/>
                    <a:ea typeface="GyeonggiTitleOTF Light" panose="02020403020101020101" pitchFamily="18" charset="-127"/>
                  </a:endParaRPr>
                </a:p>
                <a:p>
                  <a:pPr algn="ctr"/>
                  <a:r>
                    <a:rPr lang="ko-KR" altLang="en-US" sz="1600" dirty="0">
                      <a:latin typeface="GyeonggiTitleOTF Light" panose="02020403020101020101" pitchFamily="18" charset="-127"/>
                      <a:ea typeface="GyeonggiTitleOTF Light" panose="02020403020101020101" pitchFamily="18" charset="-127"/>
                    </a:rPr>
                    <a:t>합성</a:t>
                  </a:r>
                  <a:r>
                    <a:rPr lang="en-US" altLang="ko-KR" sz="1600" dirty="0">
                      <a:latin typeface="GyeonggiTitleOTF Light" panose="02020403020101020101" pitchFamily="18" charset="-127"/>
                      <a:ea typeface="GyeonggiTitleOTF Light" panose="02020403020101020101" pitchFamily="18" charset="-127"/>
                    </a:rPr>
                    <a:t>,</a:t>
                  </a:r>
                  <a:r>
                    <a:rPr lang="ko-KR" altLang="en-US" sz="1600" dirty="0">
                      <a:latin typeface="GyeonggiTitleOTF Light" panose="02020403020101020101" pitchFamily="18" charset="-127"/>
                      <a:ea typeface="GyeonggiTitleOTF Light" panose="02020403020101020101" pitchFamily="18" charset="-127"/>
                    </a:rPr>
                    <a:t>조합</a:t>
                  </a:r>
                  <a:endParaRPr lang="en-US" altLang="ko-KR" sz="1600" dirty="0">
                    <a:latin typeface="GyeonggiTitleOTF Light" panose="02020403020101020101" pitchFamily="18" charset="-127"/>
                    <a:ea typeface="GyeonggiTitleOTF Light" panose="02020403020101020101" pitchFamily="18" charset="-127"/>
                  </a:endParaRPr>
                </a:p>
                <a:p>
                  <a:pPr algn="ctr"/>
                  <a:endParaRPr lang="ko-KR" altLang="en-US" sz="1600" dirty="0">
                    <a:latin typeface="GyeonggiTitleOTF Light" panose="02020403020101020101" pitchFamily="18" charset="-127"/>
                    <a:ea typeface="GyeonggiTitleOTF Light" panose="02020403020101020101" pitchFamily="18" charset="-127"/>
                  </a:endParaRPr>
                </a:p>
              </p:txBody>
            </p:sp>
          </p:grpSp>
        </p:grp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15F7979B-86E4-C205-63D1-F3C43CF979E0}"/>
                </a:ext>
              </a:extLst>
            </p:cNvPr>
            <p:cNvSpPr txBox="1"/>
            <p:nvPr/>
          </p:nvSpPr>
          <p:spPr>
            <a:xfrm>
              <a:off x="4470917" y="2734853"/>
              <a:ext cx="3151873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600" dirty="0">
                  <a:latin typeface="GyeonggiTitleOTF Light" panose="02020403020101020101" pitchFamily="18" charset="-127"/>
                  <a:ea typeface="GyeonggiTitleOTF Light" panose="02020403020101020101" pitchFamily="18" charset="-127"/>
                </a:rPr>
                <a:t>결투장</a:t>
              </a:r>
              <a:endParaRPr lang="en-US" altLang="ko-KR" sz="1600" dirty="0">
                <a:latin typeface="GyeonggiTitleOTF Light" panose="02020403020101020101" pitchFamily="18" charset="-127"/>
                <a:ea typeface="GyeonggiTitleOTF Light" panose="02020403020101020101" pitchFamily="18" charset="-127"/>
              </a:endParaRPr>
            </a:p>
            <a:p>
              <a:pPr algn="ctr"/>
              <a:endParaRPr lang="en-US" altLang="ko-KR" sz="1600" dirty="0">
                <a:latin typeface="GyeonggiTitleOTF Light" panose="02020403020101020101" pitchFamily="18" charset="-127"/>
                <a:ea typeface="GyeonggiTitleOTF Light" panose="02020403020101020101" pitchFamily="18" charset="-127"/>
              </a:endParaRPr>
            </a:p>
            <a:p>
              <a:pPr algn="ctr"/>
              <a:r>
                <a:rPr lang="ko-KR" altLang="en-US" sz="1600" dirty="0">
                  <a:latin typeface="GyeonggiTitleOTF Light" panose="02020403020101020101" pitchFamily="18" charset="-127"/>
                  <a:ea typeface="GyeonggiTitleOTF Light" panose="02020403020101020101" pitchFamily="18" charset="-127"/>
                </a:rPr>
                <a:t>총력전</a:t>
              </a:r>
              <a:endParaRPr lang="en-US" altLang="ko-KR" sz="1600" dirty="0">
                <a:latin typeface="GyeonggiTitleOTF Light" panose="02020403020101020101" pitchFamily="18" charset="-127"/>
                <a:ea typeface="GyeonggiTitleOTF Light" panose="02020403020101020101" pitchFamily="18" charset="-127"/>
              </a:endParaRPr>
            </a:p>
            <a:p>
              <a:pPr algn="ctr"/>
              <a:endParaRPr lang="en-US" altLang="ko-KR" sz="1600" dirty="0">
                <a:latin typeface="GyeonggiTitleOTF Light" panose="02020403020101020101" pitchFamily="18" charset="-127"/>
                <a:ea typeface="GyeonggiTitleOTF Light" panose="02020403020101020101" pitchFamily="18" charset="-127"/>
              </a:endParaRPr>
            </a:p>
            <a:p>
              <a:pPr algn="ctr"/>
              <a:r>
                <a:rPr lang="ko-KR" altLang="en-US" sz="1600" dirty="0" err="1">
                  <a:latin typeface="GyeonggiTitleOTF Light" panose="02020403020101020101" pitchFamily="18" charset="-127"/>
                  <a:ea typeface="GyeonggiTitleOTF Light" panose="02020403020101020101" pitchFamily="18" charset="-127"/>
                </a:rPr>
                <a:t>길드전</a:t>
              </a:r>
              <a:endParaRPr lang="ko-KR" altLang="en-US" sz="1600" dirty="0">
                <a:latin typeface="GyeonggiTitleOTF Light" panose="02020403020101020101" pitchFamily="18" charset="-127"/>
                <a:ea typeface="GyeonggiTitleOTF Light" panose="02020403020101020101" pitchFamily="18" charset="-127"/>
              </a:endParaRPr>
            </a:p>
          </p:txBody>
        </p:sp>
        <p:pic>
          <p:nvPicPr>
            <p:cNvPr id="27" name="그림 26" descr="스케치, 만화 영화, 일러스트레이션, 그림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2B6484C7-0162-6DCC-CE1A-DEE5FA98F00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712421" y="4739199"/>
              <a:ext cx="1918078" cy="1070829"/>
            </a:xfrm>
            <a:prstGeom prst="rect">
              <a:avLst/>
            </a:prstGeom>
          </p:spPr>
        </p:pic>
        <p:pic>
          <p:nvPicPr>
            <p:cNvPr id="39" name="그림 38" descr="동물 피규어, 만화 영화, 예술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328A9E88-2BBE-3599-8784-2B1B2073E51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00449" y="5181547"/>
              <a:ext cx="596566" cy="628481"/>
            </a:xfrm>
            <a:prstGeom prst="rect">
              <a:avLst/>
            </a:prstGeom>
          </p:spPr>
        </p:pic>
        <p:grpSp>
          <p:nvGrpSpPr>
            <p:cNvPr id="48" name="그룹 47">
              <a:extLst>
                <a:ext uri="{FF2B5EF4-FFF2-40B4-BE49-F238E27FC236}">
                  <a16:creationId xmlns:a16="http://schemas.microsoft.com/office/drawing/2014/main" id="{70D1930A-B880-053F-66F2-A3E10555E67C}"/>
                </a:ext>
              </a:extLst>
            </p:cNvPr>
            <p:cNvGrpSpPr/>
            <p:nvPr/>
          </p:nvGrpSpPr>
          <p:grpSpPr>
            <a:xfrm>
              <a:off x="1050720" y="4864863"/>
              <a:ext cx="527051" cy="1070828"/>
              <a:chOff x="1810395" y="980896"/>
              <a:chExt cx="527051" cy="1070828"/>
            </a:xfrm>
          </p:grpSpPr>
          <p:pic>
            <p:nvPicPr>
              <p:cNvPr id="37" name="그림 36" descr="스케치, 만화 영화, 클립아트, 일러스트레이션이(가) 표시된 사진&#10;&#10;AI 생성 콘텐츠는 정확하지 않을 수 있습니다.">
                <a:extLst>
                  <a:ext uri="{FF2B5EF4-FFF2-40B4-BE49-F238E27FC236}">
                    <a16:creationId xmlns:a16="http://schemas.microsoft.com/office/drawing/2014/main" id="{3171C5DA-D012-BEA1-A4E8-9714E07C19A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0693" r="32393"/>
              <a:stretch>
                <a:fillRect/>
              </a:stretch>
            </p:blipFill>
            <p:spPr>
              <a:xfrm>
                <a:off x="1810395" y="980896"/>
                <a:ext cx="527051" cy="1070828"/>
              </a:xfrm>
              <a:prstGeom prst="rect">
                <a:avLst/>
              </a:prstGeom>
            </p:spPr>
          </p:pic>
          <p:grpSp>
            <p:nvGrpSpPr>
              <p:cNvPr id="46" name="그룹 45">
                <a:extLst>
                  <a:ext uri="{FF2B5EF4-FFF2-40B4-BE49-F238E27FC236}">
                    <a16:creationId xmlns:a16="http://schemas.microsoft.com/office/drawing/2014/main" id="{69AAB273-94FB-636B-D1D4-7AE18475BA8D}"/>
                  </a:ext>
                </a:extLst>
              </p:cNvPr>
              <p:cNvGrpSpPr/>
              <p:nvPr/>
            </p:nvGrpSpPr>
            <p:grpSpPr>
              <a:xfrm>
                <a:off x="1867189" y="1269765"/>
                <a:ext cx="393411" cy="394624"/>
                <a:chOff x="1867189" y="1269765"/>
                <a:chExt cx="393411" cy="394624"/>
              </a:xfrm>
            </p:grpSpPr>
            <p:pic>
              <p:nvPicPr>
                <p:cNvPr id="42" name="그림 41" descr="스크린샷, 카민, 그래픽, 디자인이(가) 표시된 사진&#10;&#10;AI 생성 콘텐츠는 정확하지 않을 수 있습니다.">
                  <a:extLst>
                    <a:ext uri="{FF2B5EF4-FFF2-40B4-BE49-F238E27FC236}">
                      <a16:creationId xmlns:a16="http://schemas.microsoft.com/office/drawing/2014/main" id="{4EBDF3A9-83AD-ABAD-2525-E0369D306B3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7">
                  <a:extLst>
                    <a:ext uri="{BEBA8EAE-BF5A-486C-A8C5-ECC9F3942E4B}">
                      <a14:imgProps xmlns:a14="http://schemas.microsoft.com/office/drawing/2010/main">
                        <a14:imgLayer r:embed="rId8">
                          <a14:imgEffect>
                            <a14:sharpenSoften amount="-7000"/>
                          </a14:imgEffect>
                          <a14:imgEffect>
                            <a14:colorTemperature colorTemp="3889"/>
                          </a14:imgEffect>
                          <a14:imgEffect>
                            <a14:saturation sat="51000"/>
                          </a14:imgEffect>
                          <a14:imgEffect>
                            <a14:brightnessContrast bright="-27000" contrast="-23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 rot="20430563">
                  <a:off x="1867189" y="1269765"/>
                  <a:ext cx="332238" cy="394624"/>
                </a:xfrm>
                <a:prstGeom prst="rect">
                  <a:avLst/>
                </a:prstGeom>
              </p:spPr>
            </p:pic>
            <p:pic>
              <p:nvPicPr>
                <p:cNvPr id="44" name="그림 43" descr="어둠, 블랙, 달, 흑백이(가) 표시된 사진&#10;&#10;AI 생성 콘텐츠는 정확하지 않을 수 있습니다.">
                  <a:extLst>
                    <a:ext uri="{FF2B5EF4-FFF2-40B4-BE49-F238E27FC236}">
                      <a16:creationId xmlns:a16="http://schemas.microsoft.com/office/drawing/2014/main" id="{C6E220F9-F4A2-36F5-03F8-51A99B31FAF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9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50780" t="48101" r="38422" b="38048"/>
                <a:stretch>
                  <a:fillRect/>
                </a:stretch>
              </p:blipFill>
              <p:spPr>
                <a:xfrm>
                  <a:off x="2096146" y="1489499"/>
                  <a:ext cx="164454" cy="158205"/>
                </a:xfrm>
                <a:prstGeom prst="rect">
                  <a:avLst/>
                </a:prstGeom>
              </p:spPr>
            </p:pic>
          </p:grpSp>
        </p:grpSp>
      </p:grpSp>
    </p:spTree>
    <p:extLst>
      <p:ext uri="{BB962C8B-B14F-4D97-AF65-F5344CB8AC3E}">
        <p14:creationId xmlns:p14="http://schemas.microsoft.com/office/powerpoint/2010/main" val="24787176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878AC45-667D-B631-1646-EC71F2B611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3" name="연결선: 꺾임 72">
            <a:extLst>
              <a:ext uri="{FF2B5EF4-FFF2-40B4-BE49-F238E27FC236}">
                <a16:creationId xmlns:a16="http://schemas.microsoft.com/office/drawing/2014/main" id="{AAE2DA14-243E-CB86-47A2-AADEF357D815}"/>
              </a:ext>
            </a:extLst>
          </p:cNvPr>
          <p:cNvCxnSpPr>
            <a:cxnSpLocks/>
          </p:cNvCxnSpPr>
          <p:nvPr/>
        </p:nvCxnSpPr>
        <p:spPr>
          <a:xfrm rot="10800000">
            <a:off x="2767138" y="3417379"/>
            <a:ext cx="1380264" cy="2"/>
          </a:xfrm>
          <a:prstGeom prst="bentConnector3">
            <a:avLst/>
          </a:prstGeom>
          <a:ln>
            <a:solidFill>
              <a:srgbClr val="9B836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연결선: 꺾임 74">
            <a:extLst>
              <a:ext uri="{FF2B5EF4-FFF2-40B4-BE49-F238E27FC236}">
                <a16:creationId xmlns:a16="http://schemas.microsoft.com/office/drawing/2014/main" id="{76BB927D-17A1-19EB-306A-2618DDAFCBF9}"/>
              </a:ext>
            </a:extLst>
          </p:cNvPr>
          <p:cNvCxnSpPr>
            <a:cxnSpLocks/>
          </p:cNvCxnSpPr>
          <p:nvPr/>
        </p:nvCxnSpPr>
        <p:spPr>
          <a:xfrm rot="10800000">
            <a:off x="2767138" y="2464501"/>
            <a:ext cx="1380264" cy="952879"/>
          </a:xfrm>
          <a:prstGeom prst="bentConnector3">
            <a:avLst/>
          </a:prstGeom>
          <a:ln>
            <a:solidFill>
              <a:srgbClr val="A0866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연결선: 꺾임 64">
            <a:extLst>
              <a:ext uri="{FF2B5EF4-FFF2-40B4-BE49-F238E27FC236}">
                <a16:creationId xmlns:a16="http://schemas.microsoft.com/office/drawing/2014/main" id="{015EB7D6-985C-3788-4844-7CD92FF5BF55}"/>
              </a:ext>
            </a:extLst>
          </p:cNvPr>
          <p:cNvCxnSpPr>
            <a:cxnSpLocks/>
          </p:cNvCxnSpPr>
          <p:nvPr/>
        </p:nvCxnSpPr>
        <p:spPr>
          <a:xfrm flipV="1">
            <a:off x="8026286" y="2462737"/>
            <a:ext cx="1380264" cy="966455"/>
          </a:xfrm>
          <a:prstGeom prst="bentConnector3">
            <a:avLst/>
          </a:prstGeom>
          <a:ln>
            <a:solidFill>
              <a:srgbClr val="A0866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연결선: 꺾임 67">
            <a:extLst>
              <a:ext uri="{FF2B5EF4-FFF2-40B4-BE49-F238E27FC236}">
                <a16:creationId xmlns:a16="http://schemas.microsoft.com/office/drawing/2014/main" id="{B7FC7588-03A2-B890-9926-974E5AF797BF}"/>
              </a:ext>
            </a:extLst>
          </p:cNvPr>
          <p:cNvCxnSpPr>
            <a:cxnSpLocks/>
          </p:cNvCxnSpPr>
          <p:nvPr/>
        </p:nvCxnSpPr>
        <p:spPr>
          <a:xfrm>
            <a:off x="8026286" y="3428998"/>
            <a:ext cx="1380264" cy="952879"/>
          </a:xfrm>
          <a:prstGeom prst="bentConnector3">
            <a:avLst/>
          </a:prstGeom>
          <a:ln>
            <a:solidFill>
              <a:srgbClr val="A0866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AutoShape 2" descr="태오(세븐나이츠 리버스) - 나무위키">
            <a:extLst>
              <a:ext uri="{FF2B5EF4-FFF2-40B4-BE49-F238E27FC236}">
                <a16:creationId xmlns:a16="http://schemas.microsoft.com/office/drawing/2014/main" id="{BDD1EE8C-424E-6BBE-4AEC-8D706948278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>
              <a:latin typeface="GyeonggiTitleOTF Light" panose="02020403020101020101" pitchFamily="18" charset="-127"/>
              <a:ea typeface="GyeonggiTitleOTF Light" panose="02020403020101020101" pitchFamily="18" charset="-127"/>
            </a:endParaRPr>
          </a:p>
        </p:txBody>
      </p:sp>
      <p:pic>
        <p:nvPicPr>
          <p:cNvPr id="48" name="Picture 4" descr="세븐나이츠 리버스 - 넷마블">
            <a:extLst>
              <a:ext uri="{FF2B5EF4-FFF2-40B4-BE49-F238E27FC236}">
                <a16:creationId xmlns:a16="http://schemas.microsoft.com/office/drawing/2014/main" id="{9769D4F2-2A06-3238-6F6B-0DDBBAF382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58443" y="2391388"/>
            <a:ext cx="3275114" cy="2075223"/>
          </a:xfrm>
          <a:prstGeom prst="rect">
            <a:avLst/>
          </a:prstGeom>
          <a:noFill/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0" name="직사각형 49">
            <a:extLst>
              <a:ext uri="{FF2B5EF4-FFF2-40B4-BE49-F238E27FC236}">
                <a16:creationId xmlns:a16="http://schemas.microsoft.com/office/drawing/2014/main" id="{F42A76AA-0186-D2A0-4406-F3D07CFAA03E}"/>
              </a:ext>
            </a:extLst>
          </p:cNvPr>
          <p:cNvSpPr/>
          <p:nvPr/>
        </p:nvSpPr>
        <p:spPr>
          <a:xfrm>
            <a:off x="4138600" y="2396232"/>
            <a:ext cx="304800" cy="2075223"/>
          </a:xfrm>
          <a:prstGeom prst="rect">
            <a:avLst/>
          </a:prstGeom>
          <a:solidFill>
            <a:srgbClr val="FFA7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atin typeface="GyeonggiTitleOTF Light" panose="02020403020101020101" pitchFamily="18" charset="-127"/>
                <a:ea typeface="GyeonggiTitleOTF Light" panose="02020403020101020101" pitchFamily="18" charset="-127"/>
              </a:rPr>
              <a:t>PVE</a:t>
            </a:r>
            <a:endParaRPr lang="ko-KR" altLang="en-US" dirty="0">
              <a:latin typeface="GyeonggiTitleOTF Light" panose="02020403020101020101" pitchFamily="18" charset="-127"/>
              <a:ea typeface="GyeonggiTitleOTF Light" panose="02020403020101020101" pitchFamily="18" charset="-127"/>
            </a:endParaRP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CC807B0D-99AB-0C9E-8ECD-3CA65E6229DC}"/>
              </a:ext>
            </a:extLst>
          </p:cNvPr>
          <p:cNvSpPr/>
          <p:nvPr/>
        </p:nvSpPr>
        <p:spPr>
          <a:xfrm>
            <a:off x="7752792" y="2391386"/>
            <a:ext cx="304800" cy="2075223"/>
          </a:xfrm>
          <a:prstGeom prst="rect">
            <a:avLst/>
          </a:prstGeom>
          <a:solidFill>
            <a:srgbClr val="FFA7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>
                <a:latin typeface="GyeonggiTitleOTF Light" panose="02020403020101020101" pitchFamily="18" charset="-127"/>
                <a:ea typeface="GyeonggiTitleOTF Light" panose="02020403020101020101" pitchFamily="18" charset="-127"/>
              </a:rPr>
              <a:t>비전투</a:t>
            </a:r>
            <a:endParaRPr lang="ko-KR" altLang="en-US" dirty="0">
              <a:latin typeface="GyeonggiTitleOTF Light" panose="02020403020101020101" pitchFamily="18" charset="-127"/>
              <a:ea typeface="GyeonggiTitleOTF Light" panose="02020403020101020101" pitchFamily="18" charset="-127"/>
            </a:endParaRPr>
          </a:p>
        </p:txBody>
      </p:sp>
      <p:cxnSp>
        <p:nvCxnSpPr>
          <p:cNvPr id="60" name="연결선: 꺾임 59">
            <a:extLst>
              <a:ext uri="{FF2B5EF4-FFF2-40B4-BE49-F238E27FC236}">
                <a16:creationId xmlns:a16="http://schemas.microsoft.com/office/drawing/2014/main" id="{DB660A0E-A7A5-D511-0524-14AEC7C5593B}"/>
              </a:ext>
            </a:extLst>
          </p:cNvPr>
          <p:cNvCxnSpPr>
            <a:cxnSpLocks/>
            <a:stCxn id="52" idx="3"/>
          </p:cNvCxnSpPr>
          <p:nvPr/>
        </p:nvCxnSpPr>
        <p:spPr>
          <a:xfrm>
            <a:off x="8057592" y="3428998"/>
            <a:ext cx="1380264" cy="2"/>
          </a:xfrm>
          <a:prstGeom prst="bentConnector3">
            <a:avLst/>
          </a:prstGeom>
          <a:ln>
            <a:solidFill>
              <a:srgbClr val="9B836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직사각형 71">
            <a:extLst>
              <a:ext uri="{FF2B5EF4-FFF2-40B4-BE49-F238E27FC236}">
                <a16:creationId xmlns:a16="http://schemas.microsoft.com/office/drawing/2014/main" id="{4FC3B7FC-6490-3E52-915B-9354DD12970E}"/>
              </a:ext>
            </a:extLst>
          </p:cNvPr>
          <p:cNvSpPr/>
          <p:nvPr/>
        </p:nvSpPr>
        <p:spPr>
          <a:xfrm>
            <a:off x="4438264" y="4462940"/>
            <a:ext cx="3315466" cy="322674"/>
          </a:xfrm>
          <a:prstGeom prst="rect">
            <a:avLst/>
          </a:prstGeom>
          <a:solidFill>
            <a:srgbClr val="FFA7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atin typeface="GyeonggiTitleOTF Light" panose="02020403020101020101" pitchFamily="18" charset="-127"/>
                <a:ea typeface="GyeonggiTitleOTF Light" panose="02020403020101020101" pitchFamily="18" charset="-127"/>
              </a:rPr>
              <a:t>PVP</a:t>
            </a:r>
          </a:p>
        </p:txBody>
      </p:sp>
      <p:cxnSp>
        <p:nvCxnSpPr>
          <p:cNvPr id="74" name="연결선: 꺾임 73">
            <a:extLst>
              <a:ext uri="{FF2B5EF4-FFF2-40B4-BE49-F238E27FC236}">
                <a16:creationId xmlns:a16="http://schemas.microsoft.com/office/drawing/2014/main" id="{0BC11875-93E8-6020-389D-358F69AC67FC}"/>
              </a:ext>
            </a:extLst>
          </p:cNvPr>
          <p:cNvCxnSpPr>
            <a:cxnSpLocks/>
          </p:cNvCxnSpPr>
          <p:nvPr/>
        </p:nvCxnSpPr>
        <p:spPr>
          <a:xfrm rot="10800000" flipV="1">
            <a:off x="2775363" y="3417379"/>
            <a:ext cx="1367261" cy="1276045"/>
          </a:xfrm>
          <a:prstGeom prst="bentConnector3">
            <a:avLst/>
          </a:prstGeom>
          <a:ln>
            <a:solidFill>
              <a:srgbClr val="A0866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연결선: 꺾임 75">
            <a:extLst>
              <a:ext uri="{FF2B5EF4-FFF2-40B4-BE49-F238E27FC236}">
                <a16:creationId xmlns:a16="http://schemas.microsoft.com/office/drawing/2014/main" id="{F85C9791-71BE-EF86-AC9E-A888C02CAE22}"/>
              </a:ext>
            </a:extLst>
          </p:cNvPr>
          <p:cNvCxnSpPr>
            <a:cxnSpLocks/>
          </p:cNvCxnSpPr>
          <p:nvPr/>
        </p:nvCxnSpPr>
        <p:spPr>
          <a:xfrm rot="5400000">
            <a:off x="5651521" y="5233763"/>
            <a:ext cx="888959" cy="2"/>
          </a:xfrm>
          <a:prstGeom prst="bentConnector3">
            <a:avLst/>
          </a:prstGeom>
          <a:ln>
            <a:solidFill>
              <a:srgbClr val="9B836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연결선: 꺾임 76">
            <a:extLst>
              <a:ext uri="{FF2B5EF4-FFF2-40B4-BE49-F238E27FC236}">
                <a16:creationId xmlns:a16="http://schemas.microsoft.com/office/drawing/2014/main" id="{09EF6EEC-039F-91F0-2E0B-8F0B3354F5A6}"/>
              </a:ext>
            </a:extLst>
          </p:cNvPr>
          <p:cNvCxnSpPr>
            <a:cxnSpLocks/>
          </p:cNvCxnSpPr>
          <p:nvPr/>
        </p:nvCxnSpPr>
        <p:spPr>
          <a:xfrm rot="5400000" flipV="1">
            <a:off x="6134750" y="4750537"/>
            <a:ext cx="888959" cy="966455"/>
          </a:xfrm>
          <a:prstGeom prst="bentConnector3">
            <a:avLst/>
          </a:prstGeom>
          <a:ln>
            <a:solidFill>
              <a:srgbClr val="A0866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연결선: 꺾임 77">
            <a:extLst>
              <a:ext uri="{FF2B5EF4-FFF2-40B4-BE49-F238E27FC236}">
                <a16:creationId xmlns:a16="http://schemas.microsoft.com/office/drawing/2014/main" id="{58CC123E-28D5-5BDF-8A95-379694011CA8}"/>
              </a:ext>
            </a:extLst>
          </p:cNvPr>
          <p:cNvCxnSpPr>
            <a:cxnSpLocks/>
          </p:cNvCxnSpPr>
          <p:nvPr/>
        </p:nvCxnSpPr>
        <p:spPr>
          <a:xfrm rot="5400000">
            <a:off x="5175083" y="4757325"/>
            <a:ext cx="888959" cy="952879"/>
          </a:xfrm>
          <a:prstGeom prst="bentConnector3">
            <a:avLst/>
          </a:prstGeom>
          <a:ln>
            <a:solidFill>
              <a:srgbClr val="A0866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TextBox 82">
            <a:extLst>
              <a:ext uri="{FF2B5EF4-FFF2-40B4-BE49-F238E27FC236}">
                <a16:creationId xmlns:a16="http://schemas.microsoft.com/office/drawing/2014/main" id="{CEFDEB60-773E-1476-8F70-9E18A7CC1EE0}"/>
              </a:ext>
            </a:extLst>
          </p:cNvPr>
          <p:cNvSpPr txBox="1"/>
          <p:nvPr/>
        </p:nvSpPr>
        <p:spPr>
          <a:xfrm>
            <a:off x="4679697" y="5678244"/>
            <a:ext cx="9528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latin typeface="GyeonggiTitleOTF Light" panose="02020403020101020101" pitchFamily="18" charset="-127"/>
                <a:ea typeface="GyeonggiTitleOTF Light" panose="02020403020101020101" pitchFamily="18" charset="-127"/>
              </a:rPr>
              <a:t>결투장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3D43764D-7EFB-ABE4-362E-523BB613113C}"/>
              </a:ext>
            </a:extLst>
          </p:cNvPr>
          <p:cNvSpPr txBox="1"/>
          <p:nvPr/>
        </p:nvSpPr>
        <p:spPr>
          <a:xfrm>
            <a:off x="5619562" y="5678244"/>
            <a:ext cx="9528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>
                <a:latin typeface="GyeonggiTitleOTF Light" panose="02020403020101020101" pitchFamily="18" charset="-127"/>
                <a:ea typeface="GyeonggiTitleOTF Light" panose="02020403020101020101" pitchFamily="18" charset="-127"/>
              </a:rPr>
              <a:t>총력전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332082B7-676C-999D-6EF0-D660CC6F34B1}"/>
              </a:ext>
            </a:extLst>
          </p:cNvPr>
          <p:cNvSpPr txBox="1"/>
          <p:nvPr/>
        </p:nvSpPr>
        <p:spPr>
          <a:xfrm>
            <a:off x="6636772" y="5678244"/>
            <a:ext cx="17770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>
                <a:latin typeface="GyeonggiTitleOTF Light" panose="02020403020101020101" pitchFamily="18" charset="-127"/>
                <a:ea typeface="GyeonggiTitleOTF Light" panose="02020403020101020101" pitchFamily="18" charset="-127"/>
              </a:rPr>
              <a:t>길드전</a:t>
            </a:r>
            <a:endParaRPr lang="ko-KR" altLang="en-US" dirty="0">
              <a:latin typeface="GyeonggiTitleOTF Light" panose="02020403020101020101" pitchFamily="18" charset="-127"/>
              <a:ea typeface="GyeonggiTitleOTF Light" panose="02020403020101020101" pitchFamily="18" charset="-127"/>
            </a:endParaRP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AE732AE3-47D0-0768-D002-43A8AF08C55E}"/>
              </a:ext>
            </a:extLst>
          </p:cNvPr>
          <p:cNvSpPr txBox="1"/>
          <p:nvPr/>
        </p:nvSpPr>
        <p:spPr>
          <a:xfrm>
            <a:off x="1352140" y="2139377"/>
            <a:ext cx="205894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latin typeface="GyeonggiTitleOTF Light" panose="02020403020101020101" pitchFamily="18" charset="-127"/>
                <a:ea typeface="GyeonggiTitleOTF Light" panose="02020403020101020101" pitchFamily="18" charset="-127"/>
              </a:rPr>
              <a:t>강림 원정대</a:t>
            </a:r>
            <a:endParaRPr lang="en-US" altLang="ko-KR" dirty="0">
              <a:latin typeface="GyeonggiTitleOTF Light" panose="02020403020101020101" pitchFamily="18" charset="-127"/>
              <a:ea typeface="GyeonggiTitleOTF Light" panose="02020403020101020101" pitchFamily="18" charset="-127"/>
            </a:endParaRPr>
          </a:p>
          <a:p>
            <a:r>
              <a:rPr lang="ko-KR" altLang="en-US" dirty="0">
                <a:latin typeface="GyeonggiTitleOTF Light" panose="02020403020101020101" pitchFamily="18" charset="-127"/>
                <a:ea typeface="GyeonggiTitleOTF Light" panose="02020403020101020101" pitchFamily="18" charset="-127"/>
              </a:rPr>
              <a:t>공성전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3DEF54BF-7A2A-35BE-7D13-78AE4B0696A3}"/>
              </a:ext>
            </a:extLst>
          </p:cNvPr>
          <p:cNvSpPr txBox="1"/>
          <p:nvPr/>
        </p:nvSpPr>
        <p:spPr>
          <a:xfrm>
            <a:off x="1326131" y="4331273"/>
            <a:ext cx="205894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latin typeface="GyeonggiTitleOTF Light" panose="02020403020101020101" pitchFamily="18" charset="-127"/>
                <a:ea typeface="GyeonggiTitleOTF Light" panose="02020403020101020101" pitchFamily="18" charset="-127"/>
              </a:rPr>
              <a:t>성장던전</a:t>
            </a:r>
            <a:endParaRPr lang="en-US" altLang="ko-KR" dirty="0">
              <a:latin typeface="GyeonggiTitleOTF Light" panose="02020403020101020101" pitchFamily="18" charset="-127"/>
              <a:ea typeface="GyeonggiTitleOTF Light" panose="02020403020101020101" pitchFamily="18" charset="-127"/>
            </a:endParaRPr>
          </a:p>
          <a:p>
            <a:r>
              <a:rPr lang="ko-KR" altLang="en-US" dirty="0">
                <a:latin typeface="GyeonggiTitleOTF Light" panose="02020403020101020101" pitchFamily="18" charset="-127"/>
                <a:ea typeface="GyeonggiTitleOTF Light" panose="02020403020101020101" pitchFamily="18" charset="-127"/>
              </a:rPr>
              <a:t>모험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157334B1-ED2A-A85B-3360-496B5E097CAE}"/>
              </a:ext>
            </a:extLst>
          </p:cNvPr>
          <p:cNvSpPr txBox="1"/>
          <p:nvPr/>
        </p:nvSpPr>
        <p:spPr>
          <a:xfrm>
            <a:off x="1352141" y="3019211"/>
            <a:ext cx="109449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latin typeface="GyeonggiTitleOTF Light" panose="02020403020101020101" pitchFamily="18" charset="-127"/>
                <a:ea typeface="GyeonggiTitleOTF Light" panose="02020403020101020101" pitchFamily="18" charset="-127"/>
              </a:rPr>
              <a:t>무한의 탑</a:t>
            </a:r>
            <a:endParaRPr lang="en-US" altLang="ko-KR" dirty="0">
              <a:latin typeface="GyeonggiTitleOTF Light" panose="02020403020101020101" pitchFamily="18" charset="-127"/>
              <a:ea typeface="GyeonggiTitleOTF Light" panose="02020403020101020101" pitchFamily="18" charset="-127"/>
            </a:endParaRPr>
          </a:p>
          <a:p>
            <a:r>
              <a:rPr lang="ko-KR" altLang="en-US" dirty="0">
                <a:latin typeface="GyeonggiTitleOTF Light" panose="02020403020101020101" pitchFamily="18" charset="-127"/>
                <a:ea typeface="GyeonggiTitleOTF Light" panose="02020403020101020101" pitchFamily="18" charset="-127"/>
              </a:rPr>
              <a:t>시련의 탑</a:t>
            </a:r>
          </a:p>
        </p:txBody>
      </p:sp>
      <p:cxnSp>
        <p:nvCxnSpPr>
          <p:cNvPr id="112" name="직선 화살표 연결선 111">
            <a:extLst>
              <a:ext uri="{FF2B5EF4-FFF2-40B4-BE49-F238E27FC236}">
                <a16:creationId xmlns:a16="http://schemas.microsoft.com/office/drawing/2014/main" id="{58A0B218-CB46-C5A7-E0C6-8919F240F39C}"/>
              </a:ext>
            </a:extLst>
          </p:cNvPr>
          <p:cNvCxnSpPr>
            <a:cxnSpLocks/>
          </p:cNvCxnSpPr>
          <p:nvPr/>
        </p:nvCxnSpPr>
        <p:spPr>
          <a:xfrm flipH="1">
            <a:off x="2733959" y="4059985"/>
            <a:ext cx="683631" cy="0"/>
          </a:xfrm>
          <a:prstGeom prst="straightConnector1">
            <a:avLst/>
          </a:prstGeom>
          <a:ln>
            <a:solidFill>
              <a:srgbClr val="9B836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4" name="TextBox 113">
            <a:extLst>
              <a:ext uri="{FF2B5EF4-FFF2-40B4-BE49-F238E27FC236}">
                <a16:creationId xmlns:a16="http://schemas.microsoft.com/office/drawing/2014/main" id="{76A79F4A-539F-3353-297F-77888EE6539F}"/>
              </a:ext>
            </a:extLst>
          </p:cNvPr>
          <p:cNvSpPr txBox="1"/>
          <p:nvPr/>
        </p:nvSpPr>
        <p:spPr>
          <a:xfrm>
            <a:off x="1223658" y="3765511"/>
            <a:ext cx="20589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ko-KR" altLang="en-US" dirty="0">
              <a:latin typeface="GyeonggiTitleOTF Light" panose="02020403020101020101" pitchFamily="18" charset="-127"/>
              <a:ea typeface="GyeonggiTitleOTF Light" panose="02020403020101020101" pitchFamily="18" charset="-127"/>
            </a:endParaRP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764F18CD-9CCE-E68B-F172-7CA0E86CB001}"/>
              </a:ext>
            </a:extLst>
          </p:cNvPr>
          <p:cNvSpPr txBox="1"/>
          <p:nvPr/>
        </p:nvSpPr>
        <p:spPr>
          <a:xfrm>
            <a:off x="1326131" y="3859082"/>
            <a:ext cx="9927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>
                <a:latin typeface="GyeonggiTitleOTF Light" panose="02020403020101020101" pitchFamily="18" charset="-127"/>
                <a:ea typeface="GyeonggiTitleOTF Light" panose="02020403020101020101" pitchFamily="18" charset="-127"/>
              </a:rPr>
              <a:t>레이드</a:t>
            </a: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4AD6862D-521F-3DF2-4CBE-88C5C384CA32}"/>
              </a:ext>
            </a:extLst>
          </p:cNvPr>
          <p:cNvSpPr txBox="1"/>
          <p:nvPr/>
        </p:nvSpPr>
        <p:spPr>
          <a:xfrm>
            <a:off x="9578185" y="2272420"/>
            <a:ext cx="17563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latin typeface="GyeonggiTitleOTF Light" panose="02020403020101020101" pitchFamily="18" charset="-127"/>
                <a:ea typeface="GyeonggiTitleOTF Light" panose="02020403020101020101" pitchFamily="18" charset="-127"/>
              </a:rPr>
              <a:t>영웅</a:t>
            </a:r>
            <a:r>
              <a:rPr lang="en-US" altLang="ko-KR" dirty="0">
                <a:latin typeface="GyeonggiTitleOTF Light" panose="02020403020101020101" pitchFamily="18" charset="-127"/>
                <a:ea typeface="GyeonggiTitleOTF Light" panose="02020403020101020101" pitchFamily="18" charset="-127"/>
              </a:rPr>
              <a:t>,</a:t>
            </a:r>
            <a:r>
              <a:rPr lang="ko-KR" altLang="en-US" dirty="0">
                <a:latin typeface="GyeonggiTitleOTF Light" panose="02020403020101020101" pitchFamily="18" charset="-127"/>
                <a:ea typeface="GyeonggiTitleOTF Light" panose="02020403020101020101" pitchFamily="18" charset="-127"/>
              </a:rPr>
              <a:t>펫 강화</a:t>
            </a: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82D2432B-C381-48BB-C95E-2D3DF774F104}"/>
              </a:ext>
            </a:extLst>
          </p:cNvPr>
          <p:cNvSpPr txBox="1"/>
          <p:nvPr/>
        </p:nvSpPr>
        <p:spPr>
          <a:xfrm>
            <a:off x="9578185" y="3259584"/>
            <a:ext cx="17563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latin typeface="GyeonggiTitleOTF Light" panose="02020403020101020101" pitchFamily="18" charset="-127"/>
                <a:ea typeface="GyeonggiTitleOTF Light" panose="02020403020101020101" pitchFamily="18" charset="-127"/>
              </a:rPr>
              <a:t>영웅</a:t>
            </a:r>
            <a:r>
              <a:rPr lang="en-US" altLang="ko-KR" dirty="0">
                <a:latin typeface="GyeonggiTitleOTF Light" panose="02020403020101020101" pitchFamily="18" charset="-127"/>
                <a:ea typeface="GyeonggiTitleOTF Light" panose="02020403020101020101" pitchFamily="18" charset="-127"/>
              </a:rPr>
              <a:t>,</a:t>
            </a:r>
            <a:r>
              <a:rPr lang="ko-KR" altLang="en-US" dirty="0">
                <a:latin typeface="GyeonggiTitleOTF Light" panose="02020403020101020101" pitchFamily="18" charset="-127"/>
                <a:ea typeface="GyeonggiTitleOTF Light" panose="02020403020101020101" pitchFamily="18" charset="-127"/>
              </a:rPr>
              <a:t>펫 뽑기</a:t>
            </a: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09D1B03F-C3E2-12D7-34E4-F7F5C681EAAD}"/>
              </a:ext>
            </a:extLst>
          </p:cNvPr>
          <p:cNvSpPr txBox="1"/>
          <p:nvPr/>
        </p:nvSpPr>
        <p:spPr>
          <a:xfrm>
            <a:off x="9593367" y="4228414"/>
            <a:ext cx="17563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latin typeface="GyeonggiTitleOTF Light" panose="02020403020101020101" pitchFamily="18" charset="-127"/>
                <a:ea typeface="GyeonggiTitleOTF Light" panose="02020403020101020101" pitchFamily="18" charset="-127"/>
              </a:rPr>
              <a:t>장비 강화</a:t>
            </a: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2C809F5D-A232-5502-C236-15623798BA60}"/>
              </a:ext>
            </a:extLst>
          </p:cNvPr>
          <p:cNvSpPr txBox="1"/>
          <p:nvPr/>
        </p:nvSpPr>
        <p:spPr>
          <a:xfrm>
            <a:off x="1072526" y="586716"/>
            <a:ext cx="6242674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500" dirty="0">
                <a:latin typeface="경기천년제목VOTF Bold" panose="02020803020101020101" pitchFamily="18" charset="-127"/>
                <a:ea typeface="경기천년제목VOTF Bold" panose="02020803020101020101" pitchFamily="18" charset="-127"/>
              </a:rPr>
              <a:t>게임 컨텐츠 소개</a:t>
            </a:r>
            <a:endParaRPr lang="ko-KR" altLang="en-US" dirty="0"/>
          </a:p>
        </p:txBody>
      </p:sp>
      <p:grpSp>
        <p:nvGrpSpPr>
          <p:cNvPr id="133" name="그룹 132">
            <a:extLst>
              <a:ext uri="{FF2B5EF4-FFF2-40B4-BE49-F238E27FC236}">
                <a16:creationId xmlns:a16="http://schemas.microsoft.com/office/drawing/2014/main" id="{4D1488B3-A93B-90DC-1F31-DD0D9CCAE7BE}"/>
              </a:ext>
            </a:extLst>
          </p:cNvPr>
          <p:cNvGrpSpPr/>
          <p:nvPr/>
        </p:nvGrpSpPr>
        <p:grpSpPr>
          <a:xfrm>
            <a:off x="2190938" y="1548143"/>
            <a:ext cx="3275101" cy="425512"/>
            <a:chOff x="2190939" y="1548143"/>
            <a:chExt cx="2952184" cy="425512"/>
          </a:xfrm>
        </p:grpSpPr>
        <p:cxnSp>
          <p:nvCxnSpPr>
            <p:cNvPr id="128" name="직선 연결선 127">
              <a:extLst>
                <a:ext uri="{FF2B5EF4-FFF2-40B4-BE49-F238E27FC236}">
                  <a16:creationId xmlns:a16="http://schemas.microsoft.com/office/drawing/2014/main" id="{BF07C30C-3704-BECA-7780-AF421DF342ED}"/>
                </a:ext>
              </a:extLst>
            </p:cNvPr>
            <p:cNvCxnSpPr>
              <a:cxnSpLocks/>
            </p:cNvCxnSpPr>
            <p:nvPr/>
          </p:nvCxnSpPr>
          <p:spPr>
            <a:xfrm>
              <a:off x="2190939" y="1548143"/>
              <a:ext cx="0" cy="425512"/>
            </a:xfrm>
            <a:prstGeom prst="line">
              <a:avLst/>
            </a:prstGeom>
            <a:ln w="6350">
              <a:solidFill>
                <a:srgbClr val="A0866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직선 연결선 129">
              <a:extLst>
                <a:ext uri="{FF2B5EF4-FFF2-40B4-BE49-F238E27FC236}">
                  <a16:creationId xmlns:a16="http://schemas.microsoft.com/office/drawing/2014/main" id="{F440EFE0-1539-3EDF-CD79-4F8C81D6FAB7}"/>
                </a:ext>
              </a:extLst>
            </p:cNvPr>
            <p:cNvCxnSpPr>
              <a:cxnSpLocks/>
            </p:cNvCxnSpPr>
            <p:nvPr/>
          </p:nvCxnSpPr>
          <p:spPr>
            <a:xfrm>
              <a:off x="2190939" y="1548473"/>
              <a:ext cx="2952184" cy="0"/>
            </a:xfrm>
            <a:prstGeom prst="line">
              <a:avLst/>
            </a:prstGeom>
            <a:ln w="6350">
              <a:solidFill>
                <a:srgbClr val="A0866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5" name="TextBox 134">
            <a:extLst>
              <a:ext uri="{FF2B5EF4-FFF2-40B4-BE49-F238E27FC236}">
                <a16:creationId xmlns:a16="http://schemas.microsoft.com/office/drawing/2014/main" id="{7977B162-A615-4F43-3AF4-E83082DE963B}"/>
              </a:ext>
            </a:extLst>
          </p:cNvPr>
          <p:cNvSpPr txBox="1"/>
          <p:nvPr/>
        </p:nvSpPr>
        <p:spPr>
          <a:xfrm>
            <a:off x="5374126" y="1355414"/>
            <a:ext cx="14437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>
                <a:latin typeface="GyeonggiTitleOTF Light" panose="02020403020101020101" pitchFamily="18" charset="-127"/>
                <a:ea typeface="GyeonggiTitleOTF Light" panose="02020403020101020101" pitchFamily="18" charset="-127"/>
              </a:rPr>
              <a:t>획득한 보상</a:t>
            </a:r>
          </a:p>
        </p:txBody>
      </p:sp>
      <p:grpSp>
        <p:nvGrpSpPr>
          <p:cNvPr id="136" name="그룹 135">
            <a:extLst>
              <a:ext uri="{FF2B5EF4-FFF2-40B4-BE49-F238E27FC236}">
                <a16:creationId xmlns:a16="http://schemas.microsoft.com/office/drawing/2014/main" id="{0C2E878C-501E-C69F-FCA0-D3AB1C2E0724}"/>
              </a:ext>
            </a:extLst>
          </p:cNvPr>
          <p:cNvGrpSpPr/>
          <p:nvPr/>
        </p:nvGrpSpPr>
        <p:grpSpPr>
          <a:xfrm flipH="1">
            <a:off x="6725963" y="1539591"/>
            <a:ext cx="3195273" cy="425512"/>
            <a:chOff x="2190939" y="1548143"/>
            <a:chExt cx="2952184" cy="425512"/>
          </a:xfrm>
        </p:grpSpPr>
        <p:cxnSp>
          <p:nvCxnSpPr>
            <p:cNvPr id="137" name="직선 연결선 136">
              <a:extLst>
                <a:ext uri="{FF2B5EF4-FFF2-40B4-BE49-F238E27FC236}">
                  <a16:creationId xmlns:a16="http://schemas.microsoft.com/office/drawing/2014/main" id="{4F563681-2319-5EAE-031A-E10550919E97}"/>
                </a:ext>
              </a:extLst>
            </p:cNvPr>
            <p:cNvCxnSpPr>
              <a:cxnSpLocks/>
            </p:cNvCxnSpPr>
            <p:nvPr/>
          </p:nvCxnSpPr>
          <p:spPr>
            <a:xfrm>
              <a:off x="2190939" y="1548143"/>
              <a:ext cx="0" cy="425512"/>
            </a:xfrm>
            <a:prstGeom prst="line">
              <a:avLst/>
            </a:prstGeom>
            <a:ln w="6350">
              <a:solidFill>
                <a:srgbClr val="A0866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직선 연결선 137">
              <a:extLst>
                <a:ext uri="{FF2B5EF4-FFF2-40B4-BE49-F238E27FC236}">
                  <a16:creationId xmlns:a16="http://schemas.microsoft.com/office/drawing/2014/main" id="{EEF095A3-0D4E-1ED0-AA44-C955953F6ED2}"/>
                </a:ext>
              </a:extLst>
            </p:cNvPr>
            <p:cNvCxnSpPr>
              <a:cxnSpLocks/>
            </p:cNvCxnSpPr>
            <p:nvPr/>
          </p:nvCxnSpPr>
          <p:spPr>
            <a:xfrm>
              <a:off x="2190939" y="1548473"/>
              <a:ext cx="2952184" cy="0"/>
            </a:xfrm>
            <a:prstGeom prst="line">
              <a:avLst/>
            </a:prstGeom>
            <a:ln w="6350">
              <a:solidFill>
                <a:srgbClr val="A0866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40" name="직선 화살표 연결선 139">
            <a:extLst>
              <a:ext uri="{FF2B5EF4-FFF2-40B4-BE49-F238E27FC236}">
                <a16:creationId xmlns:a16="http://schemas.microsoft.com/office/drawing/2014/main" id="{7E4D0521-5484-45BD-4644-D920869BA911}"/>
              </a:ext>
            </a:extLst>
          </p:cNvPr>
          <p:cNvCxnSpPr>
            <a:cxnSpLocks/>
          </p:cNvCxnSpPr>
          <p:nvPr/>
        </p:nvCxnSpPr>
        <p:spPr>
          <a:xfrm>
            <a:off x="9921236" y="1548143"/>
            <a:ext cx="0" cy="425512"/>
          </a:xfrm>
          <a:prstGeom prst="straightConnector1">
            <a:avLst/>
          </a:prstGeom>
          <a:ln>
            <a:solidFill>
              <a:srgbClr val="9B836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2" name="그룹 141">
            <a:extLst>
              <a:ext uri="{FF2B5EF4-FFF2-40B4-BE49-F238E27FC236}">
                <a16:creationId xmlns:a16="http://schemas.microsoft.com/office/drawing/2014/main" id="{0E5B2E7A-B639-27F0-4FFA-25731752B7CB}"/>
              </a:ext>
            </a:extLst>
          </p:cNvPr>
          <p:cNvGrpSpPr/>
          <p:nvPr/>
        </p:nvGrpSpPr>
        <p:grpSpPr>
          <a:xfrm flipH="1" flipV="1">
            <a:off x="9285813" y="4936667"/>
            <a:ext cx="756200" cy="497848"/>
            <a:chOff x="2190939" y="1548143"/>
            <a:chExt cx="2952184" cy="425512"/>
          </a:xfrm>
        </p:grpSpPr>
        <p:cxnSp>
          <p:nvCxnSpPr>
            <p:cNvPr id="143" name="직선 연결선 142">
              <a:extLst>
                <a:ext uri="{FF2B5EF4-FFF2-40B4-BE49-F238E27FC236}">
                  <a16:creationId xmlns:a16="http://schemas.microsoft.com/office/drawing/2014/main" id="{4A9FCCFC-264F-CE01-34F4-D808FCB4BD27}"/>
                </a:ext>
              </a:extLst>
            </p:cNvPr>
            <p:cNvCxnSpPr>
              <a:cxnSpLocks/>
            </p:cNvCxnSpPr>
            <p:nvPr/>
          </p:nvCxnSpPr>
          <p:spPr>
            <a:xfrm>
              <a:off x="2190939" y="1548143"/>
              <a:ext cx="0" cy="425512"/>
            </a:xfrm>
            <a:prstGeom prst="line">
              <a:avLst/>
            </a:prstGeom>
            <a:ln w="6350">
              <a:solidFill>
                <a:srgbClr val="A0866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직선 연결선 143">
              <a:extLst>
                <a:ext uri="{FF2B5EF4-FFF2-40B4-BE49-F238E27FC236}">
                  <a16:creationId xmlns:a16="http://schemas.microsoft.com/office/drawing/2014/main" id="{186584DE-6ABB-305C-BBF8-DC5A56CE9476}"/>
                </a:ext>
              </a:extLst>
            </p:cNvPr>
            <p:cNvCxnSpPr>
              <a:cxnSpLocks/>
            </p:cNvCxnSpPr>
            <p:nvPr/>
          </p:nvCxnSpPr>
          <p:spPr>
            <a:xfrm>
              <a:off x="2190939" y="1548473"/>
              <a:ext cx="2952184" cy="0"/>
            </a:xfrm>
            <a:prstGeom prst="line">
              <a:avLst/>
            </a:prstGeom>
            <a:ln w="6350">
              <a:solidFill>
                <a:srgbClr val="A0866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45" name="직선 화살표 연결선 144">
            <a:extLst>
              <a:ext uri="{FF2B5EF4-FFF2-40B4-BE49-F238E27FC236}">
                <a16:creationId xmlns:a16="http://schemas.microsoft.com/office/drawing/2014/main" id="{679D1CF0-FA3F-0445-C6CC-6EC3B9519E1A}"/>
              </a:ext>
            </a:extLst>
          </p:cNvPr>
          <p:cNvCxnSpPr>
            <a:cxnSpLocks/>
            <a:stCxn id="149" idx="1"/>
          </p:cNvCxnSpPr>
          <p:nvPr/>
        </p:nvCxnSpPr>
        <p:spPr>
          <a:xfrm flipH="1" flipV="1">
            <a:off x="7462342" y="5434129"/>
            <a:ext cx="739680" cy="20407"/>
          </a:xfrm>
          <a:prstGeom prst="straightConnector1">
            <a:avLst/>
          </a:prstGeom>
          <a:ln>
            <a:solidFill>
              <a:srgbClr val="9B836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9" name="TextBox 148">
            <a:extLst>
              <a:ext uri="{FF2B5EF4-FFF2-40B4-BE49-F238E27FC236}">
                <a16:creationId xmlns:a16="http://schemas.microsoft.com/office/drawing/2014/main" id="{B72F7083-C96D-2435-B53A-3E02DF99077E}"/>
              </a:ext>
            </a:extLst>
          </p:cNvPr>
          <p:cNvSpPr txBox="1"/>
          <p:nvPr/>
        </p:nvSpPr>
        <p:spPr>
          <a:xfrm>
            <a:off x="8202022" y="5269870"/>
            <a:ext cx="12187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latin typeface="GyeonggiTitleOTF Light" panose="02020403020101020101" pitchFamily="18" charset="-127"/>
                <a:ea typeface="GyeonggiTitleOTF Light" panose="02020403020101020101" pitchFamily="18" charset="-127"/>
              </a:rPr>
              <a:t>영웅 성장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64A7E4F-96D4-B2EB-573E-FD241FEA3EF0}"/>
              </a:ext>
            </a:extLst>
          </p:cNvPr>
          <p:cNvSpPr txBox="1"/>
          <p:nvPr/>
        </p:nvSpPr>
        <p:spPr>
          <a:xfrm>
            <a:off x="5848109" y="6412606"/>
            <a:ext cx="49578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ko-KR" sz="1000" dirty="0">
                <a:latin typeface="GyeonggiTitle Bold" panose="02020803020101020101" pitchFamily="18" charset="-127"/>
                <a:ea typeface="GyeonggiTitle Bold" panose="02020803020101020101" pitchFamily="18" charset="-127"/>
              </a:rPr>
              <a:t>- 3 - </a:t>
            </a:r>
            <a:endParaRPr kumimoji="1" lang="ko-KR" altLang="en-US" sz="1000" dirty="0">
              <a:latin typeface="GyeonggiTitle Bold" panose="02020803020101020101" pitchFamily="18" charset="-127"/>
              <a:ea typeface="GyeonggiTitle Bold" panose="020208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43295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736677F-27FB-B4F5-099F-0A80FD1B15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B88E6811-E03E-0F08-1054-929C814D695B}"/>
              </a:ext>
            </a:extLst>
          </p:cNvPr>
          <p:cNvSpPr txBox="1"/>
          <p:nvPr/>
        </p:nvSpPr>
        <p:spPr>
          <a:xfrm>
            <a:off x="1072526" y="586716"/>
            <a:ext cx="7646931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500" dirty="0">
                <a:latin typeface="경기천년제목VOTF Bold" panose="02020803020101020101" pitchFamily="18" charset="-127"/>
                <a:ea typeface="경기천년제목VOTF Bold" panose="02020803020101020101" pitchFamily="18" charset="-127"/>
              </a:rPr>
              <a:t>메타 분석 선택 이유</a:t>
            </a:r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C39F09-27E5-27B8-F2B1-4B85A7AF7580}"/>
              </a:ext>
            </a:extLst>
          </p:cNvPr>
          <p:cNvSpPr txBox="1"/>
          <p:nvPr/>
        </p:nvSpPr>
        <p:spPr>
          <a:xfrm>
            <a:off x="5848109" y="6412606"/>
            <a:ext cx="49578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ko-KR" sz="1000" dirty="0">
                <a:latin typeface="GyeonggiTitle Bold" panose="02020803020101020101" pitchFamily="18" charset="-127"/>
                <a:ea typeface="GyeonggiTitle Bold" panose="02020803020101020101" pitchFamily="18" charset="-127"/>
              </a:rPr>
              <a:t>- 4 - </a:t>
            </a:r>
            <a:endParaRPr kumimoji="1" lang="ko-KR" altLang="en-US" sz="1000" dirty="0">
              <a:latin typeface="GyeonggiTitle Bold" panose="02020803020101020101" pitchFamily="18" charset="-127"/>
              <a:ea typeface="GyeonggiTitle Bold" panose="02020803020101020101" pitchFamily="18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5E5AF906-600B-AB2F-14B1-D6B2B320E12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0044" y="1449790"/>
            <a:ext cx="1250186" cy="946087"/>
          </a:xfrm>
          <a:prstGeom prst="rect">
            <a:avLst/>
          </a:prstGeom>
        </p:spPr>
      </p:pic>
      <p:pic>
        <p:nvPicPr>
          <p:cNvPr id="8" name="그림 7" descr="만화 영화, 스케치, 꽃, 아니메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158D0E9-ED9B-4906-93E9-08B350EDEAA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7673" y="2243884"/>
            <a:ext cx="1549884" cy="154302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680FDCAF-3FB1-AB15-DCE5-587A9D65E662}"/>
              </a:ext>
            </a:extLst>
          </p:cNvPr>
          <p:cNvSpPr txBox="1"/>
          <p:nvPr/>
        </p:nvSpPr>
        <p:spPr>
          <a:xfrm>
            <a:off x="5564710" y="199226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7180950-35A7-00B0-940F-734ADE558BAE}"/>
              </a:ext>
            </a:extLst>
          </p:cNvPr>
          <p:cNvSpPr txBox="1"/>
          <p:nvPr/>
        </p:nvSpPr>
        <p:spPr>
          <a:xfrm>
            <a:off x="3630205" y="2073463"/>
            <a:ext cx="43027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dirty="0">
                <a:latin typeface="GyeonggiTitleOTF Light" panose="02020403020101020101" pitchFamily="18" charset="-127"/>
                <a:ea typeface="GyeonggiTitleOTF Light" panose="02020403020101020101" pitchFamily="18" charset="-127"/>
              </a:rPr>
              <a:t>노력을 통해 재화를 수급하는 과정을 직접 경험</a:t>
            </a:r>
            <a:r>
              <a:rPr kumimoji="1" lang="en-US" altLang="ko-KR" dirty="0">
                <a:latin typeface="GyeonggiTitleOTF Light" panose="02020403020101020101" pitchFamily="18" charset="-127"/>
                <a:ea typeface="GyeonggiTitleOTF Light" panose="02020403020101020101" pitchFamily="18" charset="-127"/>
              </a:rPr>
              <a:t>.</a:t>
            </a:r>
            <a:endParaRPr kumimoji="1" lang="ko-KR" altLang="en-US" dirty="0">
              <a:latin typeface="GyeonggiTitleOTF Light" panose="02020403020101020101" pitchFamily="18" charset="-127"/>
              <a:ea typeface="GyeonggiTitleOTF Light" panose="02020403020101020101" pitchFamily="18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F4D8E5D-E465-91A5-B6E1-63FFB428F075}"/>
              </a:ext>
            </a:extLst>
          </p:cNvPr>
          <p:cNvSpPr txBox="1"/>
          <p:nvPr/>
        </p:nvSpPr>
        <p:spPr>
          <a:xfrm>
            <a:off x="3630205" y="3042491"/>
            <a:ext cx="56092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dirty="0">
                <a:latin typeface="GyeonggiTitleOTF Light" panose="02020403020101020101" pitchFamily="18" charset="-127"/>
                <a:ea typeface="GyeonggiTitleOTF Light" panose="02020403020101020101" pitchFamily="18" charset="-127"/>
              </a:rPr>
              <a:t>기존에 모아두었던 재화와 영웅 </a:t>
            </a:r>
            <a:r>
              <a:rPr kumimoji="1" lang="ko-KR" altLang="en-US" dirty="0" err="1">
                <a:latin typeface="GyeonggiTitleOTF Light" panose="02020403020101020101" pitchFamily="18" charset="-127"/>
                <a:ea typeface="GyeonggiTitleOTF Light" panose="02020403020101020101" pitchFamily="18" charset="-127"/>
              </a:rPr>
              <a:t>뽑기권을</a:t>
            </a:r>
            <a:r>
              <a:rPr kumimoji="1" lang="ko-KR" altLang="en-US" dirty="0">
                <a:latin typeface="GyeonggiTitleOTF Light" panose="02020403020101020101" pitchFamily="18" charset="-127"/>
                <a:ea typeface="GyeonggiTitleOTF Light" panose="02020403020101020101" pitchFamily="18" charset="-127"/>
              </a:rPr>
              <a:t> 통해 </a:t>
            </a:r>
            <a:r>
              <a:rPr kumimoji="1" lang="en-US" altLang="ko-KR" dirty="0">
                <a:latin typeface="GyeonggiTitleOTF Light" panose="02020403020101020101" pitchFamily="18" charset="-127"/>
                <a:ea typeface="GyeonggiTitleOTF Light" panose="02020403020101020101" pitchFamily="18" charset="-127"/>
              </a:rPr>
              <a:t>12</a:t>
            </a:r>
            <a:r>
              <a:rPr kumimoji="1" lang="ko-KR" altLang="en-US" dirty="0">
                <a:latin typeface="GyeonggiTitleOTF Light" panose="02020403020101020101" pitchFamily="18" charset="-127"/>
                <a:ea typeface="GyeonggiTitleOTF Light" panose="02020403020101020101" pitchFamily="18" charset="-127"/>
              </a:rPr>
              <a:t>초월에 성공</a:t>
            </a:r>
            <a:r>
              <a:rPr kumimoji="1" lang="en-US" altLang="ko-KR" dirty="0">
                <a:latin typeface="GyeonggiTitleOTF Light" panose="02020403020101020101" pitchFamily="18" charset="-127"/>
                <a:ea typeface="GyeonggiTitleOTF Light" panose="02020403020101020101" pitchFamily="18" charset="-127"/>
              </a:rPr>
              <a:t>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32C9C5F-684D-E0D1-3D65-7BC2C7ED188E}"/>
              </a:ext>
            </a:extLst>
          </p:cNvPr>
          <p:cNvSpPr txBox="1"/>
          <p:nvPr/>
        </p:nvSpPr>
        <p:spPr>
          <a:xfrm flipH="1">
            <a:off x="3630204" y="4110178"/>
            <a:ext cx="71282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R" altLang="en-US" dirty="0">
                <a:latin typeface="GyeonggiTitleOTF Light" panose="02020403020101020101" pitchFamily="18" charset="-127"/>
                <a:ea typeface="GyeonggiTitleOTF Light" panose="02020403020101020101" pitchFamily="18" charset="-127"/>
              </a:rPr>
              <a:t>기존 </a:t>
            </a:r>
            <a:r>
              <a:rPr kumimoji="1" lang="en-US" altLang="ko-KR" dirty="0">
                <a:latin typeface="GyeonggiTitleOTF Light" panose="02020403020101020101" pitchFamily="18" charset="-127"/>
                <a:ea typeface="GyeonggiTitleOTF Light" panose="02020403020101020101" pitchFamily="18" charset="-127"/>
              </a:rPr>
              <a:t>4500</a:t>
            </a:r>
            <a:r>
              <a:rPr kumimoji="1" lang="ko-KR" altLang="en-US" dirty="0">
                <a:latin typeface="GyeonggiTitleOTF Light" panose="02020403020101020101" pitchFamily="18" charset="-127"/>
                <a:ea typeface="GyeonggiTitleOTF Light" panose="02020403020101020101" pitchFamily="18" charset="-127"/>
              </a:rPr>
              <a:t>점이던 결투장 점수가 카일</a:t>
            </a:r>
            <a:r>
              <a:rPr kumimoji="1" lang="en-US" altLang="ko-KR" dirty="0">
                <a:latin typeface="GyeonggiTitleOTF Light" panose="02020403020101020101" pitchFamily="18" charset="-127"/>
                <a:ea typeface="GyeonggiTitleOTF Light" panose="02020403020101020101" pitchFamily="18" charset="-127"/>
              </a:rPr>
              <a:t>12</a:t>
            </a:r>
            <a:r>
              <a:rPr kumimoji="1" lang="ko-KR" altLang="en-US" dirty="0">
                <a:latin typeface="GyeonggiTitleOTF Light" panose="02020403020101020101" pitchFamily="18" charset="-127"/>
                <a:ea typeface="GyeonggiTitleOTF Light" panose="02020403020101020101" pitchFamily="18" charset="-127"/>
              </a:rPr>
              <a:t>초월 이후 </a:t>
            </a:r>
            <a:r>
              <a:rPr kumimoji="1" lang="en-US" altLang="ko-KR" b="1" dirty="0">
                <a:latin typeface="GyeonggiTitleOTF Light" panose="02020403020101020101" pitchFamily="18" charset="-127"/>
                <a:ea typeface="GyeonggiTitleOTF Light" panose="02020403020101020101" pitchFamily="18" charset="-127"/>
              </a:rPr>
              <a:t>5100</a:t>
            </a:r>
            <a:r>
              <a:rPr kumimoji="1" lang="ko-KR" altLang="en-US" b="1" dirty="0">
                <a:latin typeface="GyeonggiTitleOTF Light" panose="02020403020101020101" pitchFamily="18" charset="-127"/>
                <a:ea typeface="GyeonggiTitleOTF Light" panose="02020403020101020101" pitchFamily="18" charset="-127"/>
              </a:rPr>
              <a:t>점</a:t>
            </a:r>
            <a:r>
              <a:rPr kumimoji="1" lang="ko-KR" altLang="en-US" dirty="0">
                <a:latin typeface="GyeonggiTitleOTF Light" panose="02020403020101020101" pitchFamily="18" charset="-127"/>
                <a:ea typeface="GyeonggiTitleOTF Light" panose="02020403020101020101" pitchFamily="18" charset="-127"/>
              </a:rPr>
              <a:t>으로 급격하게 상승</a:t>
            </a:r>
            <a:r>
              <a:rPr kumimoji="1" lang="en-US" altLang="ko-KR" dirty="0">
                <a:latin typeface="GyeonggiTitleOTF Light" panose="02020403020101020101" pitchFamily="18" charset="-127"/>
                <a:ea typeface="GyeonggiTitleOTF Light" panose="02020403020101020101" pitchFamily="18" charset="-127"/>
              </a:rPr>
              <a:t>.</a:t>
            </a:r>
            <a:endParaRPr kumimoji="1" lang="ko-KR" altLang="en-US" dirty="0">
              <a:latin typeface="GyeonggiTitleOTF Light" panose="02020403020101020101" pitchFamily="18" charset="-127"/>
              <a:ea typeface="GyeonggiTitleOTF Light" panose="02020403020101020101" pitchFamily="18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6B5AAB3-DDD0-B0E5-6A25-5267383C19A4}"/>
              </a:ext>
            </a:extLst>
          </p:cNvPr>
          <p:cNvSpPr txBox="1"/>
          <p:nvPr/>
        </p:nvSpPr>
        <p:spPr>
          <a:xfrm>
            <a:off x="3279925" y="1689676"/>
            <a:ext cx="36551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>
                <a:latin typeface="GyeonggiTitle Bold" panose="02020803020101020101" pitchFamily="18" charset="-127"/>
                <a:ea typeface="GyeonggiTitle Bold" panose="02020803020101020101" pitchFamily="18" charset="-127"/>
              </a:rPr>
              <a:t>1. </a:t>
            </a:r>
            <a:r>
              <a:rPr kumimoji="1" lang="ko-KR" altLang="en-US" dirty="0" err="1">
                <a:latin typeface="GyeonggiTitle Bold" panose="02020803020101020101" pitchFamily="18" charset="-127"/>
                <a:ea typeface="GyeonggiTitle Bold" panose="02020803020101020101" pitchFamily="18" charset="-127"/>
              </a:rPr>
              <a:t>무과금</a:t>
            </a:r>
            <a:r>
              <a:rPr kumimoji="1" lang="ko-KR" altLang="en-US" dirty="0">
                <a:latin typeface="GyeonggiTitle Bold" panose="02020803020101020101" pitchFamily="18" charset="-127"/>
                <a:ea typeface="GyeonggiTitle Bold" panose="02020803020101020101" pitchFamily="18" charset="-127"/>
              </a:rPr>
              <a:t> </a:t>
            </a:r>
            <a:r>
              <a:rPr kumimoji="1" lang="en-US" altLang="ko-KR" dirty="0">
                <a:latin typeface="GyeonggiTitle Bold" panose="02020803020101020101" pitchFamily="18" charset="-127"/>
                <a:ea typeface="GyeonggiTitle Bold" panose="02020803020101020101" pitchFamily="18" charset="-127"/>
              </a:rPr>
              <a:t>100,000</a:t>
            </a:r>
            <a:r>
              <a:rPr kumimoji="1" lang="ko-KR" altLang="en-US" dirty="0">
                <a:latin typeface="GyeonggiTitle Bold" panose="02020803020101020101" pitchFamily="18" charset="-127"/>
                <a:ea typeface="GyeonggiTitle Bold" panose="02020803020101020101" pitchFamily="18" charset="-127"/>
              </a:rPr>
              <a:t>루비 </a:t>
            </a:r>
            <a:r>
              <a:rPr kumimoji="1" lang="ko-KR" altLang="en-US" dirty="0" err="1">
                <a:latin typeface="GyeonggiTitle Bold" panose="02020803020101020101" pitchFamily="18" charset="-127"/>
                <a:ea typeface="GyeonggiTitle Bold" panose="02020803020101020101" pitchFamily="18" charset="-127"/>
              </a:rPr>
              <a:t>파밍</a:t>
            </a:r>
            <a:r>
              <a:rPr kumimoji="1" lang="ko-KR" altLang="en-US" dirty="0">
                <a:latin typeface="GyeonggiTitle Bold" panose="02020803020101020101" pitchFamily="18" charset="-127"/>
                <a:ea typeface="GyeonggiTitle Bold" panose="02020803020101020101" pitchFamily="18" charset="-127"/>
              </a:rPr>
              <a:t> </a:t>
            </a:r>
            <a:r>
              <a:rPr kumimoji="1" lang="en-US" altLang="ko-KR" dirty="0">
                <a:latin typeface="GyeonggiTitle Bold" panose="02020803020101020101" pitchFamily="18" charset="-127"/>
                <a:ea typeface="GyeonggiTitle Bold" panose="02020803020101020101" pitchFamily="18" charset="-127"/>
              </a:rPr>
              <a:t>(3</a:t>
            </a:r>
            <a:r>
              <a:rPr kumimoji="1" lang="ko-KR" altLang="en-US" dirty="0">
                <a:latin typeface="GyeonggiTitle Bold" panose="02020803020101020101" pitchFamily="18" charset="-127"/>
                <a:ea typeface="GyeonggiTitle Bold" panose="02020803020101020101" pitchFamily="18" charset="-127"/>
              </a:rPr>
              <a:t>개월</a:t>
            </a:r>
            <a:r>
              <a:rPr kumimoji="1" lang="en-US" altLang="ko-KR" dirty="0">
                <a:latin typeface="GyeonggiTitle Bold" panose="02020803020101020101" pitchFamily="18" charset="-127"/>
                <a:ea typeface="GyeonggiTitle Bold" panose="02020803020101020101" pitchFamily="18" charset="-127"/>
              </a:rPr>
              <a:t>)</a:t>
            </a:r>
            <a:endParaRPr kumimoji="1" lang="ko-KR" altLang="en-US" dirty="0">
              <a:latin typeface="GyeonggiTitle Bold" panose="02020803020101020101" pitchFamily="18" charset="-127"/>
              <a:ea typeface="GyeonggiTitle Bold" panose="02020803020101020101" pitchFamily="18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DE7CA4C-EABC-2129-5733-FB85B2FA7C7A}"/>
              </a:ext>
            </a:extLst>
          </p:cNvPr>
          <p:cNvSpPr txBox="1"/>
          <p:nvPr/>
        </p:nvSpPr>
        <p:spPr>
          <a:xfrm>
            <a:off x="3279925" y="2663524"/>
            <a:ext cx="20329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>
                <a:latin typeface="GyeonggiTitle Bold" panose="02020803020101020101" pitchFamily="18" charset="-127"/>
                <a:ea typeface="GyeonggiTitle Bold" panose="02020803020101020101" pitchFamily="18" charset="-127"/>
              </a:rPr>
              <a:t>2. </a:t>
            </a:r>
            <a:r>
              <a:rPr kumimoji="1" lang="ko-KR" altLang="en-US" dirty="0">
                <a:latin typeface="GyeonggiTitle Bold" panose="02020803020101020101" pitchFamily="18" charset="-127"/>
                <a:ea typeface="GyeonggiTitle Bold" panose="02020803020101020101" pitchFamily="18" charset="-127"/>
              </a:rPr>
              <a:t>카일 </a:t>
            </a:r>
            <a:r>
              <a:rPr kumimoji="1" lang="en-US" altLang="ko-KR" dirty="0">
                <a:latin typeface="GyeonggiTitle Bold" panose="02020803020101020101" pitchFamily="18" charset="-127"/>
                <a:ea typeface="GyeonggiTitle Bold" panose="02020803020101020101" pitchFamily="18" charset="-127"/>
              </a:rPr>
              <a:t>12</a:t>
            </a:r>
            <a:r>
              <a:rPr kumimoji="1" lang="ko-KR" altLang="en-US" dirty="0">
                <a:latin typeface="GyeonggiTitle Bold" panose="02020803020101020101" pitchFamily="18" charset="-127"/>
                <a:ea typeface="GyeonggiTitle Bold" panose="02020803020101020101" pitchFamily="18" charset="-127"/>
              </a:rPr>
              <a:t>초월 성공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06A2433-C8E0-3A5D-381D-D6BD3A627E45}"/>
              </a:ext>
            </a:extLst>
          </p:cNvPr>
          <p:cNvSpPr txBox="1"/>
          <p:nvPr/>
        </p:nvSpPr>
        <p:spPr>
          <a:xfrm>
            <a:off x="3279925" y="3713489"/>
            <a:ext cx="27013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>
                <a:latin typeface="GyeonggiTitle Bold" panose="02020803020101020101" pitchFamily="18" charset="-127"/>
                <a:ea typeface="GyeonggiTitle Bold" panose="02020803020101020101" pitchFamily="18" charset="-127"/>
              </a:rPr>
              <a:t>3. </a:t>
            </a:r>
            <a:r>
              <a:rPr kumimoji="1" lang="ko-KR" altLang="en-US" dirty="0">
                <a:latin typeface="GyeonggiTitle Bold" panose="02020803020101020101" pitchFamily="18" charset="-127"/>
                <a:ea typeface="GyeonggiTitle Bold" panose="02020803020101020101" pitchFamily="18" charset="-127"/>
              </a:rPr>
              <a:t>결투장 </a:t>
            </a:r>
            <a:r>
              <a:rPr kumimoji="1" lang="en-US" altLang="ko-KR" dirty="0">
                <a:latin typeface="GyeonggiTitle Bold" panose="02020803020101020101" pitchFamily="18" charset="-127"/>
                <a:ea typeface="GyeonggiTitle Bold" panose="02020803020101020101" pitchFamily="18" charset="-127"/>
              </a:rPr>
              <a:t>600</a:t>
            </a:r>
            <a:r>
              <a:rPr kumimoji="1" lang="ko-KR" altLang="en-US" dirty="0">
                <a:latin typeface="GyeonggiTitle Bold" panose="02020803020101020101" pitchFamily="18" charset="-127"/>
                <a:ea typeface="GyeonggiTitle Bold" panose="02020803020101020101" pitchFamily="18" charset="-127"/>
              </a:rPr>
              <a:t>점 이상 상승 </a:t>
            </a:r>
          </a:p>
        </p:txBody>
      </p: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DACB50F1-0A9A-91B0-60B0-D1E91EBF0C70}"/>
              </a:ext>
            </a:extLst>
          </p:cNvPr>
          <p:cNvGrpSpPr/>
          <p:nvPr/>
        </p:nvGrpSpPr>
        <p:grpSpPr>
          <a:xfrm>
            <a:off x="1447429" y="3540072"/>
            <a:ext cx="1557961" cy="1176970"/>
            <a:chOff x="938107" y="4301823"/>
            <a:chExt cx="1756744" cy="1327142"/>
          </a:xfrm>
        </p:grpSpPr>
        <p:grpSp>
          <p:nvGrpSpPr>
            <p:cNvPr id="23" name="그룹 22">
              <a:extLst>
                <a:ext uri="{FF2B5EF4-FFF2-40B4-BE49-F238E27FC236}">
                  <a16:creationId xmlns:a16="http://schemas.microsoft.com/office/drawing/2014/main" id="{375F6969-6CA1-B5C7-3BD2-C72C8B02D095}"/>
                </a:ext>
              </a:extLst>
            </p:cNvPr>
            <p:cNvGrpSpPr/>
            <p:nvPr/>
          </p:nvGrpSpPr>
          <p:grpSpPr>
            <a:xfrm>
              <a:off x="938107" y="4681152"/>
              <a:ext cx="1756744" cy="947813"/>
              <a:chOff x="938107" y="4681152"/>
              <a:chExt cx="1756744" cy="947813"/>
            </a:xfrm>
          </p:grpSpPr>
          <p:pic>
            <p:nvPicPr>
              <p:cNvPr id="16" name="그림 15" descr="빛, 예술이(가) 표시된 사진&#10;&#10;AI 생성 콘텐츠는 정확하지 않을 수 있습니다.">
                <a:extLst>
                  <a:ext uri="{FF2B5EF4-FFF2-40B4-BE49-F238E27FC236}">
                    <a16:creationId xmlns:a16="http://schemas.microsoft.com/office/drawing/2014/main" id="{B7E41AA4-C1DE-09AA-9787-227D52F138F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47213"/>
              <a:stretch>
                <a:fillRect/>
              </a:stretch>
            </p:blipFill>
            <p:spPr>
              <a:xfrm>
                <a:off x="938107" y="4868886"/>
                <a:ext cx="831884" cy="760079"/>
              </a:xfrm>
              <a:prstGeom prst="rect">
                <a:avLst/>
              </a:prstGeom>
            </p:spPr>
          </p:pic>
          <p:pic>
            <p:nvPicPr>
              <p:cNvPr id="17" name="그림 16" descr="빛, 예술이(가) 표시된 사진&#10;&#10;AI 생성 콘텐츠는 정확하지 않을 수 있습니다.">
                <a:extLst>
                  <a:ext uri="{FF2B5EF4-FFF2-40B4-BE49-F238E27FC236}">
                    <a16:creationId xmlns:a16="http://schemas.microsoft.com/office/drawing/2014/main" id="{BFF018DB-75E1-6B57-B3CF-64BB875D162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51989"/>
              <a:stretch>
                <a:fillRect/>
              </a:stretch>
            </p:blipFill>
            <p:spPr>
              <a:xfrm>
                <a:off x="1581620" y="4681152"/>
                <a:ext cx="1113231" cy="913787"/>
              </a:xfrm>
              <a:prstGeom prst="rect">
                <a:avLst/>
              </a:prstGeom>
            </p:spPr>
          </p:pic>
        </p:grpSp>
        <p:pic>
          <p:nvPicPr>
            <p:cNvPr id="22" name="그림 21" descr="스크린샷, 블랙, 그래픽, 디자인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A2023CCD-D477-9C4E-3243-A76EB62496E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47215" y="4301823"/>
              <a:ext cx="1747636" cy="787667"/>
            </a:xfrm>
            <a:prstGeom prst="rect">
              <a:avLst/>
            </a:prstGeom>
          </p:spPr>
        </p:pic>
      </p:grpSp>
      <p:pic>
        <p:nvPicPr>
          <p:cNvPr id="30" name="그림 29" descr="블랙, 어둠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7BDD923-AA0C-38FA-3039-20E07D45948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5290" b="34518"/>
          <a:stretch>
            <a:fillRect/>
          </a:stretch>
        </p:blipFill>
        <p:spPr>
          <a:xfrm>
            <a:off x="1994583" y="4872769"/>
            <a:ext cx="8202833" cy="325924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A4122BDD-37A5-D324-4087-D32CDFB46DF6}"/>
              </a:ext>
            </a:extLst>
          </p:cNvPr>
          <p:cNvSpPr txBox="1"/>
          <p:nvPr/>
        </p:nvSpPr>
        <p:spPr>
          <a:xfrm>
            <a:off x="2398850" y="5387070"/>
            <a:ext cx="73388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>
                <a:latin typeface="GyeonggiTitleOTF Light" panose="02020403020101020101" pitchFamily="18" charset="-127"/>
                <a:ea typeface="GyeonggiTitleOTF Light" panose="02020403020101020101" pitchFamily="18" charset="-127"/>
              </a:rPr>
              <a:t>이러한 개인적인 경험을 통해</a:t>
            </a:r>
            <a:r>
              <a:rPr lang="en-US" altLang="ko-KR" dirty="0">
                <a:latin typeface="GyeonggiTitleOTF Light" panose="02020403020101020101" pitchFamily="18" charset="-127"/>
                <a:ea typeface="GyeonggiTitleOTF Light" panose="02020403020101020101" pitchFamily="18" charset="-127"/>
              </a:rPr>
              <a:t>, </a:t>
            </a:r>
            <a:r>
              <a:rPr lang="ko-KR" altLang="en-US" dirty="0">
                <a:latin typeface="GyeonggiTitleOTF Light" panose="02020403020101020101" pitchFamily="18" charset="-127"/>
                <a:ea typeface="GyeonggiTitleOTF Light" panose="02020403020101020101" pitchFamily="18" charset="-127"/>
              </a:rPr>
              <a:t>현재 결투장 메타가</a:t>
            </a:r>
            <a:r>
              <a:rPr lang="en-US" altLang="ko-KR" dirty="0">
                <a:latin typeface="GyeonggiTitleOTF Light" panose="02020403020101020101" pitchFamily="18" charset="-127"/>
                <a:ea typeface="GyeonggiTitleOTF Light" panose="02020403020101020101" pitchFamily="18" charset="-127"/>
              </a:rPr>
              <a:t> </a:t>
            </a:r>
            <a:r>
              <a:rPr lang="ko-KR" altLang="en-US" dirty="0">
                <a:latin typeface="GyeonggiTitleOTF Light" panose="02020403020101020101" pitchFamily="18" charset="-127"/>
                <a:ea typeface="GyeonggiTitleOTF Light" panose="02020403020101020101" pitchFamily="18" charset="-127"/>
              </a:rPr>
              <a:t>특정 영웅의 보유 여부에 따라 </a:t>
            </a:r>
            <a:endParaRPr lang="en-US" altLang="ko-KR" dirty="0">
              <a:latin typeface="GyeonggiTitleOTF Light" panose="02020403020101020101" pitchFamily="18" charset="-127"/>
              <a:ea typeface="GyeonggiTitleOTF Light" panose="02020403020101020101" pitchFamily="18" charset="-127"/>
            </a:endParaRPr>
          </a:p>
          <a:p>
            <a:pPr algn="ctr"/>
            <a:r>
              <a:rPr lang="ko-KR" altLang="en-US" dirty="0">
                <a:latin typeface="GyeonggiTitleOTF Light" panose="02020403020101020101" pitchFamily="18" charset="-127"/>
                <a:ea typeface="GyeonggiTitleOTF Light" panose="02020403020101020101" pitchFamily="18" charset="-127"/>
              </a:rPr>
              <a:t>어떤 영향력을 가지고 있는지에 대한 의문을 가지게 되었습니다</a:t>
            </a:r>
            <a:r>
              <a:rPr lang="en-US" altLang="ko-KR" dirty="0">
                <a:latin typeface="GyeonggiTitleOTF Light" panose="02020403020101020101" pitchFamily="18" charset="-127"/>
                <a:ea typeface="GyeonggiTitleOTF Light" panose="02020403020101020101" pitchFamily="18" charset="-127"/>
              </a:rPr>
              <a:t>.</a:t>
            </a:r>
            <a:endParaRPr kumimoji="1" lang="ko-KR" altLang="en-US" dirty="0">
              <a:latin typeface="GyeonggiTitleOTF Light" panose="02020403020101020101" pitchFamily="18" charset="-127"/>
              <a:ea typeface="GyeonggiTitleOTF Light" panose="02020403020101020101" pitchFamily="18" charset="-127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DAEB335-24A1-240D-CA74-EC240B0FDD0C}"/>
              </a:ext>
            </a:extLst>
          </p:cNvPr>
          <p:cNvSpPr txBox="1"/>
          <p:nvPr/>
        </p:nvSpPr>
        <p:spPr>
          <a:xfrm rot="19821735">
            <a:off x="1995907" y="3728556"/>
            <a:ext cx="57579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300" dirty="0">
                <a:latin typeface="GyeonggiTitleOTF Light" panose="02020403020101020101" pitchFamily="18" charset="-127"/>
                <a:ea typeface="GyeonggiTitleOTF Light" panose="02020403020101020101" pitchFamily="18" charset="-127"/>
              </a:rPr>
              <a:t>+</a:t>
            </a:r>
            <a:r>
              <a:rPr kumimoji="1" lang="en-US" altLang="ko-KR" sz="1400" dirty="0">
                <a:latin typeface="GyeonggiTitleOTF Light" panose="02020403020101020101" pitchFamily="18" charset="-127"/>
                <a:ea typeface="GyeonggiTitleOTF Light" panose="02020403020101020101" pitchFamily="18" charset="-127"/>
              </a:rPr>
              <a:t>600</a:t>
            </a:r>
            <a:endParaRPr kumimoji="1" lang="ko-KR" altLang="en-US" sz="1400" dirty="0">
              <a:latin typeface="GyeonggiTitleOTF Light" panose="02020403020101020101" pitchFamily="18" charset="-127"/>
              <a:ea typeface="GyeonggiTitleOTF Light" panose="02020403020101020101" pitchFamily="18" charset="-127"/>
            </a:endParaRP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3012DA3C-98F1-6732-D091-04C6AD69DF03}"/>
              </a:ext>
            </a:extLst>
          </p:cNvPr>
          <p:cNvGrpSpPr/>
          <p:nvPr/>
        </p:nvGrpSpPr>
        <p:grpSpPr>
          <a:xfrm rot="20825216">
            <a:off x="2435764" y="2569571"/>
            <a:ext cx="408445" cy="255173"/>
            <a:chOff x="8793684" y="2203410"/>
            <a:chExt cx="387467" cy="358234"/>
          </a:xfrm>
        </p:grpSpPr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F28A6B86-4DCB-B399-D693-75EA24B54ACE}"/>
                </a:ext>
              </a:extLst>
            </p:cNvPr>
            <p:cNvSpPr txBox="1"/>
            <p:nvPr/>
          </p:nvSpPr>
          <p:spPr>
            <a:xfrm>
              <a:off x="8872151" y="2215978"/>
              <a:ext cx="309000" cy="3456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ko-KR" sz="1000" dirty="0">
                  <a:latin typeface="GyeonggiTitleOTF Light" panose="02020403020101020101" pitchFamily="18" charset="-127"/>
                  <a:ea typeface="GyeonggiTitleOTF Light" panose="02020403020101020101" pitchFamily="18" charset="-127"/>
                </a:rPr>
                <a:t>12</a:t>
              </a:r>
              <a:endParaRPr kumimoji="1" lang="ko-KR" altLang="en-US" sz="1000" dirty="0">
                <a:latin typeface="GyeonggiTitleOTF Light" panose="02020403020101020101" pitchFamily="18" charset="-127"/>
                <a:ea typeface="GyeonggiTitleOTF Light" panose="02020403020101020101" pitchFamily="18" charset="-127"/>
              </a:endParaRP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1F665422-7423-3ACF-4921-7F83BBDD2890}"/>
                </a:ext>
              </a:extLst>
            </p:cNvPr>
            <p:cNvSpPr txBox="1"/>
            <p:nvPr/>
          </p:nvSpPr>
          <p:spPr>
            <a:xfrm>
              <a:off x="8793684" y="2203410"/>
              <a:ext cx="232967" cy="34566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ko-KR" sz="1000" dirty="0">
                  <a:latin typeface="GyeonggiTitleOTF Light" panose="02020403020101020101" pitchFamily="18" charset="-127"/>
                  <a:ea typeface="GyeonggiTitleOTF Light" panose="02020403020101020101" pitchFamily="18" charset="-127"/>
                </a:rPr>
                <a:t>x</a:t>
              </a:r>
              <a:endParaRPr kumimoji="1" lang="ko-KR" altLang="en-US" sz="1000" dirty="0">
                <a:latin typeface="GyeonggiTitleOTF Light" panose="02020403020101020101" pitchFamily="18" charset="-127"/>
                <a:ea typeface="GyeonggiTitleOTF Light" panose="02020403020101020101" pitchFamily="18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753309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B8C6CF6-D20F-39E0-6DFD-95200A6373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EDEA2499-8AE2-D075-5ACE-B672B236B86A}"/>
              </a:ext>
            </a:extLst>
          </p:cNvPr>
          <p:cNvSpPr txBox="1"/>
          <p:nvPr/>
        </p:nvSpPr>
        <p:spPr>
          <a:xfrm>
            <a:off x="1072526" y="586716"/>
            <a:ext cx="7962832" cy="9079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500" dirty="0">
                <a:latin typeface="경기천년제목VOTF Bold" panose="02020803020101020101" pitchFamily="18" charset="-127"/>
                <a:ea typeface="경기천년제목VOTF Bold" panose="02020803020101020101" pitchFamily="18" charset="-127"/>
              </a:rPr>
              <a:t>현재 전투 메타가 가지고 있는 문제점</a:t>
            </a:r>
            <a:endParaRPr lang="en-US" altLang="ko-KR" sz="3500" dirty="0">
              <a:latin typeface="경기천년제목VOTF Bold" panose="02020803020101020101" pitchFamily="18" charset="-127"/>
              <a:ea typeface="경기천년제목VOTF Bold" panose="02020803020101020101" pitchFamily="18" charset="-127"/>
            </a:endParaRPr>
          </a:p>
          <a:p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76110A9-8639-5EBE-8458-B506233E2596}"/>
              </a:ext>
            </a:extLst>
          </p:cNvPr>
          <p:cNvSpPr txBox="1"/>
          <p:nvPr/>
        </p:nvSpPr>
        <p:spPr>
          <a:xfrm>
            <a:off x="5848109" y="6412606"/>
            <a:ext cx="49578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ko-KR" sz="1000" dirty="0">
                <a:latin typeface="GyeonggiTitle Bold" panose="02020803020101020101" pitchFamily="18" charset="-127"/>
                <a:ea typeface="GyeonggiTitle Bold" panose="02020803020101020101" pitchFamily="18" charset="-127"/>
              </a:rPr>
              <a:t>- 5 - </a:t>
            </a:r>
            <a:endParaRPr kumimoji="1" lang="ko-KR" altLang="en-US" sz="1000" dirty="0">
              <a:latin typeface="GyeonggiTitle Bold" panose="02020803020101020101" pitchFamily="18" charset="-127"/>
              <a:ea typeface="GyeonggiTitle Bold" panose="02020803020101020101" pitchFamily="18" charset="-127"/>
            </a:endParaRP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99DA2785-40B3-8082-E6F5-BA85DAFE3601}"/>
              </a:ext>
            </a:extLst>
          </p:cNvPr>
          <p:cNvGrpSpPr/>
          <p:nvPr/>
        </p:nvGrpSpPr>
        <p:grpSpPr>
          <a:xfrm>
            <a:off x="864000" y="1728000"/>
            <a:ext cx="10634996" cy="4123303"/>
            <a:chOff x="864000" y="1958400"/>
            <a:chExt cx="10634996" cy="4123303"/>
          </a:xfrm>
        </p:grpSpPr>
        <p:sp>
          <p:nvSpPr>
            <p:cNvPr id="64" name="대각선 방향의 모서리가 둥근 사각형 63">
              <a:extLst>
                <a:ext uri="{FF2B5EF4-FFF2-40B4-BE49-F238E27FC236}">
                  <a16:creationId xmlns:a16="http://schemas.microsoft.com/office/drawing/2014/main" id="{90E635EF-FCA3-70B4-99AF-FC87EEAE6A13}"/>
                </a:ext>
              </a:extLst>
            </p:cNvPr>
            <p:cNvSpPr/>
            <p:nvPr/>
          </p:nvSpPr>
          <p:spPr>
            <a:xfrm>
              <a:off x="864000" y="1958400"/>
              <a:ext cx="10634996" cy="4123303"/>
            </a:xfrm>
            <a:prstGeom prst="round2DiagRect">
              <a:avLst>
                <a:gd name="adj1" fmla="val 5253"/>
                <a:gd name="adj2" fmla="val 0"/>
              </a:avLst>
            </a:prstGeom>
            <a:solidFill>
              <a:srgbClr val="B4B4B3">
                <a:alpha val="36515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eaLnBrk="0" fontAlgn="base" latinLnBrk="0" hangingPunct="0">
                <a:spcBef>
                  <a:spcPct val="0"/>
                </a:spcBef>
                <a:spcAft>
                  <a:spcPct val="0"/>
                </a:spcAft>
              </a:pPr>
              <a:endParaRPr lang="en-US" altLang="ko-KR" sz="1600" dirty="0">
                <a:solidFill>
                  <a:schemeClr val="tx1"/>
                </a:solidFill>
                <a:latin typeface="GyeonggiTitleOTF Light" panose="02020403020101020101" pitchFamily="18" charset="-127"/>
                <a:ea typeface="GyeonggiTitleOTF Light" panose="02020403020101020101" pitchFamily="18" charset="-127"/>
              </a:endParaRPr>
            </a:p>
          </p:txBody>
        </p:sp>
        <p:grpSp>
          <p:nvGrpSpPr>
            <p:cNvPr id="18" name="그룹 17">
              <a:extLst>
                <a:ext uri="{FF2B5EF4-FFF2-40B4-BE49-F238E27FC236}">
                  <a16:creationId xmlns:a16="http://schemas.microsoft.com/office/drawing/2014/main" id="{78B963B8-D21E-145F-9473-098676DF93A5}"/>
                </a:ext>
              </a:extLst>
            </p:cNvPr>
            <p:cNvGrpSpPr/>
            <p:nvPr/>
          </p:nvGrpSpPr>
          <p:grpSpPr>
            <a:xfrm>
              <a:off x="1034021" y="2119498"/>
              <a:ext cx="3191774" cy="3714058"/>
              <a:chOff x="3930766" y="905654"/>
              <a:chExt cx="3191774" cy="4994694"/>
            </a:xfrm>
            <a:effectLst>
              <a:outerShdw blurRad="50800" dist="131726" dir="2700000" algn="ctr" rotWithShape="0">
                <a:srgbClr val="000000">
                  <a:alpha val="50000"/>
                </a:srgbClr>
              </a:outerShdw>
            </a:effectLst>
          </p:grpSpPr>
          <p:grpSp>
            <p:nvGrpSpPr>
              <p:cNvPr id="19" name="그룹 18">
                <a:extLst>
                  <a:ext uri="{FF2B5EF4-FFF2-40B4-BE49-F238E27FC236}">
                    <a16:creationId xmlns:a16="http://schemas.microsoft.com/office/drawing/2014/main" id="{6597673F-B31F-DB20-21D6-75629C67A368}"/>
                  </a:ext>
                </a:extLst>
              </p:cNvPr>
              <p:cNvGrpSpPr/>
              <p:nvPr/>
            </p:nvGrpSpPr>
            <p:grpSpPr>
              <a:xfrm>
                <a:off x="3930766" y="905654"/>
                <a:ext cx="3191774" cy="4994694"/>
                <a:chOff x="3930766" y="905654"/>
                <a:chExt cx="3191774" cy="4994694"/>
              </a:xfrm>
            </p:grpSpPr>
            <p:grpSp>
              <p:nvGrpSpPr>
                <p:cNvPr id="21" name="그룹 20">
                  <a:extLst>
                    <a:ext uri="{FF2B5EF4-FFF2-40B4-BE49-F238E27FC236}">
                      <a16:creationId xmlns:a16="http://schemas.microsoft.com/office/drawing/2014/main" id="{CA2DED94-4D63-E1A9-16CA-453BB17D260A}"/>
                    </a:ext>
                  </a:extLst>
                </p:cNvPr>
                <p:cNvGrpSpPr/>
                <p:nvPr/>
              </p:nvGrpSpPr>
              <p:grpSpPr>
                <a:xfrm>
                  <a:off x="3930766" y="905654"/>
                  <a:ext cx="3191774" cy="4994694"/>
                  <a:chOff x="3907766" y="931653"/>
                  <a:chExt cx="3191774" cy="4994694"/>
                </a:xfrm>
              </p:grpSpPr>
              <p:sp>
                <p:nvSpPr>
                  <p:cNvPr id="23" name="대각선 방향의 모서리가 둥근 사각형 22">
                    <a:extLst>
                      <a:ext uri="{FF2B5EF4-FFF2-40B4-BE49-F238E27FC236}">
                        <a16:creationId xmlns:a16="http://schemas.microsoft.com/office/drawing/2014/main" id="{016656E5-E11B-1761-051E-3F8E7D7F8F18}"/>
                      </a:ext>
                    </a:extLst>
                  </p:cNvPr>
                  <p:cNvSpPr/>
                  <p:nvPr/>
                </p:nvSpPr>
                <p:spPr>
                  <a:xfrm>
                    <a:off x="3907766" y="931653"/>
                    <a:ext cx="3191774" cy="4994694"/>
                  </a:xfrm>
                  <a:prstGeom prst="round2DiagRect">
                    <a:avLst>
                      <a:gd name="adj1" fmla="val 10451"/>
                      <a:gd name="adj2" fmla="val 0"/>
                    </a:avLst>
                  </a:prstGeom>
                  <a:solidFill>
                    <a:srgbClr val="DEDCDA"/>
                  </a:solidFill>
                  <a:ln>
                    <a:solidFill>
                      <a:srgbClr val="DEDCDA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ko-KR" altLang="en-US">
                      <a:latin typeface="GyeonggiTitleOTF Light" panose="02020403020101020101" pitchFamily="18" charset="-127"/>
                      <a:ea typeface="GyeonggiTitleOTF Light" panose="02020403020101020101" pitchFamily="18" charset="-127"/>
                    </a:endParaRPr>
                  </a:p>
                </p:txBody>
              </p:sp>
              <p:sp>
                <p:nvSpPr>
                  <p:cNvPr id="25" name="대각선 방향의 모서리가 둥근 사각형 24">
                    <a:extLst>
                      <a:ext uri="{FF2B5EF4-FFF2-40B4-BE49-F238E27FC236}">
                        <a16:creationId xmlns:a16="http://schemas.microsoft.com/office/drawing/2014/main" id="{B24C1D04-7109-C744-1D65-5894E4788C6B}"/>
                      </a:ext>
                    </a:extLst>
                  </p:cNvPr>
                  <p:cNvSpPr/>
                  <p:nvPr/>
                </p:nvSpPr>
                <p:spPr>
                  <a:xfrm>
                    <a:off x="3907766" y="931653"/>
                    <a:ext cx="3191774" cy="589003"/>
                  </a:xfrm>
                  <a:prstGeom prst="round2DiagRect">
                    <a:avLst>
                      <a:gd name="adj1" fmla="val 48374"/>
                      <a:gd name="adj2" fmla="val 0"/>
                    </a:avLst>
                  </a:prstGeom>
                  <a:solidFill>
                    <a:srgbClr val="393833"/>
                  </a:solidFill>
                  <a:ln>
                    <a:solidFill>
                      <a:srgbClr val="DFDCDA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ko-KR" altLang="en-US" b="1" dirty="0">
                      <a:latin typeface="GYEONGGITITLEOTF LIGHT" panose="02020403020101020101" pitchFamily="18" charset="-127"/>
                      <a:ea typeface="GYEONGGITITLEOTF LIGHT" panose="02020403020101020101" pitchFamily="18" charset="-127"/>
                    </a:endParaRPr>
                  </a:p>
                </p:txBody>
              </p:sp>
            </p:grpSp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305FD84E-3BF2-2D73-DA6B-36CB3B5CAB1C}"/>
                    </a:ext>
                  </a:extLst>
                </p:cNvPr>
                <p:cNvSpPr txBox="1"/>
                <p:nvPr/>
              </p:nvSpPr>
              <p:spPr>
                <a:xfrm>
                  <a:off x="3969271" y="960390"/>
                  <a:ext cx="2458529" cy="49668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kumimoji="1" lang="ko-KR" altLang="en-US" b="1" dirty="0">
                      <a:solidFill>
                        <a:schemeClr val="bg1"/>
                      </a:solidFill>
                      <a:latin typeface="GYEONGGITITLEOTF LIGHT" panose="02020403020101020101" pitchFamily="18" charset="-127"/>
                      <a:ea typeface="GYEONGGITITLEOTF LIGHT" panose="02020403020101020101" pitchFamily="18" charset="-127"/>
                    </a:rPr>
                    <a:t>특정 영웅 </a:t>
                  </a:r>
                  <a:r>
                    <a:rPr kumimoji="1" lang="ko-KR" altLang="en-US" b="1" dirty="0" err="1">
                      <a:solidFill>
                        <a:schemeClr val="bg1"/>
                      </a:solidFill>
                      <a:latin typeface="GYEONGGITITLEOTF LIGHT" panose="02020403020101020101" pitchFamily="18" charset="-127"/>
                      <a:ea typeface="GYEONGGITITLEOTF LIGHT" panose="02020403020101020101" pitchFamily="18" charset="-127"/>
                    </a:rPr>
                    <a:t>중심메타</a:t>
                  </a:r>
                  <a:endParaRPr kumimoji="1" lang="ko-KR" altLang="en-US" b="1" dirty="0">
                    <a:solidFill>
                      <a:schemeClr val="bg1"/>
                    </a:solidFill>
                    <a:latin typeface="GYEONGGITITLEOTF LIGHT" panose="02020403020101020101" pitchFamily="18" charset="-127"/>
                    <a:ea typeface="GYEONGGITITLEOTF LIGHT" panose="02020403020101020101" pitchFamily="18" charset="-127"/>
                  </a:endParaRPr>
                </a:p>
              </p:txBody>
            </p:sp>
          </p:grp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403273E0-04EC-4E94-CE06-EFFAAAAF8AAF}"/>
                  </a:ext>
                </a:extLst>
              </p:cNvPr>
              <p:cNvSpPr txBox="1"/>
              <p:nvPr/>
            </p:nvSpPr>
            <p:spPr>
              <a:xfrm>
                <a:off x="3930766" y="1791128"/>
                <a:ext cx="3191771" cy="244201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1600" dirty="0">
                    <a:latin typeface="GyeonggiTitleOTF Light" panose="02020403020101020101" pitchFamily="18" charset="-127"/>
                    <a:ea typeface="GyeonggiTitleOTF Light" panose="02020403020101020101" pitchFamily="18" charset="-127"/>
                  </a:rPr>
                  <a:t>일부 신규 캐릭터가 출시 후 압도적인 성능으로 선택지 감소</a:t>
                </a:r>
                <a:r>
                  <a:rPr lang="en-US" altLang="ko-KR" sz="1600" dirty="0">
                    <a:latin typeface="GyeonggiTitleOTF Light" panose="02020403020101020101" pitchFamily="18" charset="-127"/>
                    <a:ea typeface="GyeonggiTitleOTF Light" panose="02020403020101020101" pitchFamily="18" charset="-127"/>
                  </a:rPr>
                  <a:t>, </a:t>
                </a:r>
                <a:r>
                  <a:rPr lang="ko-KR" altLang="en-US" sz="1600" dirty="0">
                    <a:latin typeface="GyeonggiTitleOTF Light" panose="02020403020101020101" pitchFamily="18" charset="-127"/>
                    <a:ea typeface="GyeonggiTitleOTF Light" panose="02020403020101020101" pitchFamily="18" charset="-127"/>
                  </a:rPr>
                  <a:t>메타 고착화 발생</a:t>
                </a:r>
                <a:endParaRPr lang="en-US" altLang="ko-KR" sz="1600" dirty="0">
                  <a:latin typeface="GyeonggiTitleOTF Light" panose="02020403020101020101" pitchFamily="18" charset="-127"/>
                  <a:ea typeface="GyeonggiTitleOTF Light" panose="02020403020101020101" pitchFamily="18" charset="-127"/>
                </a:endParaRPr>
              </a:p>
              <a:p>
                <a:endParaRPr kumimoji="1" lang="en-US" altLang="ko-KR" sz="1600" dirty="0">
                  <a:solidFill>
                    <a:srgbClr val="302F2C"/>
                  </a:solidFill>
                  <a:latin typeface="GyeonggiTitleOTF Light" panose="02020403020101020101" pitchFamily="18" charset="-127"/>
                  <a:ea typeface="GyeonggiTitleOTF Light" panose="02020403020101020101" pitchFamily="18" charset="-127"/>
                </a:endParaRPr>
              </a:p>
              <a:p>
                <a:endParaRPr kumimoji="1" lang="en-US" altLang="ko-KR" sz="1600" dirty="0">
                  <a:solidFill>
                    <a:srgbClr val="302F2C"/>
                  </a:solidFill>
                  <a:latin typeface="GyeonggiTitleOTF Light" panose="02020403020101020101" pitchFamily="18" charset="-127"/>
                  <a:ea typeface="GyeonggiTitleOTF Light" panose="02020403020101020101" pitchFamily="18" charset="-127"/>
                </a:endParaRPr>
              </a:p>
              <a:p>
                <a:r>
                  <a:rPr kumimoji="1" lang="en-US" altLang="ko-KR" sz="1600" dirty="0">
                    <a:solidFill>
                      <a:srgbClr val="302F2C"/>
                    </a:solidFill>
                    <a:latin typeface="GyeonggiTitleOTF Light" panose="02020403020101020101" pitchFamily="18" charset="-127"/>
                    <a:ea typeface="GyeonggiTitleOTF Light" panose="02020403020101020101" pitchFamily="18" charset="-127"/>
                  </a:rPr>
                  <a:t>=&gt; </a:t>
                </a:r>
                <a:r>
                  <a:rPr kumimoji="1" lang="ko-KR" altLang="en-US" sz="1600" dirty="0" err="1">
                    <a:solidFill>
                      <a:srgbClr val="302F2C"/>
                    </a:solidFill>
                    <a:latin typeface="GyeonggiTitleOTF Light" panose="02020403020101020101" pitchFamily="18" charset="-127"/>
                    <a:ea typeface="GyeonggiTitleOTF Light" panose="02020403020101020101" pitchFamily="18" charset="-127"/>
                  </a:rPr>
                  <a:t>신캐를</a:t>
                </a:r>
                <a:r>
                  <a:rPr kumimoji="1" lang="ko-KR" altLang="en-US" sz="1600" dirty="0">
                    <a:solidFill>
                      <a:srgbClr val="302F2C"/>
                    </a:solidFill>
                    <a:latin typeface="GyeonggiTitleOTF Light" panose="02020403020101020101" pitchFamily="18" charset="-127"/>
                    <a:ea typeface="GyeonggiTitleOTF Light" panose="02020403020101020101" pitchFamily="18" charset="-127"/>
                  </a:rPr>
                  <a:t> 계속 뽑아야 하는 피로도 발생 및 파워 인플레이션 현상 발생 가능</a:t>
                </a:r>
                <a:endParaRPr kumimoji="1" lang="en-US" altLang="ko-KR" sz="1600" dirty="0">
                  <a:solidFill>
                    <a:srgbClr val="302F2C"/>
                  </a:solidFill>
                  <a:latin typeface="GyeonggiTitleOTF Light" panose="02020403020101020101" pitchFamily="18" charset="-127"/>
                  <a:ea typeface="GyeonggiTitleOTF Light" panose="02020403020101020101" pitchFamily="18" charset="-127"/>
                </a:endParaRPr>
              </a:p>
            </p:txBody>
          </p:sp>
        </p:grpSp>
        <p:grpSp>
          <p:nvGrpSpPr>
            <p:cNvPr id="52" name="그룹 51">
              <a:extLst>
                <a:ext uri="{FF2B5EF4-FFF2-40B4-BE49-F238E27FC236}">
                  <a16:creationId xmlns:a16="http://schemas.microsoft.com/office/drawing/2014/main" id="{995E8422-2FA5-D096-512E-D5EDB5917299}"/>
                </a:ext>
              </a:extLst>
            </p:cNvPr>
            <p:cNvGrpSpPr/>
            <p:nvPr/>
          </p:nvGrpSpPr>
          <p:grpSpPr>
            <a:xfrm>
              <a:off x="4552514" y="2119498"/>
              <a:ext cx="3271596" cy="3714058"/>
              <a:chOff x="2904209" y="1707509"/>
              <a:chExt cx="3271596" cy="4430274"/>
            </a:xfrm>
            <a:effectLst>
              <a:outerShdw blurRad="50800" dist="127000" dir="2700000" algn="ctr" rotWithShape="0">
                <a:srgbClr val="000000">
                  <a:alpha val="50000"/>
                </a:srgbClr>
              </a:outerShdw>
            </a:effectLst>
          </p:grpSpPr>
          <p:grpSp>
            <p:nvGrpSpPr>
              <p:cNvPr id="46" name="그룹 45">
                <a:extLst>
                  <a:ext uri="{FF2B5EF4-FFF2-40B4-BE49-F238E27FC236}">
                    <a16:creationId xmlns:a16="http://schemas.microsoft.com/office/drawing/2014/main" id="{21B9B24E-CFD6-C5C2-076F-4930AC8A7194}"/>
                  </a:ext>
                </a:extLst>
              </p:cNvPr>
              <p:cNvGrpSpPr/>
              <p:nvPr/>
            </p:nvGrpSpPr>
            <p:grpSpPr>
              <a:xfrm>
                <a:off x="2904209" y="1707509"/>
                <a:ext cx="3191774" cy="4430274"/>
                <a:chOff x="3907766" y="931653"/>
                <a:chExt cx="3191774" cy="4994694"/>
              </a:xfrm>
            </p:grpSpPr>
            <p:sp>
              <p:nvSpPr>
                <p:cNvPr id="48" name="대각선 방향의 모서리가 둥근 사각형 47">
                  <a:extLst>
                    <a:ext uri="{FF2B5EF4-FFF2-40B4-BE49-F238E27FC236}">
                      <a16:creationId xmlns:a16="http://schemas.microsoft.com/office/drawing/2014/main" id="{0AFE7BDB-5ABF-FE43-E11D-B5F08E408553}"/>
                    </a:ext>
                  </a:extLst>
                </p:cNvPr>
                <p:cNvSpPr/>
                <p:nvPr/>
              </p:nvSpPr>
              <p:spPr>
                <a:xfrm>
                  <a:off x="3907766" y="931653"/>
                  <a:ext cx="3191774" cy="4994694"/>
                </a:xfrm>
                <a:prstGeom prst="round2DiagRect">
                  <a:avLst>
                    <a:gd name="adj1" fmla="val 10451"/>
                    <a:gd name="adj2" fmla="val 0"/>
                  </a:avLst>
                </a:prstGeom>
                <a:solidFill>
                  <a:srgbClr val="DEDCDA"/>
                </a:solidFill>
                <a:ln>
                  <a:solidFill>
                    <a:srgbClr val="DEDCDA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ko-KR" altLang="en-US" dirty="0">
                    <a:latin typeface="GyeonggiTitleOTF Light" panose="02020403020101020101" pitchFamily="18" charset="-127"/>
                    <a:ea typeface="GyeonggiTitleOTF Light" panose="02020403020101020101" pitchFamily="18" charset="-127"/>
                  </a:endParaRPr>
                </a:p>
              </p:txBody>
            </p:sp>
            <p:sp>
              <p:nvSpPr>
                <p:cNvPr id="50" name="대각선 방향의 모서리가 둥근 사각형 49">
                  <a:extLst>
                    <a:ext uri="{FF2B5EF4-FFF2-40B4-BE49-F238E27FC236}">
                      <a16:creationId xmlns:a16="http://schemas.microsoft.com/office/drawing/2014/main" id="{F01FD170-32F9-2FDA-2F9F-F5BDD4F8F188}"/>
                    </a:ext>
                  </a:extLst>
                </p:cNvPr>
                <p:cNvSpPr/>
                <p:nvPr/>
              </p:nvSpPr>
              <p:spPr>
                <a:xfrm>
                  <a:off x="3907766" y="931653"/>
                  <a:ext cx="3191774" cy="589003"/>
                </a:xfrm>
                <a:prstGeom prst="round2DiagRect">
                  <a:avLst>
                    <a:gd name="adj1" fmla="val 48374"/>
                    <a:gd name="adj2" fmla="val 0"/>
                  </a:avLst>
                </a:prstGeom>
                <a:solidFill>
                  <a:srgbClr val="393833"/>
                </a:solidFill>
                <a:ln>
                  <a:solidFill>
                    <a:srgbClr val="DFDCDA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ko-KR" altLang="en-US" b="1" dirty="0">
                    <a:latin typeface="GYEONGGITITLEOTF LIGHT" panose="02020403020101020101" pitchFamily="18" charset="-127"/>
                    <a:ea typeface="GYEONGGITITLEOTF LIGHT" panose="02020403020101020101" pitchFamily="18" charset="-127"/>
                  </a:endParaRPr>
                </a:p>
              </p:txBody>
            </p:sp>
          </p:grpSp>
          <p:grpSp>
            <p:nvGrpSpPr>
              <p:cNvPr id="51" name="그룹 50">
                <a:extLst>
                  <a:ext uri="{FF2B5EF4-FFF2-40B4-BE49-F238E27FC236}">
                    <a16:creationId xmlns:a16="http://schemas.microsoft.com/office/drawing/2014/main" id="{04089F4B-F9D5-176E-3F63-126A145DC2F7}"/>
                  </a:ext>
                </a:extLst>
              </p:cNvPr>
              <p:cNvGrpSpPr/>
              <p:nvPr/>
            </p:nvGrpSpPr>
            <p:grpSpPr>
              <a:xfrm>
                <a:off x="2944110" y="1756060"/>
                <a:ext cx="3231695" cy="999563"/>
                <a:chOff x="3047627" y="1727401"/>
                <a:chExt cx="3231695" cy="999563"/>
              </a:xfrm>
            </p:grpSpPr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A7CD4EF0-8BCC-A170-ED17-76594F47EFB5}"/>
                    </a:ext>
                  </a:extLst>
                </p:cNvPr>
                <p:cNvSpPr txBox="1"/>
                <p:nvPr/>
              </p:nvSpPr>
              <p:spPr>
                <a:xfrm>
                  <a:off x="3047627" y="1727401"/>
                  <a:ext cx="3204423" cy="440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ko-KR" altLang="en-US" b="1" dirty="0">
                      <a:solidFill>
                        <a:schemeClr val="bg1"/>
                      </a:solidFill>
                      <a:latin typeface="GYEONGGITITLEOTF LIGHT" panose="02020403020101020101" pitchFamily="18" charset="-127"/>
                      <a:ea typeface="GYEONGGITITLEOTF LIGHT" panose="02020403020101020101" pitchFamily="18" charset="-127"/>
                    </a:rPr>
                    <a:t>장신구</a:t>
                  </a:r>
                  <a:r>
                    <a:rPr lang="en-US" altLang="ko-KR" b="1" dirty="0">
                      <a:solidFill>
                        <a:schemeClr val="bg1"/>
                      </a:solidFill>
                      <a:latin typeface="GYEONGGITITLEOTF LIGHT" panose="02020403020101020101" pitchFamily="18" charset="-127"/>
                      <a:ea typeface="GYEONGGITITLEOTF LIGHT" panose="02020403020101020101" pitchFamily="18" charset="-127"/>
                    </a:rPr>
                    <a:t>/</a:t>
                  </a:r>
                  <a:r>
                    <a:rPr lang="ko-KR" altLang="en-US" b="1" dirty="0">
                      <a:solidFill>
                        <a:schemeClr val="bg1"/>
                      </a:solidFill>
                      <a:latin typeface="GYEONGGITITLEOTF LIGHT" panose="02020403020101020101" pitchFamily="18" charset="-127"/>
                      <a:ea typeface="GYEONGGITITLEOTF LIGHT" panose="02020403020101020101" pitchFamily="18" charset="-127"/>
                    </a:rPr>
                    <a:t>장비 밸런스 문제</a:t>
                  </a:r>
                  <a:endParaRPr kumimoji="1" lang="ko-KR" altLang="en-US" b="1" dirty="0">
                    <a:solidFill>
                      <a:schemeClr val="bg1"/>
                    </a:solidFill>
                    <a:latin typeface="GYEONGGITITLEOTF LIGHT" panose="02020403020101020101" pitchFamily="18" charset="-127"/>
                    <a:ea typeface="GYEONGGITITLEOTF LIGHT" panose="02020403020101020101" pitchFamily="18" charset="-127"/>
                  </a:endParaRPr>
                </a:p>
              </p:txBody>
            </p:sp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F25BD387-332C-CF50-7218-24B2EC3E2FE9}"/>
                    </a:ext>
                  </a:extLst>
                </p:cNvPr>
                <p:cNvSpPr txBox="1"/>
                <p:nvPr/>
              </p:nvSpPr>
              <p:spPr>
                <a:xfrm>
                  <a:off x="3087551" y="2323123"/>
                  <a:ext cx="3191771" cy="40384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endParaRPr kumimoji="1" lang="en-US" altLang="ko-KR" sz="1600" dirty="0">
                    <a:solidFill>
                      <a:srgbClr val="302F2C"/>
                    </a:solidFill>
                    <a:latin typeface="GyeonggiTitleOTF Light" panose="02020403020101020101" pitchFamily="18" charset="-127"/>
                    <a:ea typeface="GyeonggiTitleOTF Light" panose="02020403020101020101" pitchFamily="18" charset="-127"/>
                  </a:endParaRPr>
                </a:p>
              </p:txBody>
            </p:sp>
          </p:grpSp>
        </p:grpSp>
        <p:grpSp>
          <p:nvGrpSpPr>
            <p:cNvPr id="53" name="그룹 52">
              <a:extLst>
                <a:ext uri="{FF2B5EF4-FFF2-40B4-BE49-F238E27FC236}">
                  <a16:creationId xmlns:a16="http://schemas.microsoft.com/office/drawing/2014/main" id="{FA68B2EC-F0DC-E68B-C7E1-09E6DA54D733}"/>
                </a:ext>
              </a:extLst>
            </p:cNvPr>
            <p:cNvGrpSpPr/>
            <p:nvPr/>
          </p:nvGrpSpPr>
          <p:grpSpPr>
            <a:xfrm>
              <a:off x="8071004" y="2117980"/>
              <a:ext cx="3271596" cy="3714058"/>
              <a:chOff x="2904209" y="1707509"/>
              <a:chExt cx="3271596" cy="4430274"/>
            </a:xfrm>
            <a:effectLst>
              <a:outerShdw blurRad="50800" dist="127000" dir="2700000" algn="ctr" rotWithShape="0">
                <a:srgbClr val="000000">
                  <a:alpha val="50000"/>
                </a:srgbClr>
              </a:outerShdw>
            </a:effectLst>
          </p:grpSpPr>
          <p:grpSp>
            <p:nvGrpSpPr>
              <p:cNvPr id="54" name="그룹 53">
                <a:extLst>
                  <a:ext uri="{FF2B5EF4-FFF2-40B4-BE49-F238E27FC236}">
                    <a16:creationId xmlns:a16="http://schemas.microsoft.com/office/drawing/2014/main" id="{FD9A77C2-490F-E189-1169-3B7CFECC2167}"/>
                  </a:ext>
                </a:extLst>
              </p:cNvPr>
              <p:cNvGrpSpPr/>
              <p:nvPr/>
            </p:nvGrpSpPr>
            <p:grpSpPr>
              <a:xfrm>
                <a:off x="2904209" y="1707509"/>
                <a:ext cx="3191774" cy="4430274"/>
                <a:chOff x="3907766" y="931653"/>
                <a:chExt cx="3191774" cy="4994694"/>
              </a:xfrm>
            </p:grpSpPr>
            <p:sp>
              <p:nvSpPr>
                <p:cNvPr id="58" name="대각선 방향의 모서리가 둥근 사각형 57">
                  <a:extLst>
                    <a:ext uri="{FF2B5EF4-FFF2-40B4-BE49-F238E27FC236}">
                      <a16:creationId xmlns:a16="http://schemas.microsoft.com/office/drawing/2014/main" id="{56DF638B-096E-C3AB-1B0B-0C6836CB9982}"/>
                    </a:ext>
                  </a:extLst>
                </p:cNvPr>
                <p:cNvSpPr/>
                <p:nvPr/>
              </p:nvSpPr>
              <p:spPr>
                <a:xfrm>
                  <a:off x="3907766" y="931653"/>
                  <a:ext cx="3191774" cy="4994694"/>
                </a:xfrm>
                <a:prstGeom prst="round2DiagRect">
                  <a:avLst>
                    <a:gd name="adj1" fmla="val 10451"/>
                    <a:gd name="adj2" fmla="val 0"/>
                  </a:avLst>
                </a:prstGeom>
                <a:solidFill>
                  <a:srgbClr val="DEDCDA"/>
                </a:solidFill>
                <a:ln>
                  <a:solidFill>
                    <a:srgbClr val="DEDCDA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ko-KR" altLang="en-US">
                    <a:latin typeface="GyeonggiTitleOTF Light" panose="02020403020101020101" pitchFamily="18" charset="-127"/>
                    <a:ea typeface="GyeonggiTitleOTF Light" panose="02020403020101020101" pitchFamily="18" charset="-127"/>
                  </a:endParaRPr>
                </a:p>
              </p:txBody>
            </p:sp>
            <p:sp>
              <p:nvSpPr>
                <p:cNvPr id="60" name="대각선 방향의 모서리가 둥근 사각형 59">
                  <a:extLst>
                    <a:ext uri="{FF2B5EF4-FFF2-40B4-BE49-F238E27FC236}">
                      <a16:creationId xmlns:a16="http://schemas.microsoft.com/office/drawing/2014/main" id="{A0CB79D8-817C-453A-1FE1-7C611747ECFE}"/>
                    </a:ext>
                  </a:extLst>
                </p:cNvPr>
                <p:cNvSpPr/>
                <p:nvPr/>
              </p:nvSpPr>
              <p:spPr>
                <a:xfrm>
                  <a:off x="3907766" y="931653"/>
                  <a:ext cx="3191774" cy="589003"/>
                </a:xfrm>
                <a:prstGeom prst="round2DiagRect">
                  <a:avLst>
                    <a:gd name="adj1" fmla="val 48374"/>
                    <a:gd name="adj2" fmla="val 0"/>
                  </a:avLst>
                </a:prstGeom>
                <a:solidFill>
                  <a:srgbClr val="393833"/>
                </a:solidFill>
                <a:ln>
                  <a:solidFill>
                    <a:srgbClr val="DFDCDA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ko-KR" altLang="en-US" b="1" dirty="0">
                    <a:latin typeface="GYEONGGITITLEOTF LIGHT" panose="02020403020101020101" pitchFamily="18" charset="-127"/>
                    <a:ea typeface="GYEONGGITITLEOTF LIGHT" panose="02020403020101020101" pitchFamily="18" charset="-127"/>
                  </a:endParaRPr>
                </a:p>
              </p:txBody>
            </p:sp>
          </p:grpSp>
          <p:grpSp>
            <p:nvGrpSpPr>
              <p:cNvPr id="55" name="그룹 54">
                <a:extLst>
                  <a:ext uri="{FF2B5EF4-FFF2-40B4-BE49-F238E27FC236}">
                    <a16:creationId xmlns:a16="http://schemas.microsoft.com/office/drawing/2014/main" id="{FC1953C8-43CB-0F70-4B88-931CAF1F3C61}"/>
                  </a:ext>
                </a:extLst>
              </p:cNvPr>
              <p:cNvGrpSpPr/>
              <p:nvPr/>
            </p:nvGrpSpPr>
            <p:grpSpPr>
              <a:xfrm>
                <a:off x="2942485" y="1762501"/>
                <a:ext cx="3233320" cy="2755337"/>
                <a:chOff x="3046002" y="1733842"/>
                <a:chExt cx="3233320" cy="2755337"/>
              </a:xfrm>
            </p:grpSpPr>
            <p:sp>
              <p:nvSpPr>
                <p:cNvPr id="56" name="TextBox 55">
                  <a:extLst>
                    <a:ext uri="{FF2B5EF4-FFF2-40B4-BE49-F238E27FC236}">
                      <a16:creationId xmlns:a16="http://schemas.microsoft.com/office/drawing/2014/main" id="{2BF2E061-9C8F-624C-7637-5D8C7FA6A049}"/>
                    </a:ext>
                  </a:extLst>
                </p:cNvPr>
                <p:cNvSpPr txBox="1"/>
                <p:nvPr/>
              </p:nvSpPr>
              <p:spPr>
                <a:xfrm>
                  <a:off x="3046002" y="1733842"/>
                  <a:ext cx="3233320" cy="440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" altLang="ko-KR" b="1" dirty="0">
                      <a:solidFill>
                        <a:schemeClr val="bg1"/>
                      </a:solidFill>
                      <a:latin typeface="GYEONGGITITLEOTF LIGHT" panose="02020403020101020101" pitchFamily="18" charset="-127"/>
                      <a:ea typeface="GYEONGGITITLEOTF LIGHT" panose="02020403020101020101" pitchFamily="18" charset="-127"/>
                    </a:rPr>
                    <a:t>PvP</a:t>
                  </a:r>
                  <a:r>
                    <a:rPr lang="ko-KR" altLang="en-US" b="1" dirty="0">
                      <a:solidFill>
                        <a:schemeClr val="bg1"/>
                      </a:solidFill>
                      <a:latin typeface="GYEONGGITITLEOTF LIGHT" panose="02020403020101020101" pitchFamily="18" charset="-127"/>
                      <a:ea typeface="GYEONGGITITLEOTF LIGHT" panose="02020403020101020101" pitchFamily="18" charset="-127"/>
                    </a:rPr>
                    <a:t>와 </a:t>
                  </a:r>
                  <a:r>
                    <a:rPr lang="en" altLang="ko-KR" b="1" dirty="0" err="1">
                      <a:solidFill>
                        <a:schemeClr val="bg1"/>
                      </a:solidFill>
                      <a:latin typeface="GYEONGGITITLEOTF LIGHT" panose="02020403020101020101" pitchFamily="18" charset="-127"/>
                      <a:ea typeface="GYEONGGITITLEOTF LIGHT" panose="02020403020101020101" pitchFamily="18" charset="-127"/>
                    </a:rPr>
                    <a:t>PvE</a:t>
                  </a:r>
                  <a:r>
                    <a:rPr lang="ko-KR" altLang="en-US" b="1" dirty="0">
                      <a:solidFill>
                        <a:schemeClr val="bg1"/>
                      </a:solidFill>
                      <a:latin typeface="GYEONGGITITLEOTF LIGHT" panose="02020403020101020101" pitchFamily="18" charset="-127"/>
                      <a:ea typeface="GYEONGGITITLEOTF LIGHT" panose="02020403020101020101" pitchFamily="18" charset="-127"/>
                    </a:rPr>
                    <a:t>의 분리 및 불균형</a:t>
                  </a:r>
                  <a:endParaRPr kumimoji="1" lang="ko-KR" altLang="en-US" b="1" dirty="0">
                    <a:solidFill>
                      <a:schemeClr val="bg1"/>
                    </a:solidFill>
                    <a:latin typeface="GYEONGGITITLEOTF LIGHT" panose="02020403020101020101" pitchFamily="18" charset="-127"/>
                    <a:ea typeface="GYEONGGITITLEOTF LIGHT" panose="02020403020101020101" pitchFamily="18" charset="-127"/>
                  </a:endParaRPr>
                </a:p>
              </p:txBody>
            </p:sp>
            <p:sp>
              <p:nvSpPr>
                <p:cNvPr id="57" name="TextBox 56">
                  <a:extLst>
                    <a:ext uri="{FF2B5EF4-FFF2-40B4-BE49-F238E27FC236}">
                      <a16:creationId xmlns:a16="http://schemas.microsoft.com/office/drawing/2014/main" id="{57859891-873F-A81C-7C4A-75F2642A3E79}"/>
                    </a:ext>
                  </a:extLst>
                </p:cNvPr>
                <p:cNvSpPr txBox="1"/>
                <p:nvPr/>
              </p:nvSpPr>
              <p:spPr>
                <a:xfrm>
                  <a:off x="3087551" y="2323123"/>
                  <a:ext cx="3191771" cy="216605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ko-KR" altLang="en-US" sz="1600" dirty="0">
                      <a:latin typeface="GyeonggiTitleOTF Light" panose="02020403020101020101" pitchFamily="18" charset="-127"/>
                      <a:ea typeface="GyeonggiTitleOTF Light" panose="02020403020101020101" pitchFamily="18" charset="-127"/>
                    </a:rPr>
                    <a:t>각 모드에서 요구되는 영웅</a:t>
                  </a:r>
                  <a:r>
                    <a:rPr lang="en-US" altLang="ko-KR" sz="1600" dirty="0">
                      <a:latin typeface="GyeonggiTitleOTF Light" panose="02020403020101020101" pitchFamily="18" charset="-127"/>
                      <a:ea typeface="GyeonggiTitleOTF Light" panose="02020403020101020101" pitchFamily="18" charset="-127"/>
                    </a:rPr>
                    <a:t>, </a:t>
                  </a:r>
                  <a:r>
                    <a:rPr lang="ko-KR" altLang="en-US" sz="1600" dirty="0">
                      <a:latin typeface="GyeonggiTitleOTF Light" panose="02020403020101020101" pitchFamily="18" charset="-127"/>
                      <a:ea typeface="GyeonggiTitleOTF Light" panose="02020403020101020101" pitchFamily="18" charset="-127"/>
                    </a:rPr>
                    <a:t>장비 전략이 극단적으로 달라짐</a:t>
                  </a:r>
                  <a:endParaRPr lang="en-US" altLang="ko-KR" sz="1600" dirty="0">
                    <a:latin typeface="GyeonggiTitleOTF Light" panose="02020403020101020101" pitchFamily="18" charset="-127"/>
                    <a:ea typeface="GyeonggiTitleOTF Light" panose="02020403020101020101" pitchFamily="18" charset="-127"/>
                  </a:endParaRPr>
                </a:p>
                <a:p>
                  <a:endParaRPr lang="en-US" altLang="ko-KR" sz="1600" dirty="0">
                    <a:latin typeface="GyeonggiTitleOTF Light" panose="02020403020101020101" pitchFamily="18" charset="-127"/>
                    <a:ea typeface="GyeonggiTitleOTF Light" panose="02020403020101020101" pitchFamily="18" charset="-127"/>
                  </a:endParaRPr>
                </a:p>
                <a:p>
                  <a:endParaRPr lang="en-US" altLang="ko-KR" sz="1600" dirty="0">
                    <a:latin typeface="GyeonggiTitleOTF Light" panose="02020403020101020101" pitchFamily="18" charset="-127"/>
                    <a:ea typeface="GyeonggiTitleOTF Light" panose="02020403020101020101" pitchFamily="18" charset="-127"/>
                  </a:endParaRPr>
                </a:p>
                <a:p>
                  <a:endParaRPr lang="en-US" altLang="ko-KR" sz="1600" dirty="0">
                    <a:latin typeface="GyeonggiTitleOTF Light" panose="02020403020101020101" pitchFamily="18" charset="-127"/>
                    <a:ea typeface="GyeonggiTitleOTF Light" panose="02020403020101020101" pitchFamily="18" charset="-127"/>
                  </a:endParaRPr>
                </a:p>
                <a:p>
                  <a:r>
                    <a:rPr lang="en-US" altLang="ko-KR" sz="1600" dirty="0">
                      <a:latin typeface="GyeonggiTitleOTF Light" panose="02020403020101020101" pitchFamily="18" charset="-127"/>
                      <a:ea typeface="GyeonggiTitleOTF Light" panose="02020403020101020101" pitchFamily="18" charset="-127"/>
                    </a:rPr>
                    <a:t>=&gt; </a:t>
                  </a:r>
                  <a:r>
                    <a:rPr lang="ko-KR" altLang="en-US" sz="1600" dirty="0">
                      <a:latin typeface="GyeonggiTitleOTF Light" panose="02020403020101020101" pitchFamily="18" charset="-127"/>
                      <a:ea typeface="GyeonggiTitleOTF Light" panose="02020403020101020101" pitchFamily="18" charset="-127"/>
                    </a:rPr>
                    <a:t>한 컨텐츠에 집중 시  다른 컨텐츠 경쟁력이 떨어지는 불균형 발생</a:t>
                  </a:r>
                  <a:endParaRPr lang="en-US" altLang="ko-KR" sz="1600" dirty="0">
                    <a:latin typeface="GyeonggiTitleOTF Light" panose="02020403020101020101" pitchFamily="18" charset="-127"/>
                    <a:ea typeface="GyeonggiTitleOTF Light" panose="02020403020101020101" pitchFamily="18" charset="-127"/>
                  </a:endParaRPr>
                </a:p>
              </p:txBody>
            </p:sp>
          </p:grpSp>
        </p:grpSp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C2C2985A-6AB8-8F26-6861-4B88985E900B}"/>
                </a:ext>
              </a:extLst>
            </p:cNvPr>
            <p:cNvSpPr txBox="1"/>
            <p:nvPr/>
          </p:nvSpPr>
          <p:spPr>
            <a:xfrm>
              <a:off x="4525260" y="2777937"/>
              <a:ext cx="3191771" cy="15696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600" dirty="0">
                  <a:latin typeface="GyeonggiTitleOTF Light" panose="02020403020101020101" pitchFamily="18" charset="-127"/>
                  <a:ea typeface="GyeonggiTitleOTF Light" panose="02020403020101020101" pitchFamily="18" charset="-127"/>
                </a:rPr>
                <a:t>특정 장비</a:t>
              </a:r>
              <a:r>
                <a:rPr lang="en-US" altLang="ko-KR" sz="1600" dirty="0">
                  <a:latin typeface="GyeonggiTitleOTF Light" panose="02020403020101020101" pitchFamily="18" charset="-127"/>
                  <a:ea typeface="GyeonggiTitleOTF Light" panose="02020403020101020101" pitchFamily="18" charset="-127"/>
                </a:rPr>
                <a:t>(</a:t>
              </a:r>
              <a:r>
                <a:rPr lang="ko-KR" altLang="en-US" sz="1600" dirty="0">
                  <a:latin typeface="GyeonggiTitleOTF Light" panose="02020403020101020101" pitchFamily="18" charset="-127"/>
                  <a:ea typeface="GyeonggiTitleOTF Light" panose="02020403020101020101" pitchFamily="18" charset="-127"/>
                </a:rPr>
                <a:t>전설 장신구 등</a:t>
              </a:r>
              <a:r>
                <a:rPr lang="en-US" altLang="ko-KR" sz="1600" dirty="0">
                  <a:latin typeface="GyeonggiTitleOTF Light" panose="02020403020101020101" pitchFamily="18" charset="-127"/>
                  <a:ea typeface="GyeonggiTitleOTF Light" panose="02020403020101020101" pitchFamily="18" charset="-127"/>
                </a:rPr>
                <a:t>)</a:t>
              </a:r>
              <a:r>
                <a:rPr lang="ko-KR" altLang="en-US" sz="1600" dirty="0">
                  <a:latin typeface="GyeonggiTitleOTF Light" panose="02020403020101020101" pitchFamily="18" charset="-127"/>
                  <a:ea typeface="GyeonggiTitleOTF Light" panose="02020403020101020101" pitchFamily="18" charset="-127"/>
                </a:rPr>
                <a:t>가 과도하게 강력</a:t>
              </a:r>
              <a:endParaRPr lang="en-US" altLang="ko-KR" sz="1600" dirty="0">
                <a:latin typeface="GyeonggiTitleOTF Light" panose="02020403020101020101" pitchFamily="18" charset="-127"/>
                <a:ea typeface="GyeonggiTitleOTF Light" panose="02020403020101020101" pitchFamily="18" charset="-127"/>
              </a:endParaRPr>
            </a:p>
            <a:p>
              <a:endParaRPr lang="en-US" altLang="ko-KR" sz="1600" dirty="0">
                <a:latin typeface="GyeonggiTitleOTF Light" panose="02020403020101020101" pitchFamily="18" charset="-127"/>
                <a:ea typeface="GyeonggiTitleOTF Light" panose="02020403020101020101" pitchFamily="18" charset="-127"/>
              </a:endParaRPr>
            </a:p>
            <a:p>
              <a:endParaRPr lang="en-US" altLang="ko-KR" sz="1600" dirty="0">
                <a:latin typeface="GyeonggiTitleOTF Light" panose="02020403020101020101" pitchFamily="18" charset="-127"/>
                <a:ea typeface="GyeonggiTitleOTF Light" panose="02020403020101020101" pitchFamily="18" charset="-127"/>
              </a:endParaRPr>
            </a:p>
            <a:p>
              <a:endParaRPr lang="en-US" altLang="ko-KR" sz="1600" dirty="0">
                <a:latin typeface="GyeonggiTitleOTF Light" panose="02020403020101020101" pitchFamily="18" charset="-127"/>
                <a:ea typeface="GyeonggiTitleOTF Light" panose="02020403020101020101" pitchFamily="18" charset="-127"/>
              </a:endParaRPr>
            </a:p>
            <a:p>
              <a:r>
                <a:rPr lang="ko-KR" altLang="en-US" sz="1600" dirty="0">
                  <a:latin typeface="GyeonggiTitleOTF Light" panose="02020403020101020101" pitchFamily="18" charset="-127"/>
                  <a:ea typeface="GyeonggiTitleOTF Light" panose="02020403020101020101" pitchFamily="18" charset="-127"/>
                </a:rPr>
                <a:t> </a:t>
              </a:r>
              <a:r>
                <a:rPr lang="en-US" altLang="ko-KR" sz="1600" dirty="0">
                  <a:latin typeface="GyeonggiTitleOTF Light" panose="02020403020101020101" pitchFamily="18" charset="-127"/>
                  <a:ea typeface="GyeonggiTitleOTF Light" panose="02020403020101020101" pitchFamily="18" charset="-127"/>
                </a:rPr>
                <a:t>=&gt; </a:t>
              </a:r>
              <a:r>
                <a:rPr lang="ko-KR" altLang="en-US" sz="1600" dirty="0">
                  <a:latin typeface="GyeonggiTitleOTF Light" panose="02020403020101020101" pitchFamily="18" charset="-127"/>
                  <a:ea typeface="GyeonggiTitleOTF Light" panose="02020403020101020101" pitchFamily="18" charset="-127"/>
                </a:rPr>
                <a:t>다양한 전략적 시도 제한</a:t>
              </a:r>
              <a:endParaRPr kumimoji="1" lang="en-US" altLang="ko-KR" sz="1600" dirty="0">
                <a:solidFill>
                  <a:srgbClr val="302F2C"/>
                </a:solidFill>
                <a:latin typeface="GyeonggiTitleOTF Light" panose="02020403020101020101" pitchFamily="18" charset="-127"/>
                <a:ea typeface="GyeonggiTitleOTF Light" panose="02020403020101020101" pitchFamily="18" charset="-127"/>
              </a:endParaRPr>
            </a:p>
          </p:txBody>
        </p:sp>
        <p:pic>
          <p:nvPicPr>
            <p:cNvPr id="5" name="그림 4" descr="액세서리, 보석, 패션 액세서리, 보석류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4D20DFAD-7997-887D-53DF-2B627A340AA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26166"/>
            <a:stretch>
              <a:fillRect/>
            </a:stretch>
          </p:blipFill>
          <p:spPr>
            <a:xfrm>
              <a:off x="6552342" y="4966101"/>
              <a:ext cx="1219200" cy="881431"/>
            </a:xfrm>
            <a:prstGeom prst="rect">
              <a:avLst/>
            </a:prstGeom>
          </p:spPr>
        </p:pic>
        <p:pic>
          <p:nvPicPr>
            <p:cNvPr id="7" name="그림 6" descr="보석, 보석류, 다이아몬드, 액세서리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29328F30-546F-5D22-EB91-1B0162B537A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26091"/>
            <a:stretch>
              <a:fillRect/>
            </a:stretch>
          </p:blipFill>
          <p:spPr>
            <a:xfrm>
              <a:off x="5891855" y="4946438"/>
              <a:ext cx="1206500" cy="901094"/>
            </a:xfrm>
            <a:prstGeom prst="rect">
              <a:avLst/>
            </a:prstGeom>
          </p:spPr>
        </p:pic>
        <p:pic>
          <p:nvPicPr>
            <p:cNvPr id="9" name="그림 8" descr="액세서리, 반지, 패션 액세서리, 보석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05D7525B-44A9-2554-4A65-04880469911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25837"/>
            <a:stretch>
              <a:fillRect/>
            </a:stretch>
          </p:blipFill>
          <p:spPr>
            <a:xfrm>
              <a:off x="5253209" y="5011699"/>
              <a:ext cx="1117600" cy="828845"/>
            </a:xfrm>
            <a:prstGeom prst="rect">
              <a:avLst/>
            </a:prstGeom>
          </p:spPr>
        </p:pic>
        <p:pic>
          <p:nvPicPr>
            <p:cNvPr id="12" name="그림 11" descr="상징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1BF1738F-3EDE-7195-C0DF-C6DA3075091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28460"/>
            <a:stretch>
              <a:fillRect/>
            </a:stretch>
          </p:blipFill>
          <p:spPr>
            <a:xfrm>
              <a:off x="1006294" y="4514631"/>
              <a:ext cx="1917700" cy="1317407"/>
            </a:xfrm>
            <a:prstGeom prst="rect">
              <a:avLst/>
            </a:prstGeom>
          </p:spPr>
        </p:pic>
        <p:pic>
          <p:nvPicPr>
            <p:cNvPr id="29" name="그림 28" descr="예술, 상징, 원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C2F29F80-D864-FAA0-A4DE-9F7462E9F7C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1140" t="2850" r="-1245" b="21457"/>
            <a:stretch>
              <a:fillRect/>
            </a:stretch>
          </p:blipFill>
          <p:spPr>
            <a:xfrm>
              <a:off x="1057825" y="4629317"/>
              <a:ext cx="1219764" cy="1211227"/>
            </a:xfrm>
            <a:prstGeom prst="rect">
              <a:avLst/>
            </a:prstGeom>
          </p:spPr>
        </p:pic>
      </p:grpSp>
      <p:pic>
        <p:nvPicPr>
          <p:cNvPr id="6" name="그림 5" descr="천문학, 별, 창의성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0130FB0-E2C0-400A-CECA-9632E9E94FBC}"/>
              </a:ext>
            </a:extLst>
          </p:cNvPr>
          <p:cNvPicPr>
            <a:picLocks noChangeAspect="1"/>
          </p:cNvPicPr>
          <p:nvPr/>
        </p:nvPicPr>
        <p:blipFill>
          <a:blip r:embed="rId8">
            <a:duotone>
              <a:prstClr val="black"/>
              <a:srgbClr val="D9C3A5">
                <a:tint val="50000"/>
                <a:satMod val="180000"/>
              </a:srgbClr>
            </a:duotone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colorTemperature colorTemp="1500"/>
                    </a14:imgEffect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7808" t="11518" r="20576" b="33449"/>
          <a:stretch>
            <a:fillRect/>
          </a:stretch>
        </p:blipFill>
        <p:spPr>
          <a:xfrm>
            <a:off x="3714186" y="1911334"/>
            <a:ext cx="393205" cy="4192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27137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9663859-1B87-CAAF-4B79-0625E74975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B02C8A51-83D3-EE0A-F7AD-194631BCCACE}"/>
              </a:ext>
            </a:extLst>
          </p:cNvPr>
          <p:cNvSpPr txBox="1"/>
          <p:nvPr/>
        </p:nvSpPr>
        <p:spPr>
          <a:xfrm>
            <a:off x="10324883" y="6314662"/>
            <a:ext cx="17812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000" dirty="0">
                <a:latin typeface="GyeonggiTitle Bold" panose="02020803020101020101" pitchFamily="18" charset="-127"/>
                <a:ea typeface="GyeonggiTitle Bold" panose="02020803020101020101" pitchFamily="18" charset="-127"/>
              </a:rPr>
              <a:t>2025-11-01</a:t>
            </a:r>
            <a:r>
              <a:rPr kumimoji="1" lang="ko-KR" altLang="en-US" sz="1000" dirty="0">
                <a:latin typeface="GyeonggiTitle Bold" panose="02020803020101020101" pitchFamily="18" charset="-127"/>
                <a:ea typeface="GyeonggiTitle Bold" panose="02020803020101020101" pitchFamily="18" charset="-127"/>
              </a:rPr>
              <a:t> </a:t>
            </a:r>
            <a:r>
              <a:rPr kumimoji="1" lang="en-US" altLang="ko-KR" sz="1000" dirty="0">
                <a:latin typeface="GyeonggiTitle Bold" panose="02020803020101020101" pitchFamily="18" charset="-127"/>
                <a:ea typeface="GyeonggiTitle Bold" panose="02020803020101020101" pitchFamily="18" charset="-127"/>
              </a:rPr>
              <a:t>KR</a:t>
            </a:r>
            <a:r>
              <a:rPr kumimoji="1" lang="ko-KR" altLang="en-US" sz="1000" dirty="0">
                <a:latin typeface="GyeonggiTitle Bold" panose="02020803020101020101" pitchFamily="18" charset="-127"/>
                <a:ea typeface="GyeonggiTitle Bold" panose="02020803020101020101" pitchFamily="18" charset="-127"/>
              </a:rPr>
              <a:t> </a:t>
            </a:r>
            <a:r>
              <a:rPr kumimoji="1" lang="en-US" altLang="ko-KR" sz="1000" dirty="0">
                <a:latin typeface="GyeonggiTitle Bold" panose="02020803020101020101" pitchFamily="18" charset="-127"/>
                <a:ea typeface="GyeonggiTitle Bold" panose="02020803020101020101" pitchFamily="18" charset="-127"/>
              </a:rPr>
              <a:t>1</a:t>
            </a:r>
            <a:r>
              <a:rPr kumimoji="1" lang="ko-KR" altLang="en-US" sz="1000" dirty="0">
                <a:latin typeface="GyeonggiTitle Bold" panose="02020803020101020101" pitchFamily="18" charset="-127"/>
                <a:ea typeface="GyeonggiTitle Bold" panose="02020803020101020101" pitchFamily="18" charset="-127"/>
              </a:rPr>
              <a:t>서버 기준</a:t>
            </a:r>
            <a:endParaRPr kumimoji="1" lang="en-US" altLang="ko-KR" sz="1000" dirty="0">
              <a:latin typeface="GyeonggiTitle Bold" panose="02020803020101020101" pitchFamily="18" charset="-127"/>
              <a:ea typeface="GyeonggiTitle Bold" panose="02020803020101020101" pitchFamily="18" charset="-127"/>
            </a:endParaRPr>
          </a:p>
          <a:p>
            <a:r>
              <a:rPr kumimoji="1" lang="ko-KR" altLang="en-US" sz="1000" dirty="0">
                <a:latin typeface="GyeonggiTitle Bold" panose="02020803020101020101" pitchFamily="18" charset="-127"/>
                <a:ea typeface="GyeonggiTitle Bold" panose="02020803020101020101" pitchFamily="18" charset="-127"/>
              </a:rPr>
              <a:t>상위 </a:t>
            </a:r>
            <a:r>
              <a:rPr kumimoji="1" lang="en-US" altLang="ko-KR" sz="1000" dirty="0">
                <a:latin typeface="GyeonggiTitle Bold" panose="02020803020101020101" pitchFamily="18" charset="-127"/>
                <a:ea typeface="GyeonggiTitle Bold" panose="02020803020101020101" pitchFamily="18" charset="-127"/>
              </a:rPr>
              <a:t>50</a:t>
            </a:r>
            <a:r>
              <a:rPr kumimoji="1" lang="ko-KR" altLang="en-US" sz="1000" dirty="0">
                <a:latin typeface="GyeonggiTitle Bold" panose="02020803020101020101" pitchFamily="18" charset="-127"/>
                <a:ea typeface="GyeonggiTitle Bold" panose="02020803020101020101" pitchFamily="18" charset="-127"/>
              </a:rPr>
              <a:t>명 유저의 덱 구성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3DF22DF-0CD5-EDE3-B7C4-4C19119C6C2F}"/>
              </a:ext>
            </a:extLst>
          </p:cNvPr>
          <p:cNvSpPr txBox="1"/>
          <p:nvPr/>
        </p:nvSpPr>
        <p:spPr>
          <a:xfrm>
            <a:off x="1072526" y="586716"/>
            <a:ext cx="2368943" cy="9079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500" dirty="0">
                <a:latin typeface="GyeonggiTitle Bold" panose="02020803020101020101" pitchFamily="18" charset="-127"/>
                <a:ea typeface="GyeonggiTitle Bold" panose="02020803020101020101" pitchFamily="18" charset="-127"/>
              </a:rPr>
              <a:t>PVP</a:t>
            </a:r>
            <a:r>
              <a:rPr lang="ko-KR" altLang="en-US" sz="3500" dirty="0">
                <a:latin typeface="GyeonggiTitle Bold" panose="02020803020101020101" pitchFamily="18" charset="-127"/>
                <a:ea typeface="GyeonggiTitle Bold" panose="02020803020101020101" pitchFamily="18" charset="-127"/>
              </a:rPr>
              <a:t> 메타</a:t>
            </a:r>
            <a:endParaRPr lang="en-US" altLang="ko-KR" sz="3500" dirty="0">
              <a:latin typeface="GyeonggiTitle Bold" panose="02020803020101020101" pitchFamily="18" charset="-127"/>
              <a:ea typeface="GyeonggiTitle Bold" panose="02020803020101020101" pitchFamily="18" charset="-127"/>
            </a:endParaRPr>
          </a:p>
          <a:p>
            <a:r>
              <a:rPr lang="ko-KR" altLang="en-US" dirty="0">
                <a:latin typeface="GyeonggiTitle Bold" panose="02020803020101020101" pitchFamily="18" charset="-127"/>
                <a:ea typeface="GyeonggiTitle Bold" panose="02020803020101020101" pitchFamily="18" charset="-127"/>
              </a:rPr>
              <a:t>결투장 메타 분포도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487D5ED-0B45-829E-6F10-DCD0A133D264}"/>
              </a:ext>
            </a:extLst>
          </p:cNvPr>
          <p:cNvSpPr txBox="1"/>
          <p:nvPr/>
        </p:nvSpPr>
        <p:spPr>
          <a:xfrm>
            <a:off x="5848109" y="6412606"/>
            <a:ext cx="49578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ko-KR" sz="1000" dirty="0">
                <a:latin typeface="GyeonggiTitle Bold" panose="02020803020101020101" pitchFamily="18" charset="-127"/>
                <a:ea typeface="GyeonggiTitle Bold" panose="02020803020101020101" pitchFamily="18" charset="-127"/>
              </a:rPr>
              <a:t>- 6 - </a:t>
            </a:r>
            <a:endParaRPr kumimoji="1" lang="ko-KR" altLang="en-US" sz="1000" dirty="0">
              <a:latin typeface="GyeonggiTitle Bold" panose="02020803020101020101" pitchFamily="18" charset="-127"/>
              <a:ea typeface="GyeonggiTitle Bold" panose="02020803020101020101" pitchFamily="18" charset="-127"/>
            </a:endParaRPr>
          </a:p>
        </p:txBody>
      </p:sp>
      <p:grpSp>
        <p:nvGrpSpPr>
          <p:cNvPr id="50" name="그룹 49">
            <a:extLst>
              <a:ext uri="{FF2B5EF4-FFF2-40B4-BE49-F238E27FC236}">
                <a16:creationId xmlns:a16="http://schemas.microsoft.com/office/drawing/2014/main" id="{EB5BD06D-E454-F70F-3B46-3723AD5874B0}"/>
              </a:ext>
            </a:extLst>
          </p:cNvPr>
          <p:cNvGrpSpPr/>
          <p:nvPr/>
        </p:nvGrpSpPr>
        <p:grpSpPr>
          <a:xfrm>
            <a:off x="1440000" y="1440000"/>
            <a:ext cx="9360000" cy="4860000"/>
            <a:chOff x="1440000" y="1440000"/>
            <a:chExt cx="9360000" cy="4860000"/>
          </a:xfrm>
          <a:effectLst>
            <a:outerShdw blurRad="63500" dist="266700" dir="2160000" sx="98318" sy="98318" algn="ctr" rotWithShape="0">
              <a:srgbClr val="000000">
                <a:alpha val="52000"/>
              </a:srgbClr>
            </a:outerShdw>
          </a:effectLst>
        </p:grpSpPr>
        <p:pic>
          <p:nvPicPr>
            <p:cNvPr id="13" name="그림 12">
              <a:extLst>
                <a:ext uri="{FF2B5EF4-FFF2-40B4-BE49-F238E27FC236}">
                  <a16:creationId xmlns:a16="http://schemas.microsoft.com/office/drawing/2014/main" id="{126BB3BE-1CA3-C36E-C185-22C33F0283E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065986" y="3808601"/>
              <a:ext cx="389106" cy="389106"/>
            </a:xfrm>
            <a:prstGeom prst="rect">
              <a:avLst/>
            </a:prstGeom>
          </p:spPr>
        </p:pic>
        <p:pic>
          <p:nvPicPr>
            <p:cNvPr id="11" name="그림 10">
              <a:extLst>
                <a:ext uri="{FF2B5EF4-FFF2-40B4-BE49-F238E27FC236}">
                  <a16:creationId xmlns:a16="http://schemas.microsoft.com/office/drawing/2014/main" id="{B3976E21-1EB0-30A2-EDC5-B953831ACA8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87600" y="4456726"/>
              <a:ext cx="389106" cy="389106"/>
            </a:xfrm>
            <a:prstGeom prst="rect">
              <a:avLst/>
            </a:prstGeom>
          </p:spPr>
        </p:pic>
        <p:sp>
          <p:nvSpPr>
            <p:cNvPr id="36" name="대각선 방향의 모서리가 둥근 사각형 35">
              <a:extLst>
                <a:ext uri="{FF2B5EF4-FFF2-40B4-BE49-F238E27FC236}">
                  <a16:creationId xmlns:a16="http://schemas.microsoft.com/office/drawing/2014/main" id="{4589D3CA-B9BF-2E97-115A-0000471B71CA}"/>
                </a:ext>
              </a:extLst>
            </p:cNvPr>
            <p:cNvSpPr/>
            <p:nvPr/>
          </p:nvSpPr>
          <p:spPr>
            <a:xfrm>
              <a:off x="1440000" y="1440000"/>
              <a:ext cx="9360000" cy="4860000"/>
            </a:xfrm>
            <a:prstGeom prst="round2DiagRect">
              <a:avLst/>
            </a:prstGeom>
            <a:solidFill>
              <a:srgbClr val="393833"/>
            </a:solidFill>
            <a:ln>
              <a:solidFill>
                <a:srgbClr val="DEDCDA"/>
              </a:solidFill>
            </a:ln>
            <a:effectLst>
              <a:outerShdw blurRad="50800" dist="50800" dir="2700000" sx="1000" sy="1000" algn="ctr" rotWithShape="0">
                <a:srgbClr val="000000">
                  <a:alpha val="79691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dirty="0">
                <a:latin typeface="GyeonggiTitle Bold" panose="02020803020101020101" pitchFamily="18" charset="-127"/>
                <a:ea typeface="GyeonggiTitle Bold" panose="02020803020101020101" pitchFamily="18" charset="-127"/>
              </a:endParaRPr>
            </a:p>
          </p:txBody>
        </p:sp>
        <p:grpSp>
          <p:nvGrpSpPr>
            <p:cNvPr id="37" name="그룹 36">
              <a:extLst>
                <a:ext uri="{FF2B5EF4-FFF2-40B4-BE49-F238E27FC236}">
                  <a16:creationId xmlns:a16="http://schemas.microsoft.com/office/drawing/2014/main" id="{FDA6A47A-1712-8867-05FB-FB342BC8178E}"/>
                </a:ext>
              </a:extLst>
            </p:cNvPr>
            <p:cNvGrpSpPr/>
            <p:nvPr/>
          </p:nvGrpSpPr>
          <p:grpSpPr>
            <a:xfrm>
              <a:off x="1440000" y="2164298"/>
              <a:ext cx="9360000" cy="3960000"/>
              <a:chOff x="1852242" y="1036551"/>
              <a:chExt cx="9448802" cy="4391234"/>
            </a:xfrm>
          </p:grpSpPr>
          <p:sp>
            <p:nvSpPr>
              <p:cNvPr id="38" name="한쪽 모서리가 둥근 사각형 37">
                <a:extLst>
                  <a:ext uri="{FF2B5EF4-FFF2-40B4-BE49-F238E27FC236}">
                    <a16:creationId xmlns:a16="http://schemas.microsoft.com/office/drawing/2014/main" id="{F332A773-7F57-0A8C-70B2-47701DAC5DB2}"/>
                  </a:ext>
                </a:extLst>
              </p:cNvPr>
              <p:cNvSpPr/>
              <p:nvPr/>
            </p:nvSpPr>
            <p:spPr>
              <a:xfrm flipV="1">
                <a:off x="6505224" y="1036551"/>
                <a:ext cx="4795820" cy="4391229"/>
              </a:xfrm>
              <a:prstGeom prst="round1Rect">
                <a:avLst>
                  <a:gd name="adj" fmla="val 22000"/>
                </a:avLst>
              </a:prstGeom>
              <a:solidFill>
                <a:srgbClr val="DAD7D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R" altLang="en-US" dirty="0">
                  <a:latin typeface="GyeonggiTitle Bold" panose="02020803020101020101" pitchFamily="18" charset="-127"/>
                  <a:ea typeface="GyeonggiTitle Bold" panose="02020803020101020101" pitchFamily="18" charset="-127"/>
                </a:endParaRPr>
              </a:p>
            </p:txBody>
          </p:sp>
          <p:sp>
            <p:nvSpPr>
              <p:cNvPr id="39" name="한쪽 모서리가 둥근 사각형 38">
                <a:extLst>
                  <a:ext uri="{FF2B5EF4-FFF2-40B4-BE49-F238E27FC236}">
                    <a16:creationId xmlns:a16="http://schemas.microsoft.com/office/drawing/2014/main" id="{71F95E42-29F5-3AF3-0D9F-69F7EF7A1F55}"/>
                  </a:ext>
                </a:extLst>
              </p:cNvPr>
              <p:cNvSpPr/>
              <p:nvPr/>
            </p:nvSpPr>
            <p:spPr>
              <a:xfrm flipH="1">
                <a:off x="1852242" y="1036553"/>
                <a:ext cx="4795821" cy="4391232"/>
              </a:xfrm>
              <a:prstGeom prst="round1Rect">
                <a:avLst>
                  <a:gd name="adj" fmla="val 13667"/>
                </a:avLst>
              </a:prstGeom>
              <a:solidFill>
                <a:srgbClr val="DAD7D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R" altLang="en-US" dirty="0">
                  <a:latin typeface="GyeonggiTitle Bold" panose="02020803020101020101" pitchFamily="18" charset="-127"/>
                  <a:ea typeface="GyeonggiTitle Bold" panose="02020803020101020101" pitchFamily="18" charset="-127"/>
                </a:endParaRPr>
              </a:p>
            </p:txBody>
          </p:sp>
        </p:grp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9140C8DC-8F7E-A89D-B897-7013EB2609AC}"/>
                </a:ext>
              </a:extLst>
            </p:cNvPr>
            <p:cNvSpPr txBox="1"/>
            <p:nvPr/>
          </p:nvSpPr>
          <p:spPr>
            <a:xfrm>
              <a:off x="1979003" y="1591667"/>
              <a:ext cx="87956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2400" b="1" dirty="0">
                  <a:solidFill>
                    <a:schemeClr val="bg1"/>
                  </a:solidFill>
                  <a:latin typeface="GYEONGGITITLEOTF LIGHT" panose="02020403020101020101" pitchFamily="18" charset="-127"/>
                  <a:ea typeface="GYEONGGITITLEOTF LIGHT" panose="02020403020101020101" pitchFamily="18" charset="-127"/>
                </a:rPr>
                <a:t>특정 영웅에 </a:t>
              </a:r>
              <a:r>
                <a:rPr lang="ko-KR" altLang="en-US" sz="2400" b="1" dirty="0" err="1">
                  <a:solidFill>
                    <a:schemeClr val="bg1"/>
                  </a:solidFill>
                  <a:latin typeface="GYEONGGITITLEOTF LIGHT" panose="02020403020101020101" pitchFamily="18" charset="-127"/>
                  <a:ea typeface="GYEONGGITITLEOTF LIGHT" panose="02020403020101020101" pitchFamily="18" charset="-127"/>
                </a:rPr>
                <a:t>덱이</a:t>
              </a:r>
              <a:r>
                <a:rPr lang="ko-KR" altLang="en-US" sz="2400" b="1" dirty="0">
                  <a:solidFill>
                    <a:schemeClr val="bg1"/>
                  </a:solidFill>
                  <a:latin typeface="GYEONGGITITLEOTF LIGHT" panose="02020403020101020101" pitchFamily="18" charset="-127"/>
                  <a:ea typeface="GYEONGGITITLEOTF LIGHT" panose="02020403020101020101" pitchFamily="18" charset="-127"/>
                </a:rPr>
                <a:t> 편중</a:t>
              </a:r>
              <a:r>
                <a:rPr lang="en-US" altLang="ko-KR" sz="2400" b="1" dirty="0">
                  <a:solidFill>
                    <a:schemeClr val="bg1"/>
                  </a:solidFill>
                  <a:latin typeface="GYEONGGITITLEOTF LIGHT" panose="02020403020101020101" pitchFamily="18" charset="-127"/>
                  <a:ea typeface="GYEONGGITITLEOTF LIGHT" panose="02020403020101020101" pitchFamily="18" charset="-127"/>
                </a:rPr>
                <a:t>,</a:t>
              </a:r>
              <a:r>
                <a:rPr lang="ko-KR" altLang="en-US" sz="2400" b="1" dirty="0">
                  <a:solidFill>
                    <a:schemeClr val="bg1"/>
                  </a:solidFill>
                  <a:latin typeface="GYEONGGITITLEOTF LIGHT" panose="02020403020101020101" pitchFamily="18" charset="-127"/>
                  <a:ea typeface="GYEONGGITITLEOTF LIGHT" panose="02020403020101020101" pitchFamily="18" charset="-127"/>
                </a:rPr>
                <a:t> 덱 다양성이 부족</a:t>
              </a:r>
              <a:endParaRPr kumimoji="1" lang="ko-KR" altLang="en-US" sz="2400" b="1" dirty="0">
                <a:solidFill>
                  <a:schemeClr val="bg1"/>
                </a:solidFill>
                <a:latin typeface="GYEONGGITITLEOTF LIGHT" panose="02020403020101020101" pitchFamily="18" charset="-127"/>
                <a:ea typeface="GYEONGGITITLEOTF LIGHT" panose="02020403020101020101" pitchFamily="18" charset="-127"/>
              </a:endParaRPr>
            </a:p>
          </p:txBody>
        </p:sp>
        <p:grpSp>
          <p:nvGrpSpPr>
            <p:cNvPr id="10" name="그룹 9">
              <a:extLst>
                <a:ext uri="{FF2B5EF4-FFF2-40B4-BE49-F238E27FC236}">
                  <a16:creationId xmlns:a16="http://schemas.microsoft.com/office/drawing/2014/main" id="{C79B4C3C-4198-EAAE-FC10-471C164C0D00}"/>
                </a:ext>
              </a:extLst>
            </p:cNvPr>
            <p:cNvGrpSpPr/>
            <p:nvPr/>
          </p:nvGrpSpPr>
          <p:grpSpPr>
            <a:xfrm>
              <a:off x="6850665" y="2164288"/>
              <a:ext cx="3949335" cy="3960005"/>
              <a:chOff x="5829300" y="2164288"/>
              <a:chExt cx="4960530" cy="3988837"/>
            </a:xfrm>
            <a:solidFill>
              <a:srgbClr val="1C5397"/>
            </a:solidFill>
          </p:grpSpPr>
          <p:sp>
            <p:nvSpPr>
              <p:cNvPr id="3" name="대각선 방향의 모서리가 둥근 사각형 2">
                <a:extLst>
                  <a:ext uri="{FF2B5EF4-FFF2-40B4-BE49-F238E27FC236}">
                    <a16:creationId xmlns:a16="http://schemas.microsoft.com/office/drawing/2014/main" id="{5B5C9FF8-E996-A577-1EF5-0F260232D7B4}"/>
                  </a:ext>
                </a:extLst>
              </p:cNvPr>
              <p:cNvSpPr/>
              <p:nvPr/>
            </p:nvSpPr>
            <p:spPr>
              <a:xfrm>
                <a:off x="6147757" y="2164288"/>
                <a:ext cx="4642073" cy="3988826"/>
              </a:xfrm>
              <a:prstGeom prst="round2Diag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R" altLang="en-US" dirty="0"/>
              </a:p>
            </p:txBody>
          </p:sp>
          <p:sp>
            <p:nvSpPr>
              <p:cNvPr id="4" name="평행 사변형[P] 3">
                <a:extLst>
                  <a:ext uri="{FF2B5EF4-FFF2-40B4-BE49-F238E27FC236}">
                    <a16:creationId xmlns:a16="http://schemas.microsoft.com/office/drawing/2014/main" id="{A7F52C5C-D91F-3034-675C-E7998EA1BCF4}"/>
                  </a:ext>
                </a:extLst>
              </p:cNvPr>
              <p:cNvSpPr/>
              <p:nvPr/>
            </p:nvSpPr>
            <p:spPr>
              <a:xfrm>
                <a:off x="5829300" y="2164298"/>
                <a:ext cx="1360168" cy="3988827"/>
              </a:xfrm>
              <a:prstGeom prst="parallelogram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R" altLang="en-US" dirty="0"/>
              </a:p>
            </p:txBody>
          </p:sp>
        </p:grpSp>
        <p:pic>
          <p:nvPicPr>
            <p:cNvPr id="1026" name="Picture 2" descr="플라튼(세븐나이츠 리버스) - 나무위키">
              <a:extLst>
                <a:ext uri="{FF2B5EF4-FFF2-40B4-BE49-F238E27FC236}">
                  <a16:creationId xmlns:a16="http://schemas.microsoft.com/office/drawing/2014/main" id="{F2AE0262-D8C5-88B4-D11A-9B7BDFE13DCE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">
              <a:alphaModFix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058" t="21897" r="33350" b="20361"/>
            <a:stretch>
              <a:fillRect/>
            </a:stretch>
          </p:blipFill>
          <p:spPr bwMode="auto">
            <a:xfrm>
              <a:off x="6784908" y="2163597"/>
              <a:ext cx="3777345" cy="3959998"/>
            </a:xfrm>
            <a:prstGeom prst="rect">
              <a:avLst/>
            </a:prstGeom>
            <a:noFill/>
            <a:effectLst>
              <a:softEdge rad="0"/>
            </a:effectLst>
          </p:spPr>
        </p:pic>
        <p:sp>
          <p:nvSpPr>
            <p:cNvPr id="15" name="대각선 방향의 모서리가 둥근 사각형 14">
              <a:extLst>
                <a:ext uri="{FF2B5EF4-FFF2-40B4-BE49-F238E27FC236}">
                  <a16:creationId xmlns:a16="http://schemas.microsoft.com/office/drawing/2014/main" id="{4652D6EA-F10B-A560-04BB-CACA7FCE158C}"/>
                </a:ext>
              </a:extLst>
            </p:cNvPr>
            <p:cNvSpPr/>
            <p:nvPr/>
          </p:nvSpPr>
          <p:spPr>
            <a:xfrm flipH="1" flipV="1">
              <a:off x="1440000" y="2163600"/>
              <a:ext cx="5316458" cy="3959994"/>
            </a:xfrm>
            <a:prstGeom prst="round2DiagRect">
              <a:avLst>
                <a:gd name="adj1" fmla="val 13518"/>
                <a:gd name="adj2" fmla="val 0"/>
              </a:avLst>
            </a:prstGeom>
            <a:solidFill>
              <a:srgbClr val="C4474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dirty="0"/>
            </a:p>
          </p:txBody>
        </p:sp>
        <p:sp>
          <p:nvSpPr>
            <p:cNvPr id="21" name="평행 사변형[P] 20">
              <a:extLst>
                <a:ext uri="{FF2B5EF4-FFF2-40B4-BE49-F238E27FC236}">
                  <a16:creationId xmlns:a16="http://schemas.microsoft.com/office/drawing/2014/main" id="{1349F8AE-ED56-6F3C-5618-4BD1EB638792}"/>
                </a:ext>
              </a:extLst>
            </p:cNvPr>
            <p:cNvSpPr/>
            <p:nvPr/>
          </p:nvSpPr>
          <p:spPr>
            <a:xfrm flipH="1" flipV="1">
              <a:off x="6051832" y="2163600"/>
              <a:ext cx="1088068" cy="3959995"/>
            </a:xfrm>
            <a:prstGeom prst="parallelogram">
              <a:avLst/>
            </a:prstGeom>
            <a:solidFill>
              <a:srgbClr val="C4474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dirty="0"/>
            </a:p>
          </p:txBody>
        </p:sp>
        <p:sp>
          <p:nvSpPr>
            <p:cNvPr id="16" name="평행 사변형[P] 15">
              <a:extLst>
                <a:ext uri="{FF2B5EF4-FFF2-40B4-BE49-F238E27FC236}">
                  <a16:creationId xmlns:a16="http://schemas.microsoft.com/office/drawing/2014/main" id="{483C747C-485D-2B01-1A6B-66586D0FBF96}"/>
                </a:ext>
              </a:extLst>
            </p:cNvPr>
            <p:cNvSpPr>
              <a:spLocks noChangeAspect="1"/>
            </p:cNvSpPr>
            <p:nvPr/>
          </p:nvSpPr>
          <p:spPr>
            <a:xfrm flipH="1" flipV="1">
              <a:off x="6062060" y="2163599"/>
              <a:ext cx="1088068" cy="3959995"/>
            </a:xfrm>
            <a:prstGeom prst="parallelogram">
              <a:avLst/>
            </a:prstGeom>
            <a:blipFill dpi="0" rotWithShape="0">
              <a:blip r:embed="rId6"/>
              <a:srcRect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dirty="0"/>
            </a:p>
          </p:txBody>
        </p:sp>
        <p:pic>
          <p:nvPicPr>
            <p:cNvPr id="1028" name="Picture 4" descr="카일 세나리버스">
              <a:extLst>
                <a:ext uri="{FF2B5EF4-FFF2-40B4-BE49-F238E27FC236}">
                  <a16:creationId xmlns:a16="http://schemas.microsoft.com/office/drawing/2014/main" id="{962FDC46-FDD6-CC6C-88DF-F4ADC6FCB51D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3595" t="23484" r="34848" b="38888"/>
            <a:stretch>
              <a:fillRect/>
            </a:stretch>
          </p:blipFill>
          <p:spPr bwMode="auto">
            <a:xfrm>
              <a:off x="1450228" y="2163599"/>
              <a:ext cx="4870540" cy="395999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1" name="자유형 30">
              <a:extLst>
                <a:ext uri="{FF2B5EF4-FFF2-40B4-BE49-F238E27FC236}">
                  <a16:creationId xmlns:a16="http://schemas.microsoft.com/office/drawing/2014/main" id="{19A05071-F132-DE97-060E-EB7342D171BE}"/>
                </a:ext>
              </a:extLst>
            </p:cNvPr>
            <p:cNvSpPr/>
            <p:nvPr/>
          </p:nvSpPr>
          <p:spPr>
            <a:xfrm flipH="1" flipV="1">
              <a:off x="1440000" y="2162893"/>
              <a:ext cx="5705510" cy="3978562"/>
            </a:xfrm>
            <a:custGeom>
              <a:avLst/>
              <a:gdLst>
                <a:gd name="csX0" fmla="*/ 5100511 w 5635823"/>
                <a:gd name="csY0" fmla="*/ 3967753 h 3967753"/>
                <a:gd name="csX1" fmla="*/ 816051 w 5635823"/>
                <a:gd name="csY1" fmla="*/ 3967753 h 3967753"/>
                <a:gd name="csX2" fmla="*/ 319365 w 5635823"/>
                <a:gd name="csY2" fmla="*/ 3967753 h 3967753"/>
                <a:gd name="csX3" fmla="*/ 0 w 5635823"/>
                <a:gd name="csY3" fmla="*/ 3967753 h 3967753"/>
                <a:gd name="csX4" fmla="*/ 272017 w 5635823"/>
                <a:gd name="csY4" fmla="*/ 0 h 3967753"/>
                <a:gd name="csX5" fmla="*/ 1088068 w 5635823"/>
                <a:gd name="csY5" fmla="*/ 0 h 3967753"/>
                <a:gd name="csX6" fmla="*/ 1087536 w 5635823"/>
                <a:gd name="csY6" fmla="*/ 7759 h 3967753"/>
                <a:gd name="csX7" fmla="*/ 5635823 w 5635823"/>
                <a:gd name="csY7" fmla="*/ 7759 h 3967753"/>
                <a:gd name="csX8" fmla="*/ 5635823 w 5635823"/>
                <a:gd name="csY8" fmla="*/ 3432441 h 3967753"/>
                <a:gd name="csX9" fmla="*/ 5100511 w 5635823"/>
                <a:gd name="csY9" fmla="*/ 3967753 h 3967753"/>
                <a:gd name="csX0" fmla="*/ 5100511 w 5635823"/>
                <a:gd name="csY0" fmla="*/ 3967753 h 3967753"/>
                <a:gd name="csX1" fmla="*/ 816051 w 5635823"/>
                <a:gd name="csY1" fmla="*/ 3967753 h 3967753"/>
                <a:gd name="csX2" fmla="*/ 319365 w 5635823"/>
                <a:gd name="csY2" fmla="*/ 3967753 h 3967753"/>
                <a:gd name="csX3" fmla="*/ 0 w 5635823"/>
                <a:gd name="csY3" fmla="*/ 3967753 h 3967753"/>
                <a:gd name="csX4" fmla="*/ 272018 w 5635823"/>
                <a:gd name="csY4" fmla="*/ 14846 h 3967753"/>
                <a:gd name="csX5" fmla="*/ 1088068 w 5635823"/>
                <a:gd name="csY5" fmla="*/ 0 h 3967753"/>
                <a:gd name="csX6" fmla="*/ 1087536 w 5635823"/>
                <a:gd name="csY6" fmla="*/ 7759 h 3967753"/>
                <a:gd name="csX7" fmla="*/ 5635823 w 5635823"/>
                <a:gd name="csY7" fmla="*/ 7759 h 3967753"/>
                <a:gd name="csX8" fmla="*/ 5635823 w 5635823"/>
                <a:gd name="csY8" fmla="*/ 3432441 h 3967753"/>
                <a:gd name="csX9" fmla="*/ 5100511 w 5635823"/>
                <a:gd name="csY9" fmla="*/ 3967753 h 3967753"/>
                <a:gd name="csX0" fmla="*/ 5100511 w 5635823"/>
                <a:gd name="csY0" fmla="*/ 3967753 h 3967753"/>
                <a:gd name="csX1" fmla="*/ 816051 w 5635823"/>
                <a:gd name="csY1" fmla="*/ 3967753 h 3967753"/>
                <a:gd name="csX2" fmla="*/ 319365 w 5635823"/>
                <a:gd name="csY2" fmla="*/ 3967753 h 3967753"/>
                <a:gd name="csX3" fmla="*/ 0 w 5635823"/>
                <a:gd name="csY3" fmla="*/ 3967753 h 3967753"/>
                <a:gd name="csX4" fmla="*/ 272018 w 5635823"/>
                <a:gd name="csY4" fmla="*/ 14846 h 3967753"/>
                <a:gd name="csX5" fmla="*/ 1088068 w 5635823"/>
                <a:gd name="csY5" fmla="*/ 0 h 3967753"/>
                <a:gd name="csX6" fmla="*/ 1080132 w 5635823"/>
                <a:gd name="csY6" fmla="*/ 7759 h 3967753"/>
                <a:gd name="csX7" fmla="*/ 5635823 w 5635823"/>
                <a:gd name="csY7" fmla="*/ 7759 h 3967753"/>
                <a:gd name="csX8" fmla="*/ 5635823 w 5635823"/>
                <a:gd name="csY8" fmla="*/ 3432441 h 3967753"/>
                <a:gd name="csX9" fmla="*/ 5100511 w 5635823"/>
                <a:gd name="csY9" fmla="*/ 3967753 h 3967753"/>
                <a:gd name="csX0" fmla="*/ 5100511 w 5635823"/>
                <a:gd name="csY0" fmla="*/ 3967753 h 3967753"/>
                <a:gd name="csX1" fmla="*/ 816051 w 5635823"/>
                <a:gd name="csY1" fmla="*/ 3967753 h 3967753"/>
                <a:gd name="csX2" fmla="*/ 319365 w 5635823"/>
                <a:gd name="csY2" fmla="*/ 3967753 h 3967753"/>
                <a:gd name="csX3" fmla="*/ 0 w 5635823"/>
                <a:gd name="csY3" fmla="*/ 3967753 h 3967753"/>
                <a:gd name="csX4" fmla="*/ 272018 w 5635823"/>
                <a:gd name="csY4" fmla="*/ 14846 h 3967753"/>
                <a:gd name="csX5" fmla="*/ 1088068 w 5635823"/>
                <a:gd name="csY5" fmla="*/ 0 h 3967753"/>
                <a:gd name="csX6" fmla="*/ 1065325 w 5635823"/>
                <a:gd name="csY6" fmla="*/ 41163 h 3967753"/>
                <a:gd name="csX7" fmla="*/ 5635823 w 5635823"/>
                <a:gd name="csY7" fmla="*/ 7759 h 3967753"/>
                <a:gd name="csX8" fmla="*/ 5635823 w 5635823"/>
                <a:gd name="csY8" fmla="*/ 3432441 h 3967753"/>
                <a:gd name="csX9" fmla="*/ 5100511 w 5635823"/>
                <a:gd name="csY9" fmla="*/ 3967753 h 3967753"/>
                <a:gd name="csX0" fmla="*/ 5100511 w 5635823"/>
                <a:gd name="csY0" fmla="*/ 3959994 h 3959994"/>
                <a:gd name="csX1" fmla="*/ 816051 w 5635823"/>
                <a:gd name="csY1" fmla="*/ 3959994 h 3959994"/>
                <a:gd name="csX2" fmla="*/ 319365 w 5635823"/>
                <a:gd name="csY2" fmla="*/ 3959994 h 3959994"/>
                <a:gd name="csX3" fmla="*/ 0 w 5635823"/>
                <a:gd name="csY3" fmla="*/ 3959994 h 3959994"/>
                <a:gd name="csX4" fmla="*/ 272018 w 5635823"/>
                <a:gd name="csY4" fmla="*/ 7087 h 3959994"/>
                <a:gd name="csX5" fmla="*/ 1025138 w 5635823"/>
                <a:gd name="csY5" fmla="*/ 29358 h 3959994"/>
                <a:gd name="csX6" fmla="*/ 1065325 w 5635823"/>
                <a:gd name="csY6" fmla="*/ 33404 h 3959994"/>
                <a:gd name="csX7" fmla="*/ 5635823 w 5635823"/>
                <a:gd name="csY7" fmla="*/ 0 h 3959994"/>
                <a:gd name="csX8" fmla="*/ 5635823 w 5635823"/>
                <a:gd name="csY8" fmla="*/ 3424682 h 3959994"/>
                <a:gd name="csX9" fmla="*/ 5100511 w 5635823"/>
                <a:gd name="csY9" fmla="*/ 3959994 h 3959994"/>
                <a:gd name="csX0" fmla="*/ 5100511 w 5635823"/>
                <a:gd name="csY0" fmla="*/ 3959994 h 3959994"/>
                <a:gd name="csX1" fmla="*/ 816051 w 5635823"/>
                <a:gd name="csY1" fmla="*/ 3959994 h 3959994"/>
                <a:gd name="csX2" fmla="*/ 319365 w 5635823"/>
                <a:gd name="csY2" fmla="*/ 3959994 h 3959994"/>
                <a:gd name="csX3" fmla="*/ 0 w 5635823"/>
                <a:gd name="csY3" fmla="*/ 3959994 h 3959994"/>
                <a:gd name="csX4" fmla="*/ 264615 w 5635823"/>
                <a:gd name="csY4" fmla="*/ 29357 h 3959994"/>
                <a:gd name="csX5" fmla="*/ 1025138 w 5635823"/>
                <a:gd name="csY5" fmla="*/ 29358 h 3959994"/>
                <a:gd name="csX6" fmla="*/ 1065325 w 5635823"/>
                <a:gd name="csY6" fmla="*/ 33404 h 3959994"/>
                <a:gd name="csX7" fmla="*/ 5635823 w 5635823"/>
                <a:gd name="csY7" fmla="*/ 0 h 3959994"/>
                <a:gd name="csX8" fmla="*/ 5635823 w 5635823"/>
                <a:gd name="csY8" fmla="*/ 3424682 h 3959994"/>
                <a:gd name="csX9" fmla="*/ 5100511 w 5635823"/>
                <a:gd name="csY9" fmla="*/ 3959994 h 3959994"/>
                <a:gd name="csX0" fmla="*/ 5100511 w 5635823"/>
                <a:gd name="csY0" fmla="*/ 3959994 h 3959994"/>
                <a:gd name="csX1" fmla="*/ 816051 w 5635823"/>
                <a:gd name="csY1" fmla="*/ 3959994 h 3959994"/>
                <a:gd name="csX2" fmla="*/ 319365 w 5635823"/>
                <a:gd name="csY2" fmla="*/ 3959994 h 3959994"/>
                <a:gd name="csX3" fmla="*/ 0 w 5635823"/>
                <a:gd name="csY3" fmla="*/ 3959994 h 3959994"/>
                <a:gd name="csX4" fmla="*/ 264615 w 5635823"/>
                <a:gd name="csY4" fmla="*/ 29357 h 3959994"/>
                <a:gd name="csX5" fmla="*/ 1025138 w 5635823"/>
                <a:gd name="csY5" fmla="*/ 29358 h 3959994"/>
                <a:gd name="csX6" fmla="*/ 1069026 w 5635823"/>
                <a:gd name="csY6" fmla="*/ 25944 h 3959994"/>
                <a:gd name="csX7" fmla="*/ 5635823 w 5635823"/>
                <a:gd name="csY7" fmla="*/ 0 h 3959994"/>
                <a:gd name="csX8" fmla="*/ 5635823 w 5635823"/>
                <a:gd name="csY8" fmla="*/ 3424682 h 3959994"/>
                <a:gd name="csX9" fmla="*/ 5100511 w 5635823"/>
                <a:gd name="csY9" fmla="*/ 3959994 h 3959994"/>
                <a:gd name="csX0" fmla="*/ 5100511 w 5635823"/>
                <a:gd name="csY0" fmla="*/ 3959994 h 3959994"/>
                <a:gd name="csX1" fmla="*/ 816051 w 5635823"/>
                <a:gd name="csY1" fmla="*/ 3959994 h 3959994"/>
                <a:gd name="csX2" fmla="*/ 319365 w 5635823"/>
                <a:gd name="csY2" fmla="*/ 3959994 h 3959994"/>
                <a:gd name="csX3" fmla="*/ 0 w 5635823"/>
                <a:gd name="csY3" fmla="*/ 3959994 h 3959994"/>
                <a:gd name="csX4" fmla="*/ 264615 w 5635823"/>
                <a:gd name="csY4" fmla="*/ 29357 h 3959994"/>
                <a:gd name="csX5" fmla="*/ 1017735 w 5635823"/>
                <a:gd name="csY5" fmla="*/ 40549 h 3959994"/>
                <a:gd name="csX6" fmla="*/ 1069026 w 5635823"/>
                <a:gd name="csY6" fmla="*/ 25944 h 3959994"/>
                <a:gd name="csX7" fmla="*/ 5635823 w 5635823"/>
                <a:gd name="csY7" fmla="*/ 0 h 3959994"/>
                <a:gd name="csX8" fmla="*/ 5635823 w 5635823"/>
                <a:gd name="csY8" fmla="*/ 3424682 h 3959994"/>
                <a:gd name="csX9" fmla="*/ 5100511 w 5635823"/>
                <a:gd name="csY9" fmla="*/ 3959994 h 3959994"/>
                <a:gd name="csX0" fmla="*/ 5100511 w 5635823"/>
                <a:gd name="csY0" fmla="*/ 3959994 h 3959994"/>
                <a:gd name="csX1" fmla="*/ 816051 w 5635823"/>
                <a:gd name="csY1" fmla="*/ 3959994 h 3959994"/>
                <a:gd name="csX2" fmla="*/ 319365 w 5635823"/>
                <a:gd name="csY2" fmla="*/ 3959994 h 3959994"/>
                <a:gd name="csX3" fmla="*/ 0 w 5635823"/>
                <a:gd name="csY3" fmla="*/ 3959994 h 3959994"/>
                <a:gd name="csX4" fmla="*/ 264615 w 5635823"/>
                <a:gd name="csY4" fmla="*/ 29357 h 3959994"/>
                <a:gd name="csX5" fmla="*/ 1017735 w 5635823"/>
                <a:gd name="csY5" fmla="*/ 40549 h 3959994"/>
                <a:gd name="csX6" fmla="*/ 1069026 w 5635823"/>
                <a:gd name="csY6" fmla="*/ 25944 h 3959994"/>
                <a:gd name="csX7" fmla="*/ 5635823 w 5635823"/>
                <a:gd name="csY7" fmla="*/ 0 h 3959994"/>
                <a:gd name="csX8" fmla="*/ 5635823 w 5635823"/>
                <a:gd name="csY8" fmla="*/ 3424682 h 3959994"/>
                <a:gd name="csX9" fmla="*/ 5100511 w 5635823"/>
                <a:gd name="csY9" fmla="*/ 3959994 h 3959994"/>
                <a:gd name="csX0" fmla="*/ 5100511 w 5635823"/>
                <a:gd name="csY0" fmla="*/ 3959994 h 3959994"/>
                <a:gd name="csX1" fmla="*/ 816051 w 5635823"/>
                <a:gd name="csY1" fmla="*/ 3959994 h 3959994"/>
                <a:gd name="csX2" fmla="*/ 319365 w 5635823"/>
                <a:gd name="csY2" fmla="*/ 3959994 h 3959994"/>
                <a:gd name="csX3" fmla="*/ 0 w 5635823"/>
                <a:gd name="csY3" fmla="*/ 3959994 h 3959994"/>
                <a:gd name="csX4" fmla="*/ 264615 w 5635823"/>
                <a:gd name="csY4" fmla="*/ 29357 h 3959994"/>
                <a:gd name="csX5" fmla="*/ 1017735 w 5635823"/>
                <a:gd name="csY5" fmla="*/ 40549 h 3959994"/>
                <a:gd name="csX6" fmla="*/ 1505834 w 5635823"/>
                <a:gd name="csY6" fmla="*/ 108006 h 3959994"/>
                <a:gd name="csX7" fmla="*/ 5635823 w 5635823"/>
                <a:gd name="csY7" fmla="*/ 0 h 3959994"/>
                <a:gd name="csX8" fmla="*/ 5635823 w 5635823"/>
                <a:gd name="csY8" fmla="*/ 3424682 h 3959994"/>
                <a:gd name="csX9" fmla="*/ 5100511 w 5635823"/>
                <a:gd name="csY9" fmla="*/ 3959994 h 3959994"/>
                <a:gd name="csX0" fmla="*/ 5100511 w 5635823"/>
                <a:gd name="csY0" fmla="*/ 3959994 h 3959994"/>
                <a:gd name="csX1" fmla="*/ 816051 w 5635823"/>
                <a:gd name="csY1" fmla="*/ 3959994 h 3959994"/>
                <a:gd name="csX2" fmla="*/ 319365 w 5635823"/>
                <a:gd name="csY2" fmla="*/ 3959994 h 3959994"/>
                <a:gd name="csX3" fmla="*/ 0 w 5635823"/>
                <a:gd name="csY3" fmla="*/ 3959994 h 3959994"/>
                <a:gd name="csX4" fmla="*/ 264615 w 5635823"/>
                <a:gd name="csY4" fmla="*/ 29357 h 3959994"/>
                <a:gd name="csX5" fmla="*/ 1017735 w 5635823"/>
                <a:gd name="csY5" fmla="*/ 40549 h 3959994"/>
                <a:gd name="csX6" fmla="*/ 1525154 w 5635823"/>
                <a:gd name="csY6" fmla="*/ 20399 h 3959994"/>
                <a:gd name="csX7" fmla="*/ 5635823 w 5635823"/>
                <a:gd name="csY7" fmla="*/ 0 h 3959994"/>
                <a:gd name="csX8" fmla="*/ 5635823 w 5635823"/>
                <a:gd name="csY8" fmla="*/ 3424682 h 3959994"/>
                <a:gd name="csX9" fmla="*/ 5100511 w 5635823"/>
                <a:gd name="csY9" fmla="*/ 3959994 h 3959994"/>
                <a:gd name="csX0" fmla="*/ 5100511 w 5635823"/>
                <a:gd name="csY0" fmla="*/ 3959994 h 3959994"/>
                <a:gd name="csX1" fmla="*/ 816051 w 5635823"/>
                <a:gd name="csY1" fmla="*/ 3959994 h 3959994"/>
                <a:gd name="csX2" fmla="*/ 319365 w 5635823"/>
                <a:gd name="csY2" fmla="*/ 3959994 h 3959994"/>
                <a:gd name="csX3" fmla="*/ 0 w 5635823"/>
                <a:gd name="csY3" fmla="*/ 3959994 h 3959994"/>
                <a:gd name="csX4" fmla="*/ 264615 w 5635823"/>
                <a:gd name="csY4" fmla="*/ 29357 h 3959994"/>
                <a:gd name="csX5" fmla="*/ 988754 w 5635823"/>
                <a:gd name="csY5" fmla="*/ 64885 h 3959994"/>
                <a:gd name="csX6" fmla="*/ 1525154 w 5635823"/>
                <a:gd name="csY6" fmla="*/ 20399 h 3959994"/>
                <a:gd name="csX7" fmla="*/ 5635823 w 5635823"/>
                <a:gd name="csY7" fmla="*/ 0 h 3959994"/>
                <a:gd name="csX8" fmla="*/ 5635823 w 5635823"/>
                <a:gd name="csY8" fmla="*/ 3424682 h 3959994"/>
                <a:gd name="csX9" fmla="*/ 5100511 w 5635823"/>
                <a:gd name="csY9" fmla="*/ 3959994 h 3959994"/>
                <a:gd name="csX0" fmla="*/ 5100511 w 5635823"/>
                <a:gd name="csY0" fmla="*/ 3959994 h 3959994"/>
                <a:gd name="csX1" fmla="*/ 816051 w 5635823"/>
                <a:gd name="csY1" fmla="*/ 3959994 h 3959994"/>
                <a:gd name="csX2" fmla="*/ 319365 w 5635823"/>
                <a:gd name="csY2" fmla="*/ 3959994 h 3959994"/>
                <a:gd name="csX3" fmla="*/ 0 w 5635823"/>
                <a:gd name="csY3" fmla="*/ 3959994 h 3959994"/>
                <a:gd name="csX4" fmla="*/ 264615 w 5635823"/>
                <a:gd name="csY4" fmla="*/ 29357 h 3959994"/>
                <a:gd name="csX5" fmla="*/ 988754 w 5635823"/>
                <a:gd name="csY5" fmla="*/ 64885 h 3959994"/>
                <a:gd name="csX6" fmla="*/ 1525154 w 5635823"/>
                <a:gd name="csY6" fmla="*/ 20399 h 3959994"/>
                <a:gd name="csX7" fmla="*/ 5635823 w 5635823"/>
                <a:gd name="csY7" fmla="*/ 0 h 3959994"/>
                <a:gd name="csX8" fmla="*/ 5635823 w 5635823"/>
                <a:gd name="csY8" fmla="*/ 3424682 h 3959994"/>
                <a:gd name="csX9" fmla="*/ 5100511 w 5635823"/>
                <a:gd name="csY9" fmla="*/ 3959994 h 3959994"/>
                <a:gd name="csX0" fmla="*/ 5100511 w 5635823"/>
                <a:gd name="csY0" fmla="*/ 3959994 h 3959994"/>
                <a:gd name="csX1" fmla="*/ 816051 w 5635823"/>
                <a:gd name="csY1" fmla="*/ 3959994 h 3959994"/>
                <a:gd name="csX2" fmla="*/ 319365 w 5635823"/>
                <a:gd name="csY2" fmla="*/ 3959994 h 3959994"/>
                <a:gd name="csX3" fmla="*/ 0 w 5635823"/>
                <a:gd name="csY3" fmla="*/ 3959994 h 3959994"/>
                <a:gd name="csX4" fmla="*/ 264615 w 5635823"/>
                <a:gd name="csY4" fmla="*/ 29357 h 3959994"/>
                <a:gd name="csX5" fmla="*/ 988754 w 5635823"/>
                <a:gd name="csY5" fmla="*/ 64885 h 3959994"/>
                <a:gd name="csX6" fmla="*/ 1525154 w 5635823"/>
                <a:gd name="csY6" fmla="*/ 20399 h 3959994"/>
                <a:gd name="csX7" fmla="*/ 5635823 w 5635823"/>
                <a:gd name="csY7" fmla="*/ 0 h 3959994"/>
                <a:gd name="csX8" fmla="*/ 5635823 w 5635823"/>
                <a:gd name="csY8" fmla="*/ 3424682 h 3959994"/>
                <a:gd name="csX9" fmla="*/ 5100511 w 5635823"/>
                <a:gd name="csY9" fmla="*/ 3959994 h 3959994"/>
                <a:gd name="csX0" fmla="*/ 5100511 w 5635823"/>
                <a:gd name="csY0" fmla="*/ 3959994 h 3959994"/>
                <a:gd name="csX1" fmla="*/ 816051 w 5635823"/>
                <a:gd name="csY1" fmla="*/ 3959994 h 3959994"/>
                <a:gd name="csX2" fmla="*/ 319365 w 5635823"/>
                <a:gd name="csY2" fmla="*/ 3959994 h 3959994"/>
                <a:gd name="csX3" fmla="*/ 0 w 5635823"/>
                <a:gd name="csY3" fmla="*/ 3959994 h 3959994"/>
                <a:gd name="csX4" fmla="*/ 264615 w 5635823"/>
                <a:gd name="csY4" fmla="*/ 29357 h 3959994"/>
                <a:gd name="csX5" fmla="*/ 979094 w 5635823"/>
                <a:gd name="csY5" fmla="*/ 25948 h 3959994"/>
                <a:gd name="csX6" fmla="*/ 1525154 w 5635823"/>
                <a:gd name="csY6" fmla="*/ 20399 h 3959994"/>
                <a:gd name="csX7" fmla="*/ 5635823 w 5635823"/>
                <a:gd name="csY7" fmla="*/ 0 h 3959994"/>
                <a:gd name="csX8" fmla="*/ 5635823 w 5635823"/>
                <a:gd name="csY8" fmla="*/ 3424682 h 3959994"/>
                <a:gd name="csX9" fmla="*/ 5100511 w 5635823"/>
                <a:gd name="csY9" fmla="*/ 3959994 h 3959994"/>
                <a:gd name="csX0" fmla="*/ 5100511 w 5635823"/>
                <a:gd name="csY0" fmla="*/ 3959994 h 3959994"/>
                <a:gd name="csX1" fmla="*/ 816051 w 5635823"/>
                <a:gd name="csY1" fmla="*/ 3959994 h 3959994"/>
                <a:gd name="csX2" fmla="*/ 319365 w 5635823"/>
                <a:gd name="csY2" fmla="*/ 3959994 h 3959994"/>
                <a:gd name="csX3" fmla="*/ 0 w 5635823"/>
                <a:gd name="csY3" fmla="*/ 3959994 h 3959994"/>
                <a:gd name="csX4" fmla="*/ 264615 w 5635823"/>
                <a:gd name="csY4" fmla="*/ 29357 h 3959994"/>
                <a:gd name="csX5" fmla="*/ 979094 w 5635823"/>
                <a:gd name="csY5" fmla="*/ 25948 h 3959994"/>
                <a:gd name="csX6" fmla="*/ 1525154 w 5635823"/>
                <a:gd name="csY6" fmla="*/ 20399 h 3959994"/>
                <a:gd name="csX7" fmla="*/ 5635823 w 5635823"/>
                <a:gd name="csY7" fmla="*/ 0 h 3959994"/>
                <a:gd name="csX8" fmla="*/ 5635823 w 5635823"/>
                <a:gd name="csY8" fmla="*/ 3424682 h 3959994"/>
                <a:gd name="csX9" fmla="*/ 5100511 w 5635823"/>
                <a:gd name="csY9" fmla="*/ 3959994 h 395999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5635823" h="3959994">
                  <a:moveTo>
                    <a:pt x="5100511" y="3959994"/>
                  </a:moveTo>
                  <a:lnTo>
                    <a:pt x="816051" y="3959994"/>
                  </a:lnTo>
                  <a:lnTo>
                    <a:pt x="319365" y="3959994"/>
                  </a:lnTo>
                  <a:lnTo>
                    <a:pt x="0" y="3959994"/>
                  </a:lnTo>
                  <a:lnTo>
                    <a:pt x="264615" y="29357"/>
                  </a:lnTo>
                  <a:cubicBezTo>
                    <a:pt x="515655" y="33088"/>
                    <a:pt x="789281" y="23853"/>
                    <a:pt x="979094" y="25948"/>
                  </a:cubicBezTo>
                  <a:cubicBezTo>
                    <a:pt x="978917" y="28534"/>
                    <a:pt x="1525331" y="17813"/>
                    <a:pt x="1525154" y="20399"/>
                  </a:cubicBezTo>
                  <a:lnTo>
                    <a:pt x="5635823" y="0"/>
                  </a:lnTo>
                  <a:lnTo>
                    <a:pt x="5635823" y="3424682"/>
                  </a:lnTo>
                  <a:cubicBezTo>
                    <a:pt x="5635823" y="3720327"/>
                    <a:pt x="5396156" y="3959994"/>
                    <a:pt x="5100511" y="3959994"/>
                  </a:cubicBezTo>
                  <a:close/>
                </a:path>
              </a:pathLst>
            </a:custGeom>
            <a:solidFill>
              <a:srgbClr val="C44741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dirty="0"/>
            </a:p>
          </p:txBody>
        </p:sp>
        <p:pic>
          <p:nvPicPr>
            <p:cNvPr id="44" name="Picture 2" descr="플라튼(세븐나이츠 리버스) - 나무위키">
              <a:extLst>
                <a:ext uri="{FF2B5EF4-FFF2-40B4-BE49-F238E27FC236}">
                  <a16:creationId xmlns:a16="http://schemas.microsoft.com/office/drawing/2014/main" id="{E59B14E5-F1BD-4C50-5F19-8ABCE60BF6CD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">
              <a:alphaModFix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6650" t="21897" r="30795" b="32317"/>
            <a:stretch>
              <a:fillRect/>
            </a:stretch>
          </p:blipFill>
          <p:spPr bwMode="auto">
            <a:xfrm>
              <a:off x="10560920" y="2162195"/>
              <a:ext cx="237747" cy="3140042"/>
            </a:xfrm>
            <a:prstGeom prst="rect">
              <a:avLst/>
            </a:prstGeom>
            <a:noFill/>
            <a:effectLst>
              <a:softEdge rad="0"/>
            </a:effectLst>
          </p:spPr>
        </p:pic>
        <p:sp>
          <p:nvSpPr>
            <p:cNvPr id="42" name="자유형 41">
              <a:extLst>
                <a:ext uri="{FF2B5EF4-FFF2-40B4-BE49-F238E27FC236}">
                  <a16:creationId xmlns:a16="http://schemas.microsoft.com/office/drawing/2014/main" id="{AFBCC673-3828-0F8F-DDA8-EA91482A538B}"/>
                </a:ext>
              </a:extLst>
            </p:cNvPr>
            <p:cNvSpPr/>
            <p:nvPr/>
          </p:nvSpPr>
          <p:spPr>
            <a:xfrm>
              <a:off x="6865935" y="2156617"/>
              <a:ext cx="3932731" cy="3973957"/>
            </a:xfrm>
            <a:custGeom>
              <a:avLst/>
              <a:gdLst>
                <a:gd name="csX0" fmla="*/ 869518 w 3949335"/>
                <a:gd name="csY0" fmla="*/ 0 h 3967753"/>
                <a:gd name="csX1" fmla="*/ 3949335 w 3949335"/>
                <a:gd name="csY1" fmla="*/ 0 h 3967753"/>
                <a:gd name="csX2" fmla="*/ 3949335 w 3949335"/>
                <a:gd name="csY2" fmla="*/ 3351764 h 3967753"/>
                <a:gd name="csX3" fmla="*/ 3333357 w 3949335"/>
                <a:gd name="csY3" fmla="*/ 3967742 h 3967753"/>
                <a:gd name="csX4" fmla="*/ 812176 w 3949335"/>
                <a:gd name="csY4" fmla="*/ 3967742 h 3967753"/>
                <a:gd name="csX5" fmla="*/ 812175 w 3949335"/>
                <a:gd name="csY5" fmla="*/ 3967753 h 3967753"/>
                <a:gd name="csX6" fmla="*/ 0 w 3949335"/>
                <a:gd name="csY6" fmla="*/ 3967753 h 3967753"/>
                <a:gd name="csX7" fmla="*/ 270725 w 3949335"/>
                <a:gd name="csY7" fmla="*/ 10 h 3967753"/>
                <a:gd name="csX8" fmla="*/ 869419 w 3949335"/>
                <a:gd name="csY8" fmla="*/ 10 h 396775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3949335" h="3967753">
                  <a:moveTo>
                    <a:pt x="869518" y="0"/>
                  </a:moveTo>
                  <a:lnTo>
                    <a:pt x="3949335" y="0"/>
                  </a:lnTo>
                  <a:lnTo>
                    <a:pt x="3949335" y="3351764"/>
                  </a:lnTo>
                  <a:cubicBezTo>
                    <a:pt x="3949335" y="3691959"/>
                    <a:pt x="3673552" y="3967742"/>
                    <a:pt x="3333357" y="3967742"/>
                  </a:cubicBezTo>
                  <a:lnTo>
                    <a:pt x="812176" y="3967742"/>
                  </a:lnTo>
                  <a:lnTo>
                    <a:pt x="812175" y="3967753"/>
                  </a:lnTo>
                  <a:lnTo>
                    <a:pt x="0" y="3967753"/>
                  </a:lnTo>
                  <a:lnTo>
                    <a:pt x="270725" y="10"/>
                  </a:lnTo>
                  <a:lnTo>
                    <a:pt x="869419" y="10"/>
                  </a:lnTo>
                  <a:close/>
                </a:path>
              </a:pathLst>
            </a:custGeom>
            <a:solidFill>
              <a:srgbClr val="1C5397">
                <a:alpha val="7036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dirty="0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12CEDA49-9738-9BD0-F30E-BABFDBAB49B5}"/>
                </a:ext>
              </a:extLst>
            </p:cNvPr>
            <p:cNvSpPr txBox="1"/>
            <p:nvPr/>
          </p:nvSpPr>
          <p:spPr>
            <a:xfrm>
              <a:off x="3741946" y="3666394"/>
              <a:ext cx="1492649" cy="9848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ko-KR" sz="4000" dirty="0">
                  <a:solidFill>
                    <a:schemeClr val="bg1"/>
                  </a:solidFill>
                  <a:latin typeface="GyeonggiTitleOTF Light" panose="02020403020101020101" pitchFamily="18" charset="-127"/>
                  <a:ea typeface="GyeonggiTitleOTF Light" panose="02020403020101020101" pitchFamily="18" charset="-127"/>
                  <a:cs typeface="KOTRA LEAP" panose="020B0600000101010101" pitchFamily="34" charset="-127"/>
                </a:rPr>
                <a:t>58%</a:t>
              </a:r>
              <a:r>
                <a:rPr kumimoji="1" lang="ko-KR" altLang="en-US" sz="4000" dirty="0">
                  <a:solidFill>
                    <a:schemeClr val="bg1"/>
                  </a:solidFill>
                  <a:latin typeface="GyeonggiTitleOTF Light" panose="02020403020101020101" pitchFamily="18" charset="-127"/>
                  <a:ea typeface="GyeonggiTitleOTF Light" panose="02020403020101020101" pitchFamily="18" charset="-127"/>
                  <a:cs typeface="KOTRA LEAP" panose="020B0600000101010101" pitchFamily="34" charset="-127"/>
                </a:rPr>
                <a:t> </a:t>
              </a:r>
              <a:endParaRPr kumimoji="1" lang="en-US" altLang="ko-KR" sz="4000" dirty="0">
                <a:solidFill>
                  <a:schemeClr val="bg1"/>
                </a:solidFill>
                <a:latin typeface="GyeonggiTitleOTF Light" panose="02020403020101020101" pitchFamily="18" charset="-127"/>
                <a:ea typeface="GyeonggiTitleOTF Light" panose="02020403020101020101" pitchFamily="18" charset="-127"/>
                <a:cs typeface="KOTRA LEAP" panose="020B0600000101010101" pitchFamily="34" charset="-127"/>
              </a:endParaRPr>
            </a:p>
            <a:p>
              <a:endParaRPr kumimoji="1" lang="ko-KR" altLang="en-US" dirty="0">
                <a:latin typeface="GyeonggiTitleOTF Light" panose="02020403020101020101" pitchFamily="18" charset="-127"/>
                <a:ea typeface="GyeonggiTitleOTF Light" panose="02020403020101020101" pitchFamily="18" charset="-127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5845EFD0-080D-AB88-12F2-B4AF16AC9BDA}"/>
                </a:ext>
              </a:extLst>
            </p:cNvPr>
            <p:cNvSpPr txBox="1"/>
            <p:nvPr/>
          </p:nvSpPr>
          <p:spPr>
            <a:xfrm>
              <a:off x="7995349" y="3630502"/>
              <a:ext cx="1673000" cy="126188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ko-KR" sz="4000" dirty="0">
                  <a:solidFill>
                    <a:schemeClr val="bg1"/>
                  </a:solidFill>
                  <a:latin typeface="GyeonggiTitleOTF Light" panose="02020403020101020101" pitchFamily="18" charset="-127"/>
                  <a:ea typeface="GyeonggiTitleOTF Light" panose="02020403020101020101" pitchFamily="18" charset="-127"/>
                </a:rPr>
                <a:t>42%</a:t>
              </a:r>
              <a:r>
                <a:rPr kumimoji="1" lang="ko-KR" altLang="en-US" sz="4000" dirty="0">
                  <a:solidFill>
                    <a:schemeClr val="bg1"/>
                  </a:solidFill>
                  <a:latin typeface="GyeonggiTitleOTF Light" panose="02020403020101020101" pitchFamily="18" charset="-127"/>
                  <a:ea typeface="GyeonggiTitleOTF Light" panose="02020403020101020101" pitchFamily="18" charset="-127"/>
                </a:rPr>
                <a:t> </a:t>
              </a:r>
              <a:endParaRPr kumimoji="1" lang="en-US" altLang="ko-KR" sz="4000" dirty="0">
                <a:solidFill>
                  <a:schemeClr val="bg1"/>
                </a:solidFill>
                <a:latin typeface="GyeonggiTitleOTF Light" panose="02020403020101020101" pitchFamily="18" charset="-127"/>
                <a:ea typeface="GyeonggiTitleOTF Light" panose="02020403020101020101" pitchFamily="18" charset="-127"/>
              </a:endParaRPr>
            </a:p>
            <a:p>
              <a:endParaRPr kumimoji="1" lang="ko-KR" altLang="en-US" sz="3600" dirty="0">
                <a:latin typeface="GyeonggiTitleVOTF Bold" panose="02020803020101020101" pitchFamily="18" charset="-127"/>
                <a:ea typeface="GyeonggiTitleVOTF Bold" panose="02020803020101020101" pitchFamily="18" charset="-127"/>
              </a:endParaRPr>
            </a:p>
          </p:txBody>
        </p:sp>
      </p:grpSp>
      <p:grpSp>
        <p:nvGrpSpPr>
          <p:cNvPr id="52" name="그룹 51">
            <a:extLst>
              <a:ext uri="{FF2B5EF4-FFF2-40B4-BE49-F238E27FC236}">
                <a16:creationId xmlns:a16="http://schemas.microsoft.com/office/drawing/2014/main" id="{9B96E03A-DF4C-6F5B-7BF1-D19C0D6EFA44}"/>
              </a:ext>
            </a:extLst>
          </p:cNvPr>
          <p:cNvGrpSpPr/>
          <p:nvPr/>
        </p:nvGrpSpPr>
        <p:grpSpPr>
          <a:xfrm>
            <a:off x="9520525" y="5677031"/>
            <a:ext cx="1425246" cy="446563"/>
            <a:chOff x="9694228" y="857111"/>
            <a:chExt cx="1425246" cy="446563"/>
          </a:xfrm>
        </p:grpSpPr>
        <p:sp>
          <p:nvSpPr>
            <p:cNvPr id="46" name="모서리가 둥근 직사각형 45">
              <a:extLst>
                <a:ext uri="{FF2B5EF4-FFF2-40B4-BE49-F238E27FC236}">
                  <a16:creationId xmlns:a16="http://schemas.microsoft.com/office/drawing/2014/main" id="{5C138A17-9DAA-93A5-046B-2E8087FB421D}"/>
                </a:ext>
              </a:extLst>
            </p:cNvPr>
            <p:cNvSpPr/>
            <p:nvPr/>
          </p:nvSpPr>
          <p:spPr>
            <a:xfrm>
              <a:off x="9694228" y="857111"/>
              <a:ext cx="1425246" cy="446563"/>
            </a:xfrm>
            <a:prstGeom prst="roundRect">
              <a:avLst/>
            </a:prstGeom>
            <a:solidFill>
              <a:srgbClr val="DAD7D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ko-KR" altLang="en-US" dirty="0">
                  <a:solidFill>
                    <a:schemeClr val="tx1"/>
                  </a:solidFill>
                  <a:latin typeface="GyeonggiTitleVOTF Bold" panose="02020803020101020101" pitchFamily="18" charset="-127"/>
                  <a:ea typeface="GyeonggiTitleVOTF Bold" panose="02020803020101020101" pitchFamily="18" charset="-127"/>
                </a:rPr>
                <a:t>플라튼 </a:t>
              </a:r>
              <a:r>
                <a:rPr kumimoji="1" lang="en-US" altLang="ko-KR" dirty="0">
                  <a:solidFill>
                    <a:schemeClr val="tx1"/>
                  </a:solidFill>
                  <a:latin typeface="GyeonggiTitleVOTF Bold" panose="02020803020101020101" pitchFamily="18" charset="-127"/>
                  <a:ea typeface="GyeonggiTitleVOTF Bold" panose="02020803020101020101" pitchFamily="18" charset="-127"/>
                </a:rPr>
                <a:t>+ @</a:t>
              </a:r>
              <a:endParaRPr kumimoji="1" lang="ko-KR" altLang="en-US" dirty="0">
                <a:solidFill>
                  <a:schemeClr val="tx1"/>
                </a:solidFill>
                <a:latin typeface="GyeonggiTitleVOTF Bold" panose="02020803020101020101" pitchFamily="18" charset="-127"/>
                <a:ea typeface="GyeonggiTitleVOTF Bold" panose="02020803020101020101" pitchFamily="18" charset="-127"/>
              </a:endParaRPr>
            </a:p>
          </p:txBody>
        </p:sp>
        <p:pic>
          <p:nvPicPr>
            <p:cNvPr id="12" name="그림 11">
              <a:extLst>
                <a:ext uri="{FF2B5EF4-FFF2-40B4-BE49-F238E27FC236}">
                  <a16:creationId xmlns:a16="http://schemas.microsoft.com/office/drawing/2014/main" id="{AE22FB16-D089-A03F-0A1B-7451E6356738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681475" y="867978"/>
              <a:ext cx="424828" cy="424828"/>
            </a:xfrm>
            <a:prstGeom prst="rect">
              <a:avLst/>
            </a:prstGeom>
          </p:spPr>
        </p:pic>
      </p:grpSp>
      <p:grpSp>
        <p:nvGrpSpPr>
          <p:cNvPr id="53" name="그룹 52">
            <a:extLst>
              <a:ext uri="{FF2B5EF4-FFF2-40B4-BE49-F238E27FC236}">
                <a16:creationId xmlns:a16="http://schemas.microsoft.com/office/drawing/2014/main" id="{BCB1C635-5979-2C21-2F8E-D4A936E45D46}"/>
              </a:ext>
            </a:extLst>
          </p:cNvPr>
          <p:cNvGrpSpPr/>
          <p:nvPr/>
        </p:nvGrpSpPr>
        <p:grpSpPr>
          <a:xfrm>
            <a:off x="1152109" y="5733334"/>
            <a:ext cx="1242653" cy="446563"/>
            <a:chOff x="7516887" y="655355"/>
            <a:chExt cx="1242653" cy="446563"/>
          </a:xfrm>
        </p:grpSpPr>
        <p:sp>
          <p:nvSpPr>
            <p:cNvPr id="45" name="모서리가 둥근 직사각형 44">
              <a:extLst>
                <a:ext uri="{FF2B5EF4-FFF2-40B4-BE49-F238E27FC236}">
                  <a16:creationId xmlns:a16="http://schemas.microsoft.com/office/drawing/2014/main" id="{4BEDDC64-5948-8C64-2A24-95A9AE3CA6A2}"/>
                </a:ext>
              </a:extLst>
            </p:cNvPr>
            <p:cNvSpPr/>
            <p:nvPr/>
          </p:nvSpPr>
          <p:spPr>
            <a:xfrm>
              <a:off x="7516887" y="655355"/>
              <a:ext cx="1242653" cy="446563"/>
            </a:xfrm>
            <a:prstGeom prst="roundRect">
              <a:avLst/>
            </a:prstGeom>
            <a:solidFill>
              <a:srgbClr val="DAD7D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ko-KR" altLang="en-US" dirty="0">
                  <a:solidFill>
                    <a:schemeClr val="tx1"/>
                  </a:solidFill>
                  <a:latin typeface="GyeonggiTitleVOTF Bold" panose="02020803020101020101" pitchFamily="18" charset="-127"/>
                  <a:ea typeface="GyeonggiTitleVOTF Bold" panose="02020803020101020101" pitchFamily="18" charset="-127"/>
                </a:rPr>
                <a:t>카일 </a:t>
              </a:r>
              <a:r>
                <a:rPr kumimoji="1" lang="en-US" altLang="ko-KR" dirty="0">
                  <a:solidFill>
                    <a:schemeClr val="tx1"/>
                  </a:solidFill>
                  <a:latin typeface="GyeonggiTitleVOTF Bold" panose="02020803020101020101" pitchFamily="18" charset="-127"/>
                  <a:ea typeface="GyeonggiTitleVOTF Bold" panose="02020803020101020101" pitchFamily="18" charset="-127"/>
                </a:rPr>
                <a:t>+ @</a:t>
              </a:r>
              <a:endParaRPr kumimoji="1" lang="ko-KR" altLang="en-US" dirty="0">
                <a:solidFill>
                  <a:schemeClr val="tx1"/>
                </a:solidFill>
                <a:latin typeface="GyeonggiTitleVOTF Bold" panose="02020803020101020101" pitchFamily="18" charset="-127"/>
                <a:ea typeface="GyeonggiTitleVOTF Bold" panose="02020803020101020101" pitchFamily="18" charset="-127"/>
              </a:endParaRPr>
            </a:p>
          </p:txBody>
        </p:sp>
        <p:pic>
          <p:nvPicPr>
            <p:cNvPr id="2" name="그림 1">
              <a:extLst>
                <a:ext uri="{FF2B5EF4-FFF2-40B4-BE49-F238E27FC236}">
                  <a16:creationId xmlns:a16="http://schemas.microsoft.com/office/drawing/2014/main" id="{500A9A83-F9D2-F60D-3BC8-355568BE6B6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23916" y="666236"/>
              <a:ext cx="424800" cy="4248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368492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BA918AA-BE2A-38B4-3C7F-68F652B32B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0B4A53A1-CFEF-41E8-F0DE-7C5D943C28AB}"/>
              </a:ext>
            </a:extLst>
          </p:cNvPr>
          <p:cNvSpPr txBox="1"/>
          <p:nvPr/>
        </p:nvSpPr>
        <p:spPr>
          <a:xfrm>
            <a:off x="1072526" y="586716"/>
            <a:ext cx="3854037" cy="9079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500" dirty="0">
                <a:latin typeface="GyeonggiTitle Bold" panose="02020803020101020101" pitchFamily="18" charset="-127"/>
                <a:ea typeface="GyeonggiTitle Bold" panose="02020803020101020101" pitchFamily="18" charset="-127"/>
              </a:rPr>
              <a:t>PVP</a:t>
            </a:r>
            <a:r>
              <a:rPr lang="ko-KR" altLang="en-US" sz="3500" dirty="0">
                <a:latin typeface="GyeonggiTitle Bold" panose="02020803020101020101" pitchFamily="18" charset="-127"/>
                <a:ea typeface="GyeonggiTitle Bold" panose="02020803020101020101" pitchFamily="18" charset="-127"/>
              </a:rPr>
              <a:t> 메타</a:t>
            </a:r>
            <a:endParaRPr lang="en-US" altLang="ko-KR" sz="3500" dirty="0">
              <a:latin typeface="GyeonggiTitle Bold" panose="02020803020101020101" pitchFamily="18" charset="-127"/>
              <a:ea typeface="GyeonggiTitle Bold" panose="02020803020101020101" pitchFamily="18" charset="-127"/>
            </a:endParaRPr>
          </a:p>
          <a:p>
            <a:r>
              <a:rPr lang="ko-KR" altLang="en-US" dirty="0">
                <a:latin typeface="GyeonggiTitle Bold" panose="02020803020101020101" pitchFamily="18" charset="-127"/>
                <a:ea typeface="GyeonggiTitle Bold" panose="02020803020101020101" pitchFamily="18" charset="-127"/>
              </a:rPr>
              <a:t>결투장</a:t>
            </a:r>
            <a:r>
              <a:rPr lang="en-US" altLang="ko-KR" dirty="0">
                <a:latin typeface="GyeonggiTitle Bold" panose="02020803020101020101" pitchFamily="18" charset="-127"/>
                <a:ea typeface="GyeonggiTitle Bold" panose="02020803020101020101" pitchFamily="18" charset="-127"/>
              </a:rPr>
              <a:t> </a:t>
            </a:r>
            <a:r>
              <a:rPr lang="ko-KR" altLang="en-US" dirty="0">
                <a:latin typeface="GyeonggiTitle Bold" panose="02020803020101020101" pitchFamily="18" charset="-127"/>
                <a:ea typeface="GyeonggiTitle Bold" panose="02020803020101020101" pitchFamily="18" charset="-127"/>
              </a:rPr>
              <a:t>영웅기용 분포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87151A0-064E-F8F2-B2C0-8A3F74FA699C}"/>
              </a:ext>
            </a:extLst>
          </p:cNvPr>
          <p:cNvSpPr txBox="1"/>
          <p:nvPr/>
        </p:nvSpPr>
        <p:spPr>
          <a:xfrm>
            <a:off x="10324883" y="6314662"/>
            <a:ext cx="17812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000" dirty="0">
                <a:latin typeface="GyeonggiTitle Bold" panose="02020803020101020101" pitchFamily="18" charset="-127"/>
                <a:ea typeface="GyeonggiTitle Bold" panose="02020803020101020101" pitchFamily="18" charset="-127"/>
              </a:rPr>
              <a:t>2025-11-01</a:t>
            </a:r>
            <a:r>
              <a:rPr kumimoji="1" lang="ko-KR" altLang="en-US" sz="1000" dirty="0">
                <a:latin typeface="GyeonggiTitle Bold" panose="02020803020101020101" pitchFamily="18" charset="-127"/>
                <a:ea typeface="GyeonggiTitle Bold" panose="02020803020101020101" pitchFamily="18" charset="-127"/>
              </a:rPr>
              <a:t> </a:t>
            </a:r>
            <a:r>
              <a:rPr kumimoji="1" lang="en-US" altLang="ko-KR" sz="1000" dirty="0">
                <a:latin typeface="GyeonggiTitle Bold" panose="02020803020101020101" pitchFamily="18" charset="-127"/>
                <a:ea typeface="GyeonggiTitle Bold" panose="02020803020101020101" pitchFamily="18" charset="-127"/>
              </a:rPr>
              <a:t>KR</a:t>
            </a:r>
            <a:r>
              <a:rPr kumimoji="1" lang="ko-KR" altLang="en-US" sz="1000" dirty="0">
                <a:latin typeface="GyeonggiTitle Bold" panose="02020803020101020101" pitchFamily="18" charset="-127"/>
                <a:ea typeface="GyeonggiTitle Bold" panose="02020803020101020101" pitchFamily="18" charset="-127"/>
              </a:rPr>
              <a:t> </a:t>
            </a:r>
            <a:r>
              <a:rPr kumimoji="1" lang="en-US" altLang="ko-KR" sz="1000" dirty="0">
                <a:latin typeface="GyeonggiTitle Bold" panose="02020803020101020101" pitchFamily="18" charset="-127"/>
                <a:ea typeface="GyeonggiTitle Bold" panose="02020803020101020101" pitchFamily="18" charset="-127"/>
              </a:rPr>
              <a:t>1</a:t>
            </a:r>
            <a:r>
              <a:rPr kumimoji="1" lang="ko-KR" altLang="en-US" sz="1000" dirty="0">
                <a:latin typeface="GyeonggiTitle Bold" panose="02020803020101020101" pitchFamily="18" charset="-127"/>
                <a:ea typeface="GyeonggiTitle Bold" panose="02020803020101020101" pitchFamily="18" charset="-127"/>
              </a:rPr>
              <a:t>서버 기준</a:t>
            </a:r>
            <a:endParaRPr kumimoji="1" lang="en-US" altLang="ko-KR" sz="1000" dirty="0">
              <a:latin typeface="GyeonggiTitle Bold" panose="02020803020101020101" pitchFamily="18" charset="-127"/>
              <a:ea typeface="GyeonggiTitle Bold" panose="02020803020101020101" pitchFamily="18" charset="-127"/>
            </a:endParaRPr>
          </a:p>
          <a:p>
            <a:r>
              <a:rPr kumimoji="1" lang="ko-KR" altLang="en-US" sz="1000" dirty="0">
                <a:latin typeface="GyeonggiTitle Bold" panose="02020803020101020101" pitchFamily="18" charset="-127"/>
                <a:ea typeface="GyeonggiTitle Bold" panose="02020803020101020101" pitchFamily="18" charset="-127"/>
              </a:rPr>
              <a:t>상위 </a:t>
            </a:r>
            <a:r>
              <a:rPr kumimoji="1" lang="en-US" altLang="ko-KR" sz="1000" dirty="0">
                <a:latin typeface="GyeonggiTitle Bold" panose="02020803020101020101" pitchFamily="18" charset="-127"/>
                <a:ea typeface="GyeonggiTitle Bold" panose="02020803020101020101" pitchFamily="18" charset="-127"/>
              </a:rPr>
              <a:t>50</a:t>
            </a:r>
            <a:r>
              <a:rPr kumimoji="1" lang="ko-KR" altLang="en-US" sz="1000" dirty="0">
                <a:latin typeface="GyeonggiTitle Bold" panose="02020803020101020101" pitchFamily="18" charset="-127"/>
                <a:ea typeface="GyeonggiTitle Bold" panose="02020803020101020101" pitchFamily="18" charset="-127"/>
              </a:rPr>
              <a:t>명 유저의 덱 구성</a:t>
            </a: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B1B324E6-7E8F-7297-CD25-C45CBEC05E0E}"/>
              </a:ext>
            </a:extLst>
          </p:cNvPr>
          <p:cNvGrpSpPr/>
          <p:nvPr/>
        </p:nvGrpSpPr>
        <p:grpSpPr>
          <a:xfrm>
            <a:off x="1440000" y="1440000"/>
            <a:ext cx="9368893" cy="4860000"/>
            <a:chOff x="1577506" y="1494657"/>
            <a:chExt cx="9462919" cy="4844803"/>
          </a:xfrm>
          <a:effectLst>
            <a:outerShdw blurRad="50800" dist="278152" dir="2160000" sx="98160" sy="98160" algn="ctr" rotWithShape="0">
              <a:srgbClr val="000000">
                <a:alpha val="52000"/>
              </a:srgbClr>
            </a:outerShdw>
          </a:effectLst>
        </p:grpSpPr>
        <p:grpSp>
          <p:nvGrpSpPr>
            <p:cNvPr id="6" name="그룹 5">
              <a:extLst>
                <a:ext uri="{FF2B5EF4-FFF2-40B4-BE49-F238E27FC236}">
                  <a16:creationId xmlns:a16="http://schemas.microsoft.com/office/drawing/2014/main" id="{002C6FD6-FC00-728E-54C2-44566D137107}"/>
                </a:ext>
              </a:extLst>
            </p:cNvPr>
            <p:cNvGrpSpPr/>
            <p:nvPr/>
          </p:nvGrpSpPr>
          <p:grpSpPr>
            <a:xfrm>
              <a:off x="1577506" y="1494657"/>
              <a:ext cx="9453937" cy="4844803"/>
              <a:chOff x="-3912412" y="0"/>
              <a:chExt cx="9453937" cy="5552661"/>
            </a:xfrm>
          </p:grpSpPr>
          <p:sp>
            <p:nvSpPr>
              <p:cNvPr id="12" name="대각선 방향의 모서리가 둥근 사각형 11">
                <a:extLst>
                  <a:ext uri="{FF2B5EF4-FFF2-40B4-BE49-F238E27FC236}">
                    <a16:creationId xmlns:a16="http://schemas.microsoft.com/office/drawing/2014/main" id="{204D19CF-B63D-682B-6A4B-8DE275FE04BA}"/>
                  </a:ext>
                </a:extLst>
              </p:cNvPr>
              <p:cNvSpPr/>
              <p:nvPr/>
            </p:nvSpPr>
            <p:spPr>
              <a:xfrm>
                <a:off x="-3912412" y="0"/>
                <a:ext cx="9448800" cy="5552661"/>
              </a:xfrm>
              <a:prstGeom prst="round2DiagRect">
                <a:avLst/>
              </a:prstGeom>
              <a:solidFill>
                <a:srgbClr val="393833"/>
              </a:solidFill>
              <a:ln>
                <a:solidFill>
                  <a:srgbClr val="DEDCDA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R" altLang="en-US">
                  <a:latin typeface="GyeonggiTitle Bold" panose="02020803020101020101" pitchFamily="18" charset="-127"/>
                  <a:ea typeface="GyeonggiTitle Bold" panose="02020803020101020101" pitchFamily="18" charset="-127"/>
                </a:endParaRPr>
              </a:p>
            </p:txBody>
          </p:sp>
          <p:grpSp>
            <p:nvGrpSpPr>
              <p:cNvPr id="13" name="그룹 12">
                <a:extLst>
                  <a:ext uri="{FF2B5EF4-FFF2-40B4-BE49-F238E27FC236}">
                    <a16:creationId xmlns:a16="http://schemas.microsoft.com/office/drawing/2014/main" id="{0FA24E78-45CA-7987-26C0-CD3B3B37DF64}"/>
                  </a:ext>
                </a:extLst>
              </p:cNvPr>
              <p:cNvGrpSpPr/>
              <p:nvPr/>
            </p:nvGrpSpPr>
            <p:grpSpPr>
              <a:xfrm>
                <a:off x="-3907277" y="767427"/>
                <a:ext cx="9448802" cy="4616792"/>
                <a:chOff x="1852242" y="979257"/>
                <a:chExt cx="9448802" cy="4448527"/>
              </a:xfrm>
            </p:grpSpPr>
            <p:sp>
              <p:nvSpPr>
                <p:cNvPr id="14" name="한쪽 모서리가 둥근 사각형 13">
                  <a:extLst>
                    <a:ext uri="{FF2B5EF4-FFF2-40B4-BE49-F238E27FC236}">
                      <a16:creationId xmlns:a16="http://schemas.microsoft.com/office/drawing/2014/main" id="{A5EFB7D5-5C5E-3B2C-C70A-4A52D635CBEF}"/>
                    </a:ext>
                  </a:extLst>
                </p:cNvPr>
                <p:cNvSpPr/>
                <p:nvPr/>
              </p:nvSpPr>
              <p:spPr>
                <a:xfrm flipV="1">
                  <a:off x="6505224" y="979257"/>
                  <a:ext cx="4795820" cy="4448525"/>
                </a:xfrm>
                <a:prstGeom prst="round1Rect">
                  <a:avLst>
                    <a:gd name="adj" fmla="val 22000"/>
                  </a:avLst>
                </a:prstGeom>
                <a:solidFill>
                  <a:srgbClr val="DAD7D5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ko-KR" altLang="en-US" dirty="0">
                    <a:latin typeface="GyeonggiTitle Bold" panose="02020803020101020101" pitchFamily="18" charset="-127"/>
                    <a:ea typeface="GyeonggiTitle Bold" panose="02020803020101020101" pitchFamily="18" charset="-127"/>
                  </a:endParaRPr>
                </a:p>
              </p:txBody>
            </p:sp>
            <p:sp>
              <p:nvSpPr>
                <p:cNvPr id="16" name="한쪽 모서리가 둥근 사각형 15">
                  <a:extLst>
                    <a:ext uri="{FF2B5EF4-FFF2-40B4-BE49-F238E27FC236}">
                      <a16:creationId xmlns:a16="http://schemas.microsoft.com/office/drawing/2014/main" id="{A8C2F5C9-7F0E-CAAA-907D-FD1552060338}"/>
                    </a:ext>
                  </a:extLst>
                </p:cNvPr>
                <p:cNvSpPr/>
                <p:nvPr/>
              </p:nvSpPr>
              <p:spPr>
                <a:xfrm flipH="1">
                  <a:off x="1852242" y="979257"/>
                  <a:ext cx="4795821" cy="4448527"/>
                </a:xfrm>
                <a:prstGeom prst="round1Rect">
                  <a:avLst>
                    <a:gd name="adj" fmla="val 13667"/>
                  </a:avLst>
                </a:prstGeom>
                <a:solidFill>
                  <a:srgbClr val="DAD7D5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ko-KR" altLang="en-US" dirty="0">
                    <a:latin typeface="GyeonggiTitle Bold" panose="02020803020101020101" pitchFamily="18" charset="-127"/>
                    <a:ea typeface="GyeonggiTitle Bold" panose="02020803020101020101" pitchFamily="18" charset="-127"/>
                  </a:endParaRPr>
                </a:p>
              </p:txBody>
            </p:sp>
          </p:grpSp>
        </p:grp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8715BEE2-EE84-2C1A-525F-BA6ACE6AD920}"/>
                </a:ext>
              </a:extLst>
            </p:cNvPr>
            <p:cNvSpPr txBox="1"/>
            <p:nvPr/>
          </p:nvSpPr>
          <p:spPr>
            <a:xfrm>
              <a:off x="2156552" y="1607562"/>
              <a:ext cx="8883873" cy="460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ko-KR" altLang="en-US" sz="2400" b="1" dirty="0">
                  <a:solidFill>
                    <a:schemeClr val="bg1"/>
                  </a:solidFill>
                  <a:latin typeface="GYEONGGITITLEOTF LIGHT" panose="02020403020101020101" pitchFamily="18" charset="-127"/>
                  <a:ea typeface="GYEONGGITITLEOTF LIGHT" panose="02020403020101020101" pitchFamily="18" charset="-127"/>
                </a:rPr>
                <a:t>플라튼 중심</a:t>
              </a:r>
              <a:r>
                <a:rPr kumimoji="1" lang="en-US" altLang="ko-KR" sz="2400" b="1" dirty="0">
                  <a:solidFill>
                    <a:schemeClr val="bg1"/>
                  </a:solidFill>
                  <a:latin typeface="GYEONGGITITLEOTF LIGHT" panose="02020403020101020101" pitchFamily="18" charset="-127"/>
                  <a:ea typeface="GYEONGGITITLEOTF LIGHT" panose="02020403020101020101" pitchFamily="18" charset="-127"/>
                </a:rPr>
                <a:t>,</a:t>
              </a:r>
              <a:r>
                <a:rPr kumimoji="1" lang="ko-KR" altLang="en-US" sz="2400" b="1" dirty="0">
                  <a:solidFill>
                    <a:schemeClr val="bg1"/>
                  </a:solidFill>
                  <a:latin typeface="GYEONGGITITLEOTF LIGHT" panose="02020403020101020101" pitchFamily="18" charset="-127"/>
                  <a:ea typeface="GYEONGGITITLEOTF LIGHT" panose="02020403020101020101" pitchFamily="18" charset="-127"/>
                </a:rPr>
                <a:t> </a:t>
              </a:r>
              <a:r>
                <a:rPr kumimoji="1" lang="en-US" altLang="ko-KR" sz="2400" b="1" dirty="0">
                  <a:solidFill>
                    <a:schemeClr val="bg1"/>
                  </a:solidFill>
                  <a:latin typeface="GYEONGGITITLEOTF LIGHT" panose="02020403020101020101" pitchFamily="18" charset="-127"/>
                  <a:ea typeface="GYEONGGITITLEOTF LIGHT" panose="02020403020101020101" pitchFamily="18" charset="-127"/>
                </a:rPr>
                <a:t>cc</a:t>
              </a:r>
              <a:r>
                <a:rPr kumimoji="1" lang="ko-KR" altLang="en-US" sz="2400" b="1" dirty="0">
                  <a:solidFill>
                    <a:schemeClr val="bg1"/>
                  </a:solidFill>
                  <a:latin typeface="GYEONGGITITLEOTF LIGHT" panose="02020403020101020101" pitchFamily="18" charset="-127"/>
                  <a:ea typeface="GYEONGGITITLEOTF LIGHT" panose="02020403020101020101" pitchFamily="18" charset="-127"/>
                </a:rPr>
                <a:t> 및 부활을 통한 장기 전투 </a:t>
              </a: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87F714F2-1DAF-2560-7BAA-B6C8D009B850}"/>
              </a:ext>
            </a:extLst>
          </p:cNvPr>
          <p:cNvSpPr txBox="1"/>
          <p:nvPr/>
        </p:nvSpPr>
        <p:spPr>
          <a:xfrm>
            <a:off x="5848109" y="6412606"/>
            <a:ext cx="49578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ko-KR" sz="1000" dirty="0">
                <a:latin typeface="GyeonggiTitle Bold" panose="02020803020101020101" pitchFamily="18" charset="-127"/>
                <a:ea typeface="GyeonggiTitle Bold" panose="02020803020101020101" pitchFamily="18" charset="-127"/>
              </a:rPr>
              <a:t>- 7 - </a:t>
            </a:r>
            <a:endParaRPr kumimoji="1" lang="ko-KR" altLang="en-US" sz="1000" dirty="0">
              <a:latin typeface="GyeonggiTitle Bold" panose="02020803020101020101" pitchFamily="18" charset="-127"/>
              <a:ea typeface="GyeonggiTitle Bold" panose="02020803020101020101" pitchFamily="18" charset="-127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756C6AD8-894C-C983-8A4A-AE5230D35EE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61854" y="2204377"/>
            <a:ext cx="540000" cy="540000"/>
          </a:xfrm>
          <a:prstGeom prst="rect">
            <a:avLst/>
          </a:prstGeom>
        </p:spPr>
      </p:pic>
      <p:grpSp>
        <p:nvGrpSpPr>
          <p:cNvPr id="38" name="그룹 37">
            <a:extLst>
              <a:ext uri="{FF2B5EF4-FFF2-40B4-BE49-F238E27FC236}">
                <a16:creationId xmlns:a16="http://schemas.microsoft.com/office/drawing/2014/main" id="{1BE0AD25-6710-120A-38BE-D41F28ACC1C1}"/>
              </a:ext>
            </a:extLst>
          </p:cNvPr>
          <p:cNvGrpSpPr/>
          <p:nvPr/>
        </p:nvGrpSpPr>
        <p:grpSpPr>
          <a:xfrm>
            <a:off x="2064198" y="2230661"/>
            <a:ext cx="472419" cy="3752320"/>
            <a:chOff x="2013291" y="2113941"/>
            <a:chExt cx="472419" cy="3752320"/>
          </a:xfrm>
        </p:grpSpPr>
        <p:sp>
          <p:nvSpPr>
            <p:cNvPr id="28" name="타원 27">
              <a:extLst>
                <a:ext uri="{FF2B5EF4-FFF2-40B4-BE49-F238E27FC236}">
                  <a16:creationId xmlns:a16="http://schemas.microsoft.com/office/drawing/2014/main" id="{2FFA5134-00F1-33B2-6984-0856882F663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013291" y="2113941"/>
              <a:ext cx="467420" cy="468000"/>
            </a:xfrm>
            <a:prstGeom prst="ellipse">
              <a:avLst/>
            </a:prstGeom>
            <a:blipFill>
              <a:blip r:embed="rId4"/>
              <a:stretch>
                <a:fillRect/>
              </a:stretch>
            </a:blipFill>
            <a:ln>
              <a:solidFill>
                <a:srgbClr val="C9B48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dirty="0"/>
            </a:p>
          </p:txBody>
        </p:sp>
        <p:sp>
          <p:nvSpPr>
            <p:cNvPr id="29" name="타원 28">
              <a:extLst>
                <a:ext uri="{FF2B5EF4-FFF2-40B4-BE49-F238E27FC236}">
                  <a16:creationId xmlns:a16="http://schemas.microsoft.com/office/drawing/2014/main" id="{ED625140-00AB-7CA6-9E7B-618066900E6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013291" y="2586101"/>
              <a:ext cx="467420" cy="468000"/>
            </a:xfrm>
            <a:prstGeom prst="ellipse">
              <a:avLst/>
            </a:prstGeom>
            <a:blipFill>
              <a:blip r:embed="rId5"/>
              <a:stretch>
                <a:fillRect/>
              </a:stretch>
            </a:blipFill>
            <a:ln>
              <a:solidFill>
                <a:srgbClr val="C9B48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dirty="0"/>
            </a:p>
          </p:txBody>
        </p:sp>
        <p:sp>
          <p:nvSpPr>
            <p:cNvPr id="30" name="타원 29">
              <a:extLst>
                <a:ext uri="{FF2B5EF4-FFF2-40B4-BE49-F238E27FC236}">
                  <a16:creationId xmlns:a16="http://schemas.microsoft.com/office/drawing/2014/main" id="{7C654935-3F39-4CF5-FB83-B08DDF6D0DC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018290" y="3054101"/>
              <a:ext cx="467420" cy="468000"/>
            </a:xfrm>
            <a:prstGeom prst="ellipse">
              <a:avLst/>
            </a:prstGeom>
            <a:blipFill>
              <a:blip r:embed="rId6"/>
              <a:stretch>
                <a:fillRect/>
              </a:stretch>
            </a:blipFill>
            <a:ln>
              <a:solidFill>
                <a:srgbClr val="C9B48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31" name="타원 30">
              <a:extLst>
                <a:ext uri="{FF2B5EF4-FFF2-40B4-BE49-F238E27FC236}">
                  <a16:creationId xmlns:a16="http://schemas.microsoft.com/office/drawing/2014/main" id="{BC38634E-E57E-841B-9D76-B0F87D943A6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013291" y="3526261"/>
              <a:ext cx="467420" cy="468000"/>
            </a:xfrm>
            <a:prstGeom prst="ellipse">
              <a:avLst/>
            </a:prstGeom>
            <a:blipFill>
              <a:blip r:embed="rId7"/>
              <a:stretch>
                <a:fillRect/>
              </a:stretch>
            </a:blipFill>
            <a:ln>
              <a:solidFill>
                <a:srgbClr val="C9B48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32" name="타원 31">
              <a:extLst>
                <a:ext uri="{FF2B5EF4-FFF2-40B4-BE49-F238E27FC236}">
                  <a16:creationId xmlns:a16="http://schemas.microsoft.com/office/drawing/2014/main" id="{0F738693-A547-BAF5-740A-D880857F485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013291" y="3994261"/>
              <a:ext cx="467420" cy="468000"/>
            </a:xfrm>
            <a:prstGeom prst="ellipse">
              <a:avLst/>
            </a:prstGeom>
            <a:blipFill>
              <a:blip r:embed="rId8"/>
              <a:stretch>
                <a:fillRect/>
              </a:stretch>
            </a:blipFill>
            <a:ln>
              <a:solidFill>
                <a:srgbClr val="C9B48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34" name="타원 33">
              <a:extLst>
                <a:ext uri="{FF2B5EF4-FFF2-40B4-BE49-F238E27FC236}">
                  <a16:creationId xmlns:a16="http://schemas.microsoft.com/office/drawing/2014/main" id="{DE5DC9DA-07EA-E52C-153F-A9EC405EE40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013291" y="4462261"/>
              <a:ext cx="467420" cy="468000"/>
            </a:xfrm>
            <a:prstGeom prst="ellipse">
              <a:avLst/>
            </a:prstGeom>
            <a:blipFill>
              <a:blip r:embed="rId9"/>
              <a:stretch>
                <a:fillRect/>
              </a:stretch>
            </a:blipFill>
            <a:ln>
              <a:solidFill>
                <a:srgbClr val="C9B48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35" name="타원 34">
              <a:extLst>
                <a:ext uri="{FF2B5EF4-FFF2-40B4-BE49-F238E27FC236}">
                  <a16:creationId xmlns:a16="http://schemas.microsoft.com/office/drawing/2014/main" id="{125A256C-A0E9-95E9-A38F-03854B15C80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013291" y="4930261"/>
              <a:ext cx="467420" cy="468000"/>
            </a:xfrm>
            <a:prstGeom prst="ellipse">
              <a:avLst/>
            </a:prstGeom>
            <a:blipFill>
              <a:blip r:embed="rId10"/>
              <a:stretch>
                <a:fillRect/>
              </a:stretch>
            </a:blipFill>
            <a:ln>
              <a:solidFill>
                <a:srgbClr val="C9B48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36" name="타원 35">
              <a:extLst>
                <a:ext uri="{FF2B5EF4-FFF2-40B4-BE49-F238E27FC236}">
                  <a16:creationId xmlns:a16="http://schemas.microsoft.com/office/drawing/2014/main" id="{40029091-CAEA-DBC1-0520-C99F7A6A08E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013291" y="5398261"/>
              <a:ext cx="467420" cy="468000"/>
            </a:xfrm>
            <a:prstGeom prst="ellipse">
              <a:avLst/>
            </a:prstGeom>
            <a:blipFill>
              <a:blip r:embed="rId11"/>
              <a:stretch>
                <a:fillRect/>
              </a:stretch>
            </a:blipFill>
            <a:ln>
              <a:solidFill>
                <a:srgbClr val="C9B48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</p:grpSp>
      <p:grpSp>
        <p:nvGrpSpPr>
          <p:cNvPr id="63" name="그룹 62">
            <a:extLst>
              <a:ext uri="{FF2B5EF4-FFF2-40B4-BE49-F238E27FC236}">
                <a16:creationId xmlns:a16="http://schemas.microsoft.com/office/drawing/2014/main" id="{EF07801B-F2F1-620D-C1EB-85C3D956D48A}"/>
              </a:ext>
            </a:extLst>
          </p:cNvPr>
          <p:cNvGrpSpPr/>
          <p:nvPr/>
        </p:nvGrpSpPr>
        <p:grpSpPr>
          <a:xfrm>
            <a:off x="2607057" y="2263608"/>
            <a:ext cx="4408475" cy="3752185"/>
            <a:chOff x="2516349" y="2269333"/>
            <a:chExt cx="4006823" cy="3752185"/>
          </a:xfrm>
        </p:grpSpPr>
        <p:sp>
          <p:nvSpPr>
            <p:cNvPr id="39" name="직사각형 38">
              <a:extLst>
                <a:ext uri="{FF2B5EF4-FFF2-40B4-BE49-F238E27FC236}">
                  <a16:creationId xmlns:a16="http://schemas.microsoft.com/office/drawing/2014/main" id="{D5E7CB37-AC84-6042-4E5E-981C109C2E91}"/>
                </a:ext>
              </a:extLst>
            </p:cNvPr>
            <p:cNvSpPr/>
            <p:nvPr/>
          </p:nvSpPr>
          <p:spPr>
            <a:xfrm>
              <a:off x="2521348" y="2386009"/>
              <a:ext cx="3600000" cy="231151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dirty="0"/>
            </a:p>
          </p:txBody>
        </p:sp>
        <p:cxnSp>
          <p:nvCxnSpPr>
            <p:cNvPr id="41" name="직선 연결선[R] 40">
              <a:extLst>
                <a:ext uri="{FF2B5EF4-FFF2-40B4-BE49-F238E27FC236}">
                  <a16:creationId xmlns:a16="http://schemas.microsoft.com/office/drawing/2014/main" id="{F137DA7F-BC07-47EC-E586-2D7B3600EB63}"/>
                </a:ext>
              </a:extLst>
            </p:cNvPr>
            <p:cNvCxnSpPr>
              <a:cxnSpLocks/>
            </p:cNvCxnSpPr>
            <p:nvPr/>
          </p:nvCxnSpPr>
          <p:spPr>
            <a:xfrm>
              <a:off x="2516349" y="2269333"/>
              <a:ext cx="0" cy="375218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직사각형 44">
              <a:extLst>
                <a:ext uri="{FF2B5EF4-FFF2-40B4-BE49-F238E27FC236}">
                  <a16:creationId xmlns:a16="http://schemas.microsoft.com/office/drawing/2014/main" id="{2C7D7C46-EC65-2621-38D1-F48D421892D8}"/>
                </a:ext>
              </a:extLst>
            </p:cNvPr>
            <p:cNvSpPr/>
            <p:nvPr/>
          </p:nvSpPr>
          <p:spPr>
            <a:xfrm>
              <a:off x="2521348" y="2839840"/>
              <a:ext cx="2491200" cy="231151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46" name="직사각형 45">
              <a:extLst>
                <a:ext uri="{FF2B5EF4-FFF2-40B4-BE49-F238E27FC236}">
                  <a16:creationId xmlns:a16="http://schemas.microsoft.com/office/drawing/2014/main" id="{58DC3A10-B7F4-5715-61E8-3A60E684D390}"/>
                </a:ext>
              </a:extLst>
            </p:cNvPr>
            <p:cNvSpPr/>
            <p:nvPr/>
          </p:nvSpPr>
          <p:spPr>
            <a:xfrm>
              <a:off x="2521348" y="3304811"/>
              <a:ext cx="2354400" cy="231151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47" name="직사각형 46">
              <a:extLst>
                <a:ext uri="{FF2B5EF4-FFF2-40B4-BE49-F238E27FC236}">
                  <a16:creationId xmlns:a16="http://schemas.microsoft.com/office/drawing/2014/main" id="{EF25BE48-5B27-1CC7-82BF-C8E8FC9C66E6}"/>
                </a:ext>
              </a:extLst>
            </p:cNvPr>
            <p:cNvSpPr/>
            <p:nvPr/>
          </p:nvSpPr>
          <p:spPr>
            <a:xfrm>
              <a:off x="2521348" y="3747709"/>
              <a:ext cx="1386000" cy="231151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48" name="직사각형 47">
              <a:extLst>
                <a:ext uri="{FF2B5EF4-FFF2-40B4-BE49-F238E27FC236}">
                  <a16:creationId xmlns:a16="http://schemas.microsoft.com/office/drawing/2014/main" id="{45F9551C-6DAC-4808-D4F4-FB135DB53E48}"/>
                </a:ext>
              </a:extLst>
            </p:cNvPr>
            <p:cNvSpPr/>
            <p:nvPr/>
          </p:nvSpPr>
          <p:spPr>
            <a:xfrm>
              <a:off x="2521348" y="4246884"/>
              <a:ext cx="1245600" cy="231151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49" name="직사각형 48">
              <a:extLst>
                <a:ext uri="{FF2B5EF4-FFF2-40B4-BE49-F238E27FC236}">
                  <a16:creationId xmlns:a16="http://schemas.microsoft.com/office/drawing/2014/main" id="{FD9FADB4-498F-4485-CA78-0B70094CD3DB}"/>
                </a:ext>
              </a:extLst>
            </p:cNvPr>
            <p:cNvSpPr/>
            <p:nvPr/>
          </p:nvSpPr>
          <p:spPr>
            <a:xfrm>
              <a:off x="2521348" y="4710895"/>
              <a:ext cx="831600" cy="231151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50" name="직사각형 49">
              <a:extLst>
                <a:ext uri="{FF2B5EF4-FFF2-40B4-BE49-F238E27FC236}">
                  <a16:creationId xmlns:a16="http://schemas.microsoft.com/office/drawing/2014/main" id="{0F4DA94A-C8C3-192A-120E-14E524E44FCF}"/>
                </a:ext>
              </a:extLst>
            </p:cNvPr>
            <p:cNvSpPr/>
            <p:nvPr/>
          </p:nvSpPr>
          <p:spPr>
            <a:xfrm>
              <a:off x="2521348" y="5186849"/>
              <a:ext cx="691200" cy="231151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dirty="0"/>
            </a:p>
          </p:txBody>
        </p:sp>
        <p:sp>
          <p:nvSpPr>
            <p:cNvPr id="51" name="직사각형 50">
              <a:extLst>
                <a:ext uri="{FF2B5EF4-FFF2-40B4-BE49-F238E27FC236}">
                  <a16:creationId xmlns:a16="http://schemas.microsoft.com/office/drawing/2014/main" id="{72475B8B-20CD-1D2B-39B3-DB1F0AF08A42}"/>
                </a:ext>
              </a:extLst>
            </p:cNvPr>
            <p:cNvSpPr/>
            <p:nvPr/>
          </p:nvSpPr>
          <p:spPr>
            <a:xfrm>
              <a:off x="2521348" y="5652000"/>
              <a:ext cx="691200" cy="231151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A4EF0DBF-42A1-83A0-38A5-C12F18045742}"/>
                </a:ext>
              </a:extLst>
            </p:cNvPr>
            <p:cNvSpPr txBox="1"/>
            <p:nvPr/>
          </p:nvSpPr>
          <p:spPr>
            <a:xfrm>
              <a:off x="6117457" y="2340001"/>
              <a:ext cx="405715" cy="3231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ko-KR" sz="1500" dirty="0">
                  <a:latin typeface="GyeonggiTitleOTF Light" panose="02020403020101020101" pitchFamily="18" charset="-127"/>
                  <a:ea typeface="GyeonggiTitleOTF Light" panose="02020403020101020101" pitchFamily="18" charset="-127"/>
                </a:rPr>
                <a:t>21</a:t>
              </a:r>
              <a:endParaRPr kumimoji="1" lang="ko-KR" altLang="en-US" sz="1500" dirty="0">
                <a:latin typeface="GyeonggiTitleOTF Light" panose="02020403020101020101" pitchFamily="18" charset="-127"/>
                <a:ea typeface="GyeonggiTitleOTF Light" panose="02020403020101020101" pitchFamily="18" charset="-127"/>
              </a:endParaRP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1FC70CC0-954E-8DE5-0E2E-B33181325A52}"/>
                </a:ext>
              </a:extLst>
            </p:cNvPr>
            <p:cNvSpPr txBox="1"/>
            <p:nvPr/>
          </p:nvSpPr>
          <p:spPr>
            <a:xfrm>
              <a:off x="5012548" y="2793832"/>
              <a:ext cx="446435" cy="3231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ko-KR" sz="1500" dirty="0">
                  <a:latin typeface="GyeonggiTitleOTF Light" panose="02020403020101020101" pitchFamily="18" charset="-127"/>
                  <a:ea typeface="GyeonggiTitleOTF Light" panose="02020403020101020101" pitchFamily="18" charset="-127"/>
                </a:rPr>
                <a:t>15</a:t>
              </a:r>
              <a:endParaRPr kumimoji="1" lang="ko-KR" altLang="en-US" sz="1500" dirty="0">
                <a:latin typeface="GyeonggiTitleOTF Light" panose="02020403020101020101" pitchFamily="18" charset="-127"/>
                <a:ea typeface="GyeonggiTitleOTF Light" panose="02020403020101020101" pitchFamily="18" charset="-127"/>
              </a:endParaRP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C87FA2FD-65FC-94E5-DA28-DE2F39FA38FB}"/>
                </a:ext>
              </a:extLst>
            </p:cNvPr>
            <p:cNvSpPr txBox="1"/>
            <p:nvPr/>
          </p:nvSpPr>
          <p:spPr>
            <a:xfrm>
              <a:off x="4875748" y="3258803"/>
              <a:ext cx="446435" cy="3231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ko-KR" sz="1500" dirty="0">
                  <a:latin typeface="GyeonggiTitleOTF Light" panose="02020403020101020101" pitchFamily="18" charset="-127"/>
                  <a:ea typeface="GyeonggiTitleOTF Light" panose="02020403020101020101" pitchFamily="18" charset="-127"/>
                </a:rPr>
                <a:t>14</a:t>
              </a:r>
              <a:endParaRPr kumimoji="1" lang="ko-KR" altLang="en-US" sz="1500" dirty="0">
                <a:latin typeface="GyeonggiTitleOTF Light" panose="02020403020101020101" pitchFamily="18" charset="-127"/>
                <a:ea typeface="GyeonggiTitleOTF Light" panose="02020403020101020101" pitchFamily="18" charset="-127"/>
              </a:endParaRP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9DF21E2C-72BE-7345-3317-9467A37B93EC}"/>
                </a:ext>
              </a:extLst>
            </p:cNvPr>
            <p:cNvSpPr txBox="1"/>
            <p:nvPr/>
          </p:nvSpPr>
          <p:spPr>
            <a:xfrm>
              <a:off x="3907348" y="3708417"/>
              <a:ext cx="446435" cy="3231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ko-KR" sz="1500" dirty="0">
                  <a:latin typeface="GyeonggiTitleOTF Light" panose="02020403020101020101" pitchFamily="18" charset="-127"/>
                  <a:ea typeface="GyeonggiTitleOTF Light" panose="02020403020101020101" pitchFamily="18" charset="-127"/>
                </a:rPr>
                <a:t>8</a:t>
              </a:r>
              <a:endParaRPr kumimoji="1" lang="ko-KR" altLang="en-US" sz="1500" dirty="0">
                <a:latin typeface="GyeonggiTitleOTF Light" panose="02020403020101020101" pitchFamily="18" charset="-127"/>
                <a:ea typeface="GyeonggiTitleOTF Light" panose="02020403020101020101" pitchFamily="18" charset="-127"/>
              </a:endParaRP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5C40A651-5CCE-76C0-2560-DC7E013F0F22}"/>
                </a:ext>
              </a:extLst>
            </p:cNvPr>
            <p:cNvSpPr txBox="1"/>
            <p:nvPr/>
          </p:nvSpPr>
          <p:spPr>
            <a:xfrm>
              <a:off x="3762673" y="4200876"/>
              <a:ext cx="446435" cy="3231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ko-KR" sz="1500" dirty="0">
                  <a:latin typeface="GyeonggiTitleOTF Light" panose="02020403020101020101" pitchFamily="18" charset="-127"/>
                  <a:ea typeface="GyeonggiTitleOTF Light" panose="02020403020101020101" pitchFamily="18" charset="-127"/>
                </a:rPr>
                <a:t>7</a:t>
              </a:r>
              <a:endParaRPr kumimoji="1" lang="ko-KR" altLang="en-US" sz="1500" dirty="0">
                <a:latin typeface="GyeonggiTitleOTF Light" panose="02020403020101020101" pitchFamily="18" charset="-127"/>
                <a:ea typeface="GyeonggiTitleOTF Light" panose="02020403020101020101" pitchFamily="18" charset="-127"/>
              </a:endParaRP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1ED6C695-EFE9-6348-85D9-5E1AC6C244AD}"/>
                </a:ext>
              </a:extLst>
            </p:cNvPr>
            <p:cNvSpPr txBox="1"/>
            <p:nvPr/>
          </p:nvSpPr>
          <p:spPr>
            <a:xfrm>
              <a:off x="3362515" y="4676708"/>
              <a:ext cx="446435" cy="3231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ko-KR" sz="1500" dirty="0">
                  <a:latin typeface="GyeonggiTitleOTF Light" panose="02020403020101020101" pitchFamily="18" charset="-127"/>
                  <a:ea typeface="GyeonggiTitleOTF Light" panose="02020403020101020101" pitchFamily="18" charset="-127"/>
                </a:rPr>
                <a:t>5</a:t>
              </a:r>
              <a:endParaRPr kumimoji="1" lang="ko-KR" altLang="en-US" sz="1500" dirty="0">
                <a:latin typeface="GyeonggiTitleOTF Light" panose="02020403020101020101" pitchFamily="18" charset="-127"/>
                <a:ea typeface="GyeonggiTitleOTF Light" panose="02020403020101020101" pitchFamily="18" charset="-127"/>
              </a:endParaRP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4CCEC0C9-BCCA-227E-DD86-9310D237C3D9}"/>
                </a:ext>
              </a:extLst>
            </p:cNvPr>
            <p:cNvSpPr txBox="1"/>
            <p:nvPr/>
          </p:nvSpPr>
          <p:spPr>
            <a:xfrm>
              <a:off x="3210362" y="5137388"/>
              <a:ext cx="446435" cy="3231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ko-KR" sz="1500" dirty="0">
                  <a:latin typeface="GyeonggiTitleOTF Light" panose="02020403020101020101" pitchFamily="18" charset="-127"/>
                  <a:ea typeface="GyeonggiTitleOTF Light" panose="02020403020101020101" pitchFamily="18" charset="-127"/>
                </a:rPr>
                <a:t>4</a:t>
              </a:r>
              <a:endParaRPr kumimoji="1" lang="ko-KR" altLang="en-US" sz="1500" dirty="0">
                <a:latin typeface="GyeonggiTitleOTF Light" panose="02020403020101020101" pitchFamily="18" charset="-127"/>
                <a:ea typeface="GyeonggiTitleOTF Light" panose="02020403020101020101" pitchFamily="18" charset="-127"/>
              </a:endParaRP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EBFE9FE4-2AF2-3453-A98C-1174B0BEADAC}"/>
                </a:ext>
              </a:extLst>
            </p:cNvPr>
            <p:cNvSpPr txBox="1"/>
            <p:nvPr/>
          </p:nvSpPr>
          <p:spPr>
            <a:xfrm>
              <a:off x="3217208" y="5618982"/>
              <a:ext cx="446435" cy="3231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ko-KR" sz="1500" dirty="0">
                  <a:latin typeface="GyeonggiTitleOTF Light" panose="02020403020101020101" pitchFamily="18" charset="-127"/>
                  <a:ea typeface="GyeonggiTitleOTF Light" panose="02020403020101020101" pitchFamily="18" charset="-127"/>
                </a:rPr>
                <a:t>4</a:t>
              </a:r>
              <a:endParaRPr kumimoji="1" lang="ko-KR" altLang="en-US" sz="1500" dirty="0">
                <a:latin typeface="GyeonggiTitleOTF Light" panose="02020403020101020101" pitchFamily="18" charset="-127"/>
                <a:ea typeface="GyeonggiTitleOTF Light" panose="02020403020101020101" pitchFamily="18" charset="-127"/>
              </a:endParaRPr>
            </a:p>
          </p:txBody>
        </p:sp>
      </p:grpSp>
      <p:sp>
        <p:nvSpPr>
          <p:cNvPr id="60" name="TextBox 59">
            <a:extLst>
              <a:ext uri="{FF2B5EF4-FFF2-40B4-BE49-F238E27FC236}">
                <a16:creationId xmlns:a16="http://schemas.microsoft.com/office/drawing/2014/main" id="{2C0FA858-7B99-61D7-F00C-C1F92DFD4504}"/>
              </a:ext>
            </a:extLst>
          </p:cNvPr>
          <p:cNvSpPr txBox="1"/>
          <p:nvPr/>
        </p:nvSpPr>
        <p:spPr>
          <a:xfrm>
            <a:off x="7047733" y="2464941"/>
            <a:ext cx="30362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R" altLang="en-US" dirty="0">
                <a:latin typeface="GyeonggiTitleVOTF Bold" panose="02020803020101020101" pitchFamily="18" charset="-127"/>
                <a:ea typeface="GyeonggiTitleVOTF Bold" panose="02020803020101020101" pitchFamily="18" charset="-127"/>
              </a:rPr>
              <a:t> </a:t>
            </a:r>
            <a:r>
              <a:rPr kumimoji="1" lang="ko-KR" altLang="en-US" dirty="0">
                <a:solidFill>
                  <a:srgbClr val="1C5397"/>
                </a:solidFill>
                <a:latin typeface="GyeonggiTitleVOTF Bold" panose="02020803020101020101" pitchFamily="18" charset="-127"/>
                <a:ea typeface="GyeonggiTitleVOTF Bold" panose="02020803020101020101" pitchFamily="18" charset="-127"/>
              </a:rPr>
              <a:t>마덱</a:t>
            </a:r>
            <a:r>
              <a:rPr kumimoji="1" lang="ko-KR" altLang="en-US" dirty="0">
                <a:latin typeface="GyeonggiTitleVOTF Bold" panose="02020803020101020101" pitchFamily="18" charset="-127"/>
                <a:ea typeface="GyeonggiTitleVOTF Bold" panose="02020803020101020101" pitchFamily="18" charset="-127"/>
              </a:rPr>
              <a:t> 유저 중 플라튼 활용도 </a:t>
            </a:r>
            <a:endParaRPr kumimoji="1" lang="en-US" altLang="ko-KR" dirty="0">
              <a:latin typeface="GyeonggiTitleVOTF Bold" panose="02020803020101020101" pitchFamily="18" charset="-127"/>
              <a:ea typeface="GyeonggiTitleVOTF Bold" panose="02020803020101020101" pitchFamily="18" charset="-127"/>
            </a:endParaRPr>
          </a:p>
          <a:p>
            <a:r>
              <a:rPr kumimoji="1" lang="en-US" altLang="ko-KR" dirty="0">
                <a:latin typeface="GyeonggiTitleOTF Light" panose="02020403020101020101" pitchFamily="18" charset="-127"/>
                <a:ea typeface="GyeonggiTitleOTF Light" panose="02020403020101020101" pitchFamily="18" charset="-127"/>
              </a:rPr>
              <a:t>21</a:t>
            </a:r>
            <a:r>
              <a:rPr kumimoji="1" lang="ko-KR" altLang="en-US" dirty="0">
                <a:latin typeface="GyeonggiTitleOTF Light" panose="02020403020101020101" pitchFamily="18" charset="-127"/>
                <a:ea typeface="GyeonggiTitleOTF Light" panose="02020403020101020101" pitchFamily="18" charset="-127"/>
              </a:rPr>
              <a:t>명 </a:t>
            </a:r>
            <a:r>
              <a:rPr kumimoji="1" lang="en-US" altLang="ko-KR" dirty="0">
                <a:latin typeface="GyeonggiTitleOTF Light" panose="02020403020101020101" pitchFamily="18" charset="-127"/>
                <a:ea typeface="GyeonggiTitleOTF Light" panose="02020403020101020101" pitchFamily="18" charset="-127"/>
              </a:rPr>
              <a:t>(100%) </a:t>
            </a:r>
            <a:r>
              <a:rPr kumimoji="1" lang="ko-KR" altLang="en-US" b="1" dirty="0">
                <a:latin typeface="GyeonggiTitleOTF Light" panose="02020403020101020101" pitchFamily="18" charset="-127"/>
                <a:ea typeface="GyeonggiTitleOTF Light" panose="02020403020101020101" pitchFamily="18" charset="-127"/>
              </a:rPr>
              <a:t>활용 중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1ECE7A5F-43F7-0328-6B24-12DE20ABFEF4}"/>
              </a:ext>
            </a:extLst>
          </p:cNvPr>
          <p:cNvSpPr txBox="1"/>
          <p:nvPr/>
        </p:nvSpPr>
        <p:spPr>
          <a:xfrm>
            <a:off x="7042735" y="3328848"/>
            <a:ext cx="303628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R" altLang="en-US" dirty="0">
                <a:latin typeface="GyeonggiTitleVOTF Bold" panose="02020803020101020101" pitchFamily="18" charset="-127"/>
                <a:ea typeface="GyeonggiTitleVOTF Bold" panose="02020803020101020101" pitchFamily="18" charset="-127"/>
              </a:rPr>
              <a:t> 랭킹별 플라튼 활용도 </a:t>
            </a:r>
            <a:endParaRPr kumimoji="1" lang="en-US" altLang="ko-KR" dirty="0">
              <a:latin typeface="GyeonggiTitleVOTF Bold" panose="02020803020101020101" pitchFamily="18" charset="-127"/>
              <a:ea typeface="GyeonggiTitleVOTF Bold" panose="02020803020101020101" pitchFamily="18" charset="-127"/>
            </a:endParaRPr>
          </a:p>
          <a:p>
            <a:r>
              <a:rPr kumimoji="1" lang="en-US" altLang="ko-KR" dirty="0">
                <a:latin typeface="GyeonggiTitleOTF Light" panose="02020403020101020101" pitchFamily="18" charset="-127"/>
                <a:ea typeface="GyeonggiTitleOTF Light" panose="02020403020101020101" pitchFamily="18" charset="-127"/>
              </a:rPr>
              <a:t> Top 10 :  7/ 10</a:t>
            </a:r>
          </a:p>
          <a:p>
            <a:r>
              <a:rPr kumimoji="1" lang="en-US" altLang="ko-KR" dirty="0">
                <a:latin typeface="GyeonggiTitleOTF Light" panose="02020403020101020101" pitchFamily="18" charset="-127"/>
                <a:ea typeface="GyeonggiTitleOTF Light" panose="02020403020101020101" pitchFamily="18" charset="-127"/>
              </a:rPr>
              <a:t>11 ~ 30 :  5 / 20</a:t>
            </a:r>
          </a:p>
          <a:p>
            <a:r>
              <a:rPr kumimoji="1" lang="en-US" altLang="ko-KR" dirty="0">
                <a:latin typeface="GyeonggiTitleOTF Light" panose="02020403020101020101" pitchFamily="18" charset="-127"/>
                <a:ea typeface="GyeonggiTitleOTF Light" panose="02020403020101020101" pitchFamily="18" charset="-127"/>
              </a:rPr>
              <a:t>31 ~ 50 :  9 / 20</a:t>
            </a:r>
            <a:endParaRPr kumimoji="1" lang="ko-KR" altLang="en-US" dirty="0">
              <a:latin typeface="GyeonggiTitleOTF Light" panose="02020403020101020101" pitchFamily="18" charset="-127"/>
              <a:ea typeface="GyeonggiTitleOTF Light" panose="02020403020101020101" pitchFamily="18" charset="-127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A59215E5-D65D-0545-4AF7-747F6BAA0A57}"/>
              </a:ext>
            </a:extLst>
          </p:cNvPr>
          <p:cNvSpPr txBox="1"/>
          <p:nvPr/>
        </p:nvSpPr>
        <p:spPr>
          <a:xfrm>
            <a:off x="7052641" y="4678939"/>
            <a:ext cx="303628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R" altLang="en-US" dirty="0">
                <a:latin typeface="GyeonggiTitleVOTF Bold" panose="02020803020101020101" pitchFamily="18" charset="-127"/>
                <a:ea typeface="GyeonggiTitleVOTF Bold" panose="02020803020101020101" pitchFamily="18" charset="-127"/>
              </a:rPr>
              <a:t> 메타 결론</a:t>
            </a:r>
            <a:endParaRPr kumimoji="1" lang="en-US" altLang="ko-KR" dirty="0">
              <a:latin typeface="GyeonggiTitleVOTF Bold" panose="02020803020101020101" pitchFamily="18" charset="-127"/>
              <a:ea typeface="GyeonggiTitleVOTF Bold" panose="02020803020101020101" pitchFamily="18" charset="-127"/>
            </a:endParaRPr>
          </a:p>
          <a:p>
            <a:r>
              <a:rPr kumimoji="1" lang="ko-KR" altLang="en-US" dirty="0">
                <a:latin typeface="GyeonggiTitleOTF Light" panose="02020403020101020101" pitchFamily="18" charset="-127"/>
                <a:ea typeface="GyeonggiTitleOTF Light" panose="02020403020101020101" pitchFamily="18" charset="-127"/>
              </a:rPr>
              <a:t>높은 구성 난이도</a:t>
            </a:r>
            <a:r>
              <a:rPr kumimoji="1" lang="en-US" altLang="ko-KR" dirty="0">
                <a:latin typeface="GyeonggiTitleOTF Light" panose="02020403020101020101" pitchFamily="18" charset="-127"/>
                <a:ea typeface="GyeonggiTitleOTF Light" panose="02020403020101020101" pitchFamily="18" charset="-127"/>
              </a:rPr>
              <a:t>, </a:t>
            </a:r>
            <a:r>
              <a:rPr kumimoji="1" lang="ko-KR" altLang="en-US" dirty="0">
                <a:latin typeface="GyeonggiTitleOTF Light" panose="02020403020101020101" pitchFamily="18" charset="-127"/>
                <a:ea typeface="GyeonggiTitleOTF Light" panose="02020403020101020101" pitchFamily="18" charset="-127"/>
              </a:rPr>
              <a:t>공덱 대비 높은 승률</a:t>
            </a:r>
          </a:p>
        </p:txBody>
      </p:sp>
      <p:sp>
        <p:nvSpPr>
          <p:cNvPr id="2048" name="TextBox 2047">
            <a:extLst>
              <a:ext uri="{FF2B5EF4-FFF2-40B4-BE49-F238E27FC236}">
                <a16:creationId xmlns:a16="http://schemas.microsoft.com/office/drawing/2014/main" id="{C5883CE6-44D3-43C1-FFA8-CF3D1FE781A4}"/>
              </a:ext>
            </a:extLst>
          </p:cNvPr>
          <p:cNvSpPr txBox="1"/>
          <p:nvPr/>
        </p:nvSpPr>
        <p:spPr>
          <a:xfrm>
            <a:off x="1556657" y="2327420"/>
            <a:ext cx="50719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ko-KR" altLang="en-US" sz="1000" dirty="0">
                <a:latin typeface="GyeonggiTitleOTF Light" panose="02020403020101020101" pitchFamily="18" charset="-127"/>
                <a:ea typeface="GyeonggiTitleOTF Light" panose="02020403020101020101" pitchFamily="18" charset="-127"/>
              </a:rPr>
              <a:t>플라튼</a:t>
            </a:r>
          </a:p>
        </p:txBody>
      </p:sp>
      <p:sp>
        <p:nvSpPr>
          <p:cNvPr id="2049" name="TextBox 2048">
            <a:extLst>
              <a:ext uri="{FF2B5EF4-FFF2-40B4-BE49-F238E27FC236}">
                <a16:creationId xmlns:a16="http://schemas.microsoft.com/office/drawing/2014/main" id="{46E07E99-F0D3-CBE1-BD5F-625D2849DAC1}"/>
              </a:ext>
            </a:extLst>
          </p:cNvPr>
          <p:cNvSpPr txBox="1"/>
          <p:nvPr/>
        </p:nvSpPr>
        <p:spPr>
          <a:xfrm>
            <a:off x="1468301" y="2826578"/>
            <a:ext cx="58518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ko-KR" altLang="en-US" sz="1000" dirty="0" err="1">
                <a:latin typeface="GyeonggiTitleOTF Light" panose="02020403020101020101" pitchFamily="18" charset="-127"/>
                <a:ea typeface="GyeonggiTitleOTF Light" panose="02020403020101020101" pitchFamily="18" charset="-127"/>
              </a:rPr>
              <a:t>멜키르</a:t>
            </a:r>
            <a:endParaRPr kumimoji="1" lang="ko-KR" altLang="en-US" sz="1000" dirty="0">
              <a:latin typeface="GyeonggiTitleOTF Light" panose="02020403020101020101" pitchFamily="18" charset="-127"/>
              <a:ea typeface="GyeonggiTitleOTF Light" panose="02020403020101020101" pitchFamily="18" charset="-127"/>
            </a:endParaRPr>
          </a:p>
        </p:txBody>
      </p:sp>
      <p:sp>
        <p:nvSpPr>
          <p:cNvPr id="2051" name="TextBox 2050">
            <a:extLst>
              <a:ext uri="{FF2B5EF4-FFF2-40B4-BE49-F238E27FC236}">
                <a16:creationId xmlns:a16="http://schemas.microsoft.com/office/drawing/2014/main" id="{0EBD2F29-2FFA-24D4-C436-523A53AFB40A}"/>
              </a:ext>
            </a:extLst>
          </p:cNvPr>
          <p:cNvSpPr txBox="1"/>
          <p:nvPr/>
        </p:nvSpPr>
        <p:spPr>
          <a:xfrm>
            <a:off x="1660144" y="3303814"/>
            <a:ext cx="39573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ko-KR" altLang="en-US" sz="1000" dirty="0">
                <a:latin typeface="GyeonggiTitleOTF Light" panose="02020403020101020101" pitchFamily="18" charset="-127"/>
                <a:ea typeface="GyeonggiTitleOTF Light" panose="02020403020101020101" pitchFamily="18" charset="-127"/>
              </a:rPr>
              <a:t>쥬리</a:t>
            </a:r>
          </a:p>
        </p:txBody>
      </p:sp>
      <p:sp>
        <p:nvSpPr>
          <p:cNvPr id="2053" name="TextBox 2052">
            <a:extLst>
              <a:ext uri="{FF2B5EF4-FFF2-40B4-BE49-F238E27FC236}">
                <a16:creationId xmlns:a16="http://schemas.microsoft.com/office/drawing/2014/main" id="{0E4FD3E2-48A0-78C9-4C1B-474353D2D819}"/>
              </a:ext>
            </a:extLst>
          </p:cNvPr>
          <p:cNvSpPr txBox="1"/>
          <p:nvPr/>
        </p:nvSpPr>
        <p:spPr>
          <a:xfrm>
            <a:off x="1473445" y="3740735"/>
            <a:ext cx="58518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ko-KR" altLang="en-US" sz="1000" dirty="0">
                <a:latin typeface="GyeonggiTitleOTF Light" panose="02020403020101020101" pitchFamily="18" charset="-127"/>
                <a:ea typeface="GyeonggiTitleOTF Light" panose="02020403020101020101" pitchFamily="18" charset="-127"/>
              </a:rPr>
              <a:t>콜트</a:t>
            </a:r>
          </a:p>
        </p:txBody>
      </p:sp>
      <p:sp>
        <p:nvSpPr>
          <p:cNvPr id="2055" name="TextBox 2054">
            <a:extLst>
              <a:ext uri="{FF2B5EF4-FFF2-40B4-BE49-F238E27FC236}">
                <a16:creationId xmlns:a16="http://schemas.microsoft.com/office/drawing/2014/main" id="{AA1DA617-4568-FDAE-9310-62A73FF07980}"/>
              </a:ext>
            </a:extLst>
          </p:cNvPr>
          <p:cNvSpPr txBox="1"/>
          <p:nvPr/>
        </p:nvSpPr>
        <p:spPr>
          <a:xfrm>
            <a:off x="1785891" y="4233622"/>
            <a:ext cx="25223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ko-KR" altLang="en-US" sz="1000" dirty="0">
                <a:latin typeface="GyeonggiTitleOTF Light" panose="02020403020101020101" pitchFamily="18" charset="-127"/>
                <a:ea typeface="GyeonggiTitleOTF Light" panose="02020403020101020101" pitchFamily="18" charset="-127"/>
              </a:rPr>
              <a:t>린</a:t>
            </a:r>
          </a:p>
        </p:txBody>
      </p:sp>
      <p:sp>
        <p:nvSpPr>
          <p:cNvPr id="2057" name="TextBox 2056">
            <a:extLst>
              <a:ext uri="{FF2B5EF4-FFF2-40B4-BE49-F238E27FC236}">
                <a16:creationId xmlns:a16="http://schemas.microsoft.com/office/drawing/2014/main" id="{B6342BB0-A298-223C-A7C1-CAB6EB978586}"/>
              </a:ext>
            </a:extLst>
          </p:cNvPr>
          <p:cNvSpPr txBox="1"/>
          <p:nvPr/>
        </p:nvSpPr>
        <p:spPr>
          <a:xfrm>
            <a:off x="1433542" y="4705563"/>
            <a:ext cx="62660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ko-KR" altLang="en-US" sz="1000" dirty="0" err="1">
                <a:latin typeface="GyeonggiTitleOTF Light" panose="02020403020101020101" pitchFamily="18" charset="-127"/>
                <a:ea typeface="GyeonggiTitleOTF Light" panose="02020403020101020101" pitchFamily="18" charset="-127"/>
              </a:rPr>
              <a:t>아멜리아</a:t>
            </a:r>
            <a:endParaRPr kumimoji="1" lang="ko-KR" altLang="en-US" sz="1000" dirty="0">
              <a:latin typeface="GyeonggiTitleOTF Light" panose="02020403020101020101" pitchFamily="18" charset="-127"/>
              <a:ea typeface="GyeonggiTitleOTF Light" panose="02020403020101020101" pitchFamily="18" charset="-127"/>
            </a:endParaRPr>
          </a:p>
        </p:txBody>
      </p:sp>
      <p:sp>
        <p:nvSpPr>
          <p:cNvPr id="2059" name="TextBox 2058">
            <a:extLst>
              <a:ext uri="{FF2B5EF4-FFF2-40B4-BE49-F238E27FC236}">
                <a16:creationId xmlns:a16="http://schemas.microsoft.com/office/drawing/2014/main" id="{79960BBF-07BE-C5F0-92DA-B8526D26F7C3}"/>
              </a:ext>
            </a:extLst>
          </p:cNvPr>
          <p:cNvSpPr txBox="1"/>
          <p:nvPr/>
        </p:nvSpPr>
        <p:spPr>
          <a:xfrm>
            <a:off x="1518422" y="5173588"/>
            <a:ext cx="53903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ko-KR" altLang="en-US" sz="1000" dirty="0">
                <a:latin typeface="GyeonggiTitleOTF Light" panose="02020403020101020101" pitchFamily="18" charset="-127"/>
                <a:ea typeface="GyeonggiTitleOTF Light" panose="02020403020101020101" pitchFamily="18" charset="-127"/>
              </a:rPr>
              <a:t>바네사</a:t>
            </a:r>
          </a:p>
        </p:txBody>
      </p:sp>
      <p:sp>
        <p:nvSpPr>
          <p:cNvPr id="2061" name="TextBox 2060">
            <a:extLst>
              <a:ext uri="{FF2B5EF4-FFF2-40B4-BE49-F238E27FC236}">
                <a16:creationId xmlns:a16="http://schemas.microsoft.com/office/drawing/2014/main" id="{6E66C6ED-E04D-7F92-4C27-45BCA5D93471}"/>
              </a:ext>
            </a:extLst>
          </p:cNvPr>
          <p:cNvSpPr txBox="1"/>
          <p:nvPr/>
        </p:nvSpPr>
        <p:spPr>
          <a:xfrm>
            <a:off x="1426021" y="5631205"/>
            <a:ext cx="6266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ko-KR" altLang="en-US" sz="1000" dirty="0" err="1">
                <a:latin typeface="GyeonggiTitleOTF Light" panose="02020403020101020101" pitchFamily="18" charset="-127"/>
                <a:ea typeface="GyeonggiTitleOTF Light" panose="02020403020101020101" pitchFamily="18" charset="-127"/>
              </a:rPr>
              <a:t>실베스타</a:t>
            </a:r>
            <a:endParaRPr kumimoji="1" lang="ko-KR" altLang="en-US" sz="1000" dirty="0">
              <a:latin typeface="GyeonggiTitleOTF Light" panose="02020403020101020101" pitchFamily="18" charset="-127"/>
              <a:ea typeface="GyeonggiTitleOTF Light" panose="02020403020101020101" pitchFamily="18" charset="-127"/>
            </a:endParaRPr>
          </a:p>
        </p:txBody>
      </p:sp>
      <p:sp>
        <p:nvSpPr>
          <p:cNvPr id="2065" name="직사각형 2064">
            <a:extLst>
              <a:ext uri="{FF2B5EF4-FFF2-40B4-BE49-F238E27FC236}">
                <a16:creationId xmlns:a16="http://schemas.microsoft.com/office/drawing/2014/main" id="{F26C708D-0444-B7BB-6C11-84BBBE76E187}"/>
              </a:ext>
            </a:extLst>
          </p:cNvPr>
          <p:cNvSpPr/>
          <p:nvPr/>
        </p:nvSpPr>
        <p:spPr>
          <a:xfrm>
            <a:off x="2531618" y="2263608"/>
            <a:ext cx="4394699" cy="435053"/>
          </a:xfrm>
          <a:prstGeom prst="rect">
            <a:avLst/>
          </a:prstGeom>
          <a:noFill/>
          <a:ln w="25400">
            <a:solidFill>
              <a:srgbClr val="C4474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259229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3EA0543-770F-6E91-081A-4B339AD49D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2" descr="플라튼(세븐나이츠 리버스) - 나무위키">
            <a:extLst>
              <a:ext uri="{FF2B5EF4-FFF2-40B4-BE49-F238E27FC236}">
                <a16:creationId xmlns:a16="http://schemas.microsoft.com/office/drawing/2014/main" id="{F862D0B9-9659-2573-7A4A-9F19B4D9D2F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alphaModFix amt="19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807" t="9087" r="-9037" b="611"/>
          <a:stretch>
            <a:fillRect/>
          </a:stretch>
        </p:blipFill>
        <p:spPr bwMode="auto">
          <a:xfrm>
            <a:off x="5519517" y="586153"/>
            <a:ext cx="2999325" cy="61929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2" descr="플라튼(세븐나이츠 리버스) - 나무위키">
            <a:extLst>
              <a:ext uri="{FF2B5EF4-FFF2-40B4-BE49-F238E27FC236}">
                <a16:creationId xmlns:a16="http://schemas.microsoft.com/office/drawing/2014/main" id="{0A62B879-8409-51D7-673F-FA0C821C681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497" t="9087" r="23193" b="611"/>
          <a:stretch>
            <a:fillRect/>
          </a:stretch>
        </p:blipFill>
        <p:spPr bwMode="auto">
          <a:xfrm>
            <a:off x="1" y="593018"/>
            <a:ext cx="5519516" cy="61929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FCE874E7-2F83-C08F-B213-13A582FB5F1B}"/>
              </a:ext>
            </a:extLst>
          </p:cNvPr>
          <p:cNvSpPr txBox="1"/>
          <p:nvPr/>
        </p:nvSpPr>
        <p:spPr>
          <a:xfrm>
            <a:off x="1072527" y="586716"/>
            <a:ext cx="4367408" cy="17235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500" dirty="0">
                <a:latin typeface="GyeonggiTitle Bold" panose="02020803020101020101" pitchFamily="18" charset="-127"/>
                <a:ea typeface="GyeonggiTitle Bold" panose="02020803020101020101" pitchFamily="18" charset="-127"/>
              </a:rPr>
              <a:t>플라튼</a:t>
            </a:r>
            <a:endParaRPr lang="en-US" altLang="ko-KR" sz="3500" dirty="0">
              <a:latin typeface="GyeonggiTitle Bold" panose="02020803020101020101" pitchFamily="18" charset="-127"/>
              <a:ea typeface="GyeonggiTitle Bold" panose="02020803020101020101" pitchFamily="18" charset="-127"/>
            </a:endParaRPr>
          </a:p>
          <a:p>
            <a:r>
              <a:rPr lang="ko-KR" altLang="en-US" dirty="0">
                <a:latin typeface="GyeonggiTitle Bold" panose="02020803020101020101" pitchFamily="18" charset="-127"/>
                <a:ea typeface="GyeonggiTitle Bold" panose="02020803020101020101" pitchFamily="18" charset="-127"/>
              </a:rPr>
              <a:t>스킬 설명 및 </a:t>
            </a:r>
            <a:r>
              <a:rPr lang="ko-KR" altLang="en-US" dirty="0" err="1">
                <a:latin typeface="GyeonggiTitle Bold" panose="02020803020101020101" pitchFamily="18" charset="-127"/>
                <a:ea typeface="GyeonggiTitle Bold" panose="02020803020101020101" pitchFamily="18" charset="-127"/>
              </a:rPr>
              <a:t>덱의</a:t>
            </a:r>
            <a:r>
              <a:rPr lang="ko-KR" altLang="en-US" dirty="0">
                <a:latin typeface="GyeonggiTitle Bold" panose="02020803020101020101" pitchFamily="18" charset="-127"/>
                <a:ea typeface="GyeonggiTitle Bold" panose="02020803020101020101" pitchFamily="18" charset="-127"/>
              </a:rPr>
              <a:t> 상성</a:t>
            </a:r>
            <a:endParaRPr lang="en-US" altLang="ko-KR" dirty="0">
              <a:latin typeface="GyeonggiTitle Bold" panose="02020803020101020101" pitchFamily="18" charset="-127"/>
              <a:ea typeface="GyeonggiTitle Bold" panose="02020803020101020101" pitchFamily="18" charset="-127"/>
            </a:endParaRPr>
          </a:p>
          <a:p>
            <a:endParaRPr lang="en-US" altLang="ko-KR" sz="3500" dirty="0">
              <a:latin typeface="GyeonggiTitle Bold" panose="02020803020101020101" pitchFamily="18" charset="-127"/>
              <a:ea typeface="GyeonggiTitle Bold" panose="02020803020101020101" pitchFamily="18" charset="-127"/>
            </a:endParaRPr>
          </a:p>
          <a:p>
            <a:endParaRPr lang="ko-KR" altLang="en-US" dirty="0">
              <a:latin typeface="GyeonggiTitle Bold" panose="02020803020101020101" pitchFamily="18" charset="-127"/>
              <a:ea typeface="GyeonggiTitle Bold" panose="02020803020101020101" pitchFamily="18" charset="-127"/>
            </a:endParaRPr>
          </a:p>
        </p:txBody>
      </p:sp>
      <p:sp>
        <p:nvSpPr>
          <p:cNvPr id="62" name="대각선 방향의 모서리가 둥근 사각형 61">
            <a:extLst>
              <a:ext uri="{FF2B5EF4-FFF2-40B4-BE49-F238E27FC236}">
                <a16:creationId xmlns:a16="http://schemas.microsoft.com/office/drawing/2014/main" id="{90123376-838C-7148-B68A-E6A72DE478D8}"/>
              </a:ext>
            </a:extLst>
          </p:cNvPr>
          <p:cNvSpPr/>
          <p:nvPr/>
        </p:nvSpPr>
        <p:spPr>
          <a:xfrm>
            <a:off x="6129498" y="3187980"/>
            <a:ext cx="5029401" cy="467792"/>
          </a:xfrm>
          <a:prstGeom prst="round2DiagRect">
            <a:avLst>
              <a:gd name="adj1" fmla="val 16667"/>
              <a:gd name="adj2" fmla="val 0"/>
            </a:avLst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>
              <a:latin typeface="GyeonggiTitleOTF Light" panose="02020403020101020101" pitchFamily="18" charset="-127"/>
              <a:ea typeface="GyeonggiTitleOTF Light" panose="02020403020101020101" pitchFamily="18" charset="-127"/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7A81617F-74A4-321A-7AFD-352A4C009212}"/>
              </a:ext>
            </a:extLst>
          </p:cNvPr>
          <p:cNvSpPr txBox="1"/>
          <p:nvPr/>
        </p:nvSpPr>
        <p:spPr>
          <a:xfrm>
            <a:off x="6205661" y="3247561"/>
            <a:ext cx="343893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R" altLang="en-US" sz="1600" dirty="0">
                <a:latin typeface="GyeonggiTitleOTF Light" panose="02020403020101020101" pitchFamily="18" charset="-127"/>
                <a:ea typeface="GyeonggiTitleOTF Light" panose="02020403020101020101" pitchFamily="18" charset="-127"/>
              </a:rPr>
              <a:t>모든 공격력 </a:t>
            </a:r>
            <a:r>
              <a:rPr kumimoji="1" lang="en-US" altLang="ko-KR" sz="1600" dirty="0">
                <a:latin typeface="GyeonggiTitleOTF Light" panose="02020403020101020101" pitchFamily="18" charset="-127"/>
                <a:ea typeface="GyeonggiTitleOTF Light" panose="02020403020101020101" pitchFamily="18" charset="-127"/>
              </a:rPr>
              <a:t>7%</a:t>
            </a:r>
            <a:r>
              <a:rPr kumimoji="1" lang="ko-KR" altLang="en-US" sz="1600" dirty="0">
                <a:latin typeface="GyeonggiTitleOTF Light" panose="02020403020101020101" pitchFamily="18" charset="-127"/>
                <a:ea typeface="GyeonggiTitleOTF Light" panose="02020403020101020101" pitchFamily="18" charset="-127"/>
              </a:rPr>
              <a:t> 감소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6C3AF17F-F44A-205B-79B1-FFC538AED5D4}"/>
              </a:ext>
            </a:extLst>
          </p:cNvPr>
          <p:cNvSpPr txBox="1"/>
          <p:nvPr/>
        </p:nvSpPr>
        <p:spPr>
          <a:xfrm>
            <a:off x="6254471" y="1797221"/>
            <a:ext cx="486500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R" altLang="en-US" sz="1600" dirty="0">
                <a:latin typeface="GyeonggiTitleOTF Light" panose="02020403020101020101" pitchFamily="18" charset="-127"/>
                <a:ea typeface="GyeonggiTitleOTF Light" panose="02020403020101020101" pitchFamily="18" charset="-127"/>
              </a:rPr>
              <a:t>생명력이 </a:t>
            </a:r>
            <a:r>
              <a:rPr kumimoji="1" lang="en-US" altLang="ko-KR" sz="1600" dirty="0">
                <a:latin typeface="GyeonggiTitleOTF Light" panose="02020403020101020101" pitchFamily="18" charset="-127"/>
                <a:ea typeface="GyeonggiTitleOTF Light" panose="02020403020101020101" pitchFamily="18" charset="-127"/>
              </a:rPr>
              <a:t>50%</a:t>
            </a:r>
            <a:r>
              <a:rPr kumimoji="1" lang="ko-KR" altLang="en-US" sz="1600" dirty="0">
                <a:latin typeface="GyeonggiTitleOTF Light" panose="02020403020101020101" pitchFamily="18" charset="-127"/>
                <a:ea typeface="GyeonggiTitleOTF Light" panose="02020403020101020101" pitchFamily="18" charset="-127"/>
              </a:rPr>
              <a:t> 이하가 되면 방어력의 </a:t>
            </a:r>
            <a:r>
              <a:rPr kumimoji="1" lang="en-US" altLang="ko-KR" sz="1600" dirty="0">
                <a:latin typeface="GyeonggiTitleOTF Light" panose="02020403020101020101" pitchFamily="18" charset="-127"/>
                <a:ea typeface="GyeonggiTitleOTF Light" panose="02020403020101020101" pitchFamily="18" charset="-127"/>
              </a:rPr>
              <a:t>165%</a:t>
            </a:r>
            <a:r>
              <a:rPr kumimoji="1" lang="ko-KR" altLang="en-US" sz="1600" dirty="0">
                <a:latin typeface="GyeonggiTitleOTF Light" panose="02020403020101020101" pitchFamily="18" charset="-127"/>
                <a:ea typeface="GyeonggiTitleOTF Light" panose="02020403020101020101" pitchFamily="18" charset="-127"/>
              </a:rPr>
              <a:t>만큼 생명력 회복 </a:t>
            </a:r>
            <a:r>
              <a:rPr kumimoji="1" lang="en-US" altLang="ko-KR" sz="1600" dirty="0">
                <a:latin typeface="GyeonggiTitleOTF Light" panose="02020403020101020101" pitchFamily="18" charset="-127"/>
                <a:ea typeface="GyeonggiTitleOTF Light" panose="02020403020101020101" pitchFamily="18" charset="-127"/>
              </a:rPr>
              <a:t>(</a:t>
            </a:r>
            <a:r>
              <a:rPr kumimoji="1" lang="ko-KR" altLang="en-US" sz="1600" dirty="0">
                <a:latin typeface="GyeonggiTitleOTF Light" panose="02020403020101020101" pitchFamily="18" charset="-127"/>
                <a:ea typeface="GyeonggiTitleOTF Light" panose="02020403020101020101" pitchFamily="18" charset="-127"/>
              </a:rPr>
              <a:t>최대 </a:t>
            </a:r>
            <a:r>
              <a:rPr kumimoji="1" lang="en-US" altLang="ko-KR" sz="1600" dirty="0">
                <a:latin typeface="GyeonggiTitleOTF Light" panose="02020403020101020101" pitchFamily="18" charset="-127"/>
                <a:ea typeface="GyeonggiTitleOTF Light" panose="02020403020101020101" pitchFamily="18" charset="-127"/>
              </a:rPr>
              <a:t>3</a:t>
            </a:r>
            <a:r>
              <a:rPr kumimoji="1" lang="ko-KR" altLang="en-US" sz="1600" dirty="0">
                <a:latin typeface="GyeonggiTitleOTF Light" panose="02020403020101020101" pitchFamily="18" charset="-127"/>
                <a:ea typeface="GyeonggiTitleOTF Light" panose="02020403020101020101" pitchFamily="18" charset="-127"/>
              </a:rPr>
              <a:t>회</a:t>
            </a:r>
            <a:r>
              <a:rPr kumimoji="1" lang="en-US" altLang="ko-KR" sz="1600" dirty="0">
                <a:latin typeface="GyeonggiTitleOTF Light" panose="02020403020101020101" pitchFamily="18" charset="-127"/>
                <a:ea typeface="GyeonggiTitleOTF Light" panose="02020403020101020101" pitchFamily="18" charset="-127"/>
              </a:rPr>
              <a:t>),</a:t>
            </a:r>
            <a:r>
              <a:rPr kumimoji="1" lang="ko-KR" altLang="en-US" sz="1600" dirty="0">
                <a:latin typeface="GyeonggiTitleOTF Light" panose="02020403020101020101" pitchFamily="18" charset="-127"/>
                <a:ea typeface="GyeonggiTitleOTF Light" panose="02020403020101020101" pitchFamily="18" charset="-127"/>
              </a:rPr>
              <a:t> </a:t>
            </a:r>
            <a:r>
              <a:rPr kumimoji="1" lang="en-US" altLang="ko-KR" sz="1600" dirty="0">
                <a:latin typeface="GyeonggiTitleOTF Light" panose="02020403020101020101" pitchFamily="18" charset="-127"/>
                <a:ea typeface="GyeonggiTitleOTF Light" panose="02020403020101020101" pitchFamily="18" charset="-127"/>
              </a:rPr>
              <a:t>4</a:t>
            </a:r>
            <a:r>
              <a:rPr kumimoji="1" lang="ko-KR" altLang="en-US" sz="1600" dirty="0">
                <a:latin typeface="GyeonggiTitleOTF Light" panose="02020403020101020101" pitchFamily="18" charset="-127"/>
                <a:ea typeface="GyeonggiTitleOTF Light" panose="02020403020101020101" pitchFamily="18" charset="-127"/>
              </a:rPr>
              <a:t>회 </a:t>
            </a:r>
            <a:r>
              <a:rPr kumimoji="1" lang="ko-KR" altLang="en-US" sz="1600" dirty="0" err="1">
                <a:latin typeface="GyeonggiTitleOTF Light" panose="02020403020101020101" pitchFamily="18" charset="-127"/>
                <a:ea typeface="GyeonggiTitleOTF Light" panose="02020403020101020101" pitchFamily="18" charset="-127"/>
              </a:rPr>
              <a:t>피격시</a:t>
            </a:r>
            <a:r>
              <a:rPr kumimoji="1" lang="ko-KR" altLang="en-US" sz="1600" dirty="0">
                <a:latin typeface="GyeonggiTitleOTF Light" panose="02020403020101020101" pitchFamily="18" charset="-127"/>
                <a:ea typeface="GyeonggiTitleOTF Light" panose="02020403020101020101" pitchFamily="18" charset="-127"/>
              </a:rPr>
              <a:t> 고정피해 </a:t>
            </a:r>
            <a:endParaRPr kumimoji="1" lang="en-US" altLang="ko-KR" sz="1600" dirty="0">
              <a:latin typeface="GyeonggiTitleOTF Light" panose="02020403020101020101" pitchFamily="18" charset="-127"/>
              <a:ea typeface="GyeonggiTitleOTF Light" panose="02020403020101020101" pitchFamily="18" charset="-127"/>
            </a:endParaRPr>
          </a:p>
        </p:txBody>
      </p:sp>
      <p:sp>
        <p:nvSpPr>
          <p:cNvPr id="67" name="대각선 방향의 모서리가 둥근 사각형 66">
            <a:extLst>
              <a:ext uri="{FF2B5EF4-FFF2-40B4-BE49-F238E27FC236}">
                <a16:creationId xmlns:a16="http://schemas.microsoft.com/office/drawing/2014/main" id="{970D0DAB-F2EE-450C-6567-03439A190070}"/>
              </a:ext>
            </a:extLst>
          </p:cNvPr>
          <p:cNvSpPr/>
          <p:nvPr/>
        </p:nvSpPr>
        <p:spPr>
          <a:xfrm>
            <a:off x="6173781" y="1747602"/>
            <a:ext cx="4986582" cy="684015"/>
          </a:xfrm>
          <a:prstGeom prst="round2DiagRect">
            <a:avLst>
              <a:gd name="adj1" fmla="val 16667"/>
              <a:gd name="adj2" fmla="val 0"/>
            </a:avLst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>
              <a:latin typeface="GyeonggiTitleOTF Light" panose="02020403020101020101" pitchFamily="18" charset="-127"/>
              <a:ea typeface="GyeonggiTitleOTF Light" panose="02020403020101020101" pitchFamily="18" charset="-127"/>
            </a:endParaRPr>
          </a:p>
        </p:txBody>
      </p:sp>
      <p:sp>
        <p:nvSpPr>
          <p:cNvPr id="68" name="대각선 방향의 모서리가 둥근 사각형 67">
            <a:extLst>
              <a:ext uri="{FF2B5EF4-FFF2-40B4-BE49-F238E27FC236}">
                <a16:creationId xmlns:a16="http://schemas.microsoft.com/office/drawing/2014/main" id="{DEC7F483-B2F7-54E3-4BEE-CF7F54DE6341}"/>
              </a:ext>
            </a:extLst>
          </p:cNvPr>
          <p:cNvSpPr/>
          <p:nvPr/>
        </p:nvSpPr>
        <p:spPr>
          <a:xfrm>
            <a:off x="6158444" y="2531964"/>
            <a:ext cx="5000455" cy="501802"/>
          </a:xfrm>
          <a:prstGeom prst="round2DiagRect">
            <a:avLst>
              <a:gd name="adj1" fmla="val 16667"/>
              <a:gd name="adj2" fmla="val 0"/>
            </a:avLst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>
              <a:latin typeface="GyeonggiTitleOTF Light" panose="02020403020101020101" pitchFamily="18" charset="-127"/>
              <a:ea typeface="GyeonggiTitleOTF Light" panose="02020403020101020101" pitchFamily="18" charset="-127"/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8ED681C9-568D-6288-0CB9-027ABEA77C8E}"/>
              </a:ext>
            </a:extLst>
          </p:cNvPr>
          <p:cNvSpPr txBox="1"/>
          <p:nvPr/>
        </p:nvSpPr>
        <p:spPr>
          <a:xfrm>
            <a:off x="6205661" y="2565006"/>
            <a:ext cx="496900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R" altLang="en-US" sz="1600" dirty="0">
                <a:latin typeface="GyeonggiTitleOTF Light" panose="02020403020101020101" pitchFamily="18" charset="-127"/>
                <a:ea typeface="GyeonggiTitleOTF Light" panose="02020403020101020101" pitchFamily="18" charset="-127"/>
              </a:rPr>
              <a:t>마법 공격력의 </a:t>
            </a:r>
            <a:r>
              <a:rPr kumimoji="1" lang="en-US" altLang="ko-KR" sz="1600" dirty="0">
                <a:latin typeface="GyeonggiTitleOTF Light" panose="02020403020101020101" pitchFamily="18" charset="-127"/>
                <a:ea typeface="GyeonggiTitleOTF Light" panose="02020403020101020101" pitchFamily="18" charset="-127"/>
              </a:rPr>
              <a:t>42%</a:t>
            </a:r>
            <a:r>
              <a:rPr kumimoji="1" lang="ko-KR" altLang="en-US" sz="1600" dirty="0">
                <a:latin typeface="GyeonggiTitleOTF Light" panose="02020403020101020101" pitchFamily="18" charset="-127"/>
                <a:ea typeface="GyeonggiTitleOTF Light" panose="02020403020101020101" pitchFamily="18" charset="-127"/>
              </a:rPr>
              <a:t> 방어력의 </a:t>
            </a:r>
            <a:r>
              <a:rPr kumimoji="1" lang="en-US" altLang="ko-KR" sz="1600" dirty="0">
                <a:latin typeface="GyeonggiTitleOTF Light" panose="02020403020101020101" pitchFamily="18" charset="-127"/>
                <a:ea typeface="GyeonggiTitleOTF Light" panose="02020403020101020101" pitchFamily="18" charset="-127"/>
              </a:rPr>
              <a:t>47%</a:t>
            </a:r>
            <a:r>
              <a:rPr kumimoji="1" lang="ko-KR" altLang="en-US" sz="1600" dirty="0">
                <a:latin typeface="GyeonggiTitleOTF Light" panose="02020403020101020101" pitchFamily="18" charset="-127"/>
                <a:ea typeface="GyeonggiTitleOTF Light" panose="02020403020101020101" pitchFamily="18" charset="-127"/>
              </a:rPr>
              <a:t> 만큼 </a:t>
            </a:r>
            <a:r>
              <a:rPr kumimoji="1" lang="en-US" altLang="ko-KR" sz="1600" dirty="0">
                <a:latin typeface="GyeonggiTitleOTF Light" panose="02020403020101020101" pitchFamily="18" charset="-127"/>
                <a:ea typeface="GyeonggiTitleOTF Light" panose="02020403020101020101" pitchFamily="18" charset="-127"/>
              </a:rPr>
              <a:t>2</a:t>
            </a:r>
            <a:r>
              <a:rPr kumimoji="1" lang="ko-KR" altLang="en-US" sz="1600" dirty="0">
                <a:latin typeface="GyeonggiTitleOTF Light" panose="02020403020101020101" pitchFamily="18" charset="-127"/>
                <a:ea typeface="GyeonggiTitleOTF Light" panose="02020403020101020101" pitchFamily="18" charset="-127"/>
              </a:rPr>
              <a:t>회 피해 </a:t>
            </a:r>
            <a:r>
              <a:rPr kumimoji="1" lang="en-US" altLang="ko-KR" sz="1000" dirty="0">
                <a:latin typeface="GyeonggiTitleOTF Light" panose="02020403020101020101" pitchFamily="18" charset="-127"/>
                <a:ea typeface="GyeonggiTitleOTF Light" panose="02020403020101020101" pitchFamily="18" charset="-127"/>
              </a:rPr>
              <a:t>(</a:t>
            </a:r>
            <a:r>
              <a:rPr kumimoji="1" lang="ko-KR" altLang="en-US" sz="1000" dirty="0" err="1">
                <a:latin typeface="GyeonggiTitleOTF Light" panose="02020403020101020101" pitchFamily="18" charset="-127"/>
                <a:ea typeface="GyeonggiTitleOTF Light" panose="02020403020101020101" pitchFamily="18" charset="-127"/>
              </a:rPr>
              <a:t>피해량의</a:t>
            </a:r>
            <a:r>
              <a:rPr kumimoji="1" lang="ko-KR" altLang="en-US" sz="1000" dirty="0">
                <a:latin typeface="GyeonggiTitleOTF Light" panose="02020403020101020101" pitchFamily="18" charset="-127"/>
                <a:ea typeface="GyeonggiTitleOTF Light" panose="02020403020101020101" pitchFamily="18" charset="-127"/>
              </a:rPr>
              <a:t> </a:t>
            </a:r>
            <a:r>
              <a:rPr kumimoji="1" lang="en-US" altLang="ko-KR" sz="1000" dirty="0">
                <a:latin typeface="GyeonggiTitleOTF Light" panose="02020403020101020101" pitchFamily="18" charset="-127"/>
                <a:ea typeface="GyeonggiTitleOTF Light" panose="02020403020101020101" pitchFamily="18" charset="-127"/>
              </a:rPr>
              <a:t>32%</a:t>
            </a:r>
            <a:r>
              <a:rPr kumimoji="1" lang="ko-KR" altLang="en-US" sz="1000" dirty="0">
                <a:latin typeface="GyeonggiTitleOTF Light" panose="02020403020101020101" pitchFamily="18" charset="-127"/>
                <a:ea typeface="GyeonggiTitleOTF Light" panose="02020403020101020101" pitchFamily="18" charset="-127"/>
              </a:rPr>
              <a:t>만큼 생명력 회복</a:t>
            </a:r>
            <a:r>
              <a:rPr kumimoji="1" lang="en-US" altLang="ko-KR" sz="1000" dirty="0">
                <a:latin typeface="GyeonggiTitleOTF Light" panose="02020403020101020101" pitchFamily="18" charset="-127"/>
                <a:ea typeface="GyeonggiTitleOTF Light" panose="02020403020101020101" pitchFamily="18" charset="-127"/>
              </a:rPr>
              <a:t>)</a:t>
            </a:r>
          </a:p>
          <a:p>
            <a:endParaRPr kumimoji="1" lang="en-US" altLang="ko-KR" dirty="0">
              <a:latin typeface="GyeonggiTitleOTF Light" panose="02020403020101020101" pitchFamily="18" charset="-127"/>
              <a:ea typeface="GyeonggiTitleOTF Light" panose="02020403020101020101" pitchFamily="18" charset="-127"/>
            </a:endParaRPr>
          </a:p>
        </p:txBody>
      </p:sp>
      <p:grpSp>
        <p:nvGrpSpPr>
          <p:cNvPr id="91" name="그룹 90">
            <a:extLst>
              <a:ext uri="{FF2B5EF4-FFF2-40B4-BE49-F238E27FC236}">
                <a16:creationId xmlns:a16="http://schemas.microsoft.com/office/drawing/2014/main" id="{48ED2EEE-1920-93D1-61D2-09E5A308C99F}"/>
              </a:ext>
            </a:extLst>
          </p:cNvPr>
          <p:cNvGrpSpPr/>
          <p:nvPr/>
        </p:nvGrpSpPr>
        <p:grpSpPr>
          <a:xfrm>
            <a:off x="407882" y="4480810"/>
            <a:ext cx="1329289" cy="1968207"/>
            <a:chOff x="2232597" y="3925627"/>
            <a:chExt cx="1329289" cy="1968207"/>
          </a:xfrm>
          <a:effectLst>
            <a:outerShdw blurRad="50800" dist="63500" dir="2700000" algn="ctr" rotWithShape="0">
              <a:srgbClr val="000000">
                <a:alpha val="53000"/>
              </a:srgbClr>
            </a:outerShdw>
          </a:effectLst>
        </p:grpSpPr>
        <p:grpSp>
          <p:nvGrpSpPr>
            <p:cNvPr id="90" name="그룹 89">
              <a:extLst>
                <a:ext uri="{FF2B5EF4-FFF2-40B4-BE49-F238E27FC236}">
                  <a16:creationId xmlns:a16="http://schemas.microsoft.com/office/drawing/2014/main" id="{5FAB47A4-5B2D-A5F6-0356-828904B37F18}"/>
                </a:ext>
              </a:extLst>
            </p:cNvPr>
            <p:cNvGrpSpPr/>
            <p:nvPr/>
          </p:nvGrpSpPr>
          <p:grpSpPr>
            <a:xfrm>
              <a:off x="2232597" y="3925627"/>
              <a:ext cx="1329289" cy="1968207"/>
              <a:chOff x="2232597" y="3925627"/>
              <a:chExt cx="1329289" cy="1968207"/>
            </a:xfrm>
          </p:grpSpPr>
          <p:grpSp>
            <p:nvGrpSpPr>
              <p:cNvPr id="77" name="그룹 76">
                <a:extLst>
                  <a:ext uri="{FF2B5EF4-FFF2-40B4-BE49-F238E27FC236}">
                    <a16:creationId xmlns:a16="http://schemas.microsoft.com/office/drawing/2014/main" id="{2B77DE75-50F0-943B-DAF4-D7AC065F8E47}"/>
                  </a:ext>
                </a:extLst>
              </p:cNvPr>
              <p:cNvGrpSpPr/>
              <p:nvPr/>
            </p:nvGrpSpPr>
            <p:grpSpPr>
              <a:xfrm>
                <a:off x="2232597" y="3925627"/>
                <a:ext cx="1329289" cy="1968207"/>
                <a:chOff x="834753" y="3940872"/>
                <a:chExt cx="1329289" cy="1968207"/>
              </a:xfrm>
            </p:grpSpPr>
            <p:grpSp>
              <p:nvGrpSpPr>
                <p:cNvPr id="78" name="그룹 77">
                  <a:extLst>
                    <a:ext uri="{FF2B5EF4-FFF2-40B4-BE49-F238E27FC236}">
                      <a16:creationId xmlns:a16="http://schemas.microsoft.com/office/drawing/2014/main" id="{10A4059D-1489-E0E0-5A0D-E746655C7C44}"/>
                    </a:ext>
                  </a:extLst>
                </p:cNvPr>
                <p:cNvGrpSpPr/>
                <p:nvPr/>
              </p:nvGrpSpPr>
              <p:grpSpPr>
                <a:xfrm>
                  <a:off x="834753" y="3940872"/>
                  <a:ext cx="1329289" cy="1968207"/>
                  <a:chOff x="2050463" y="2359341"/>
                  <a:chExt cx="1664465" cy="2118360"/>
                </a:xfrm>
              </p:grpSpPr>
              <p:sp>
                <p:nvSpPr>
                  <p:cNvPr id="82" name="대각선 방향의 모서리가 둥근 사각형 81">
                    <a:extLst>
                      <a:ext uri="{FF2B5EF4-FFF2-40B4-BE49-F238E27FC236}">
                        <a16:creationId xmlns:a16="http://schemas.microsoft.com/office/drawing/2014/main" id="{F417C96E-A955-5E3C-D17D-1BC47C0D16D6}"/>
                      </a:ext>
                    </a:extLst>
                  </p:cNvPr>
                  <p:cNvSpPr/>
                  <p:nvPr/>
                </p:nvSpPr>
                <p:spPr>
                  <a:xfrm>
                    <a:off x="2072640" y="2407919"/>
                    <a:ext cx="1600200" cy="2042160"/>
                  </a:xfrm>
                  <a:prstGeom prst="round2DiagRect">
                    <a:avLst/>
                  </a:prstGeom>
                  <a:solidFill>
                    <a:srgbClr val="DE9B35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ko-KR" altLang="en-US" dirty="0">
                      <a:latin typeface="GyeonggiTitleOTF Light" panose="02020403020101020101" pitchFamily="18" charset="-127"/>
                      <a:ea typeface="GyeonggiTitleOTF Light" panose="02020403020101020101" pitchFamily="18" charset="-127"/>
                    </a:endParaRPr>
                  </a:p>
                </p:txBody>
              </p:sp>
              <p:grpSp>
                <p:nvGrpSpPr>
                  <p:cNvPr id="83" name="그룹 82">
                    <a:extLst>
                      <a:ext uri="{FF2B5EF4-FFF2-40B4-BE49-F238E27FC236}">
                        <a16:creationId xmlns:a16="http://schemas.microsoft.com/office/drawing/2014/main" id="{02B933C9-86F0-E92F-7997-573F66C1D717}"/>
                      </a:ext>
                    </a:extLst>
                  </p:cNvPr>
                  <p:cNvGrpSpPr/>
                  <p:nvPr/>
                </p:nvGrpSpPr>
                <p:grpSpPr>
                  <a:xfrm>
                    <a:off x="2072640" y="4012083"/>
                    <a:ext cx="1600200" cy="438000"/>
                    <a:chOff x="2072640" y="4035642"/>
                    <a:chExt cx="1600200" cy="414442"/>
                  </a:xfrm>
                </p:grpSpPr>
                <p:sp>
                  <p:nvSpPr>
                    <p:cNvPr id="86" name="대각선 방향의 모서리가 둥근 사각형 85">
                      <a:extLst>
                        <a:ext uri="{FF2B5EF4-FFF2-40B4-BE49-F238E27FC236}">
                          <a16:creationId xmlns:a16="http://schemas.microsoft.com/office/drawing/2014/main" id="{88511FA9-3F17-D143-95DA-650B73AE210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072640" y="4035647"/>
                      <a:ext cx="1600200" cy="414437"/>
                    </a:xfrm>
                    <a:prstGeom prst="round2DiagRect">
                      <a:avLst>
                        <a:gd name="adj1" fmla="val 50000"/>
                        <a:gd name="adj2" fmla="val 0"/>
                      </a:avLst>
                    </a:prstGeom>
                    <a:solidFill>
                      <a:schemeClr val="tx1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kumimoji="1" lang="ko-KR" altLang="en-US" dirty="0">
                        <a:latin typeface="GyeonggiTitleOTF Light" panose="02020403020101020101" pitchFamily="18" charset="-127"/>
                        <a:ea typeface="GyeonggiTitleOTF Light" panose="02020403020101020101" pitchFamily="18" charset="-127"/>
                      </a:endParaRPr>
                    </a:p>
                  </p:txBody>
                </p:sp>
                <p:sp>
                  <p:nvSpPr>
                    <p:cNvPr id="87" name="대각선 방향의 모서리가 둥근 사각형 86">
                      <a:extLst>
                        <a:ext uri="{FF2B5EF4-FFF2-40B4-BE49-F238E27FC236}">
                          <a16:creationId xmlns:a16="http://schemas.microsoft.com/office/drawing/2014/main" id="{105CD587-3D18-1FBA-78D9-BC4D4523E4F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072640" y="4035642"/>
                      <a:ext cx="630808" cy="405737"/>
                    </a:xfrm>
                    <a:prstGeom prst="round2DiagRect">
                      <a:avLst>
                        <a:gd name="adj1" fmla="val 0"/>
                        <a:gd name="adj2" fmla="val 0"/>
                      </a:avLst>
                    </a:prstGeom>
                    <a:solidFill>
                      <a:schemeClr val="tx1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kumimoji="1" lang="ko-KR" altLang="en-US" dirty="0">
                        <a:latin typeface="GyeonggiTitleOTF Light" panose="02020403020101020101" pitchFamily="18" charset="-127"/>
                        <a:ea typeface="GyeonggiTitleOTF Light" panose="02020403020101020101" pitchFamily="18" charset="-127"/>
                      </a:endParaRPr>
                    </a:p>
                  </p:txBody>
                </p:sp>
              </p:grpSp>
              <p:sp>
                <p:nvSpPr>
                  <p:cNvPr id="84" name="대각선 방향의 모서리가 둥근 사각형 83">
                    <a:extLst>
                      <a:ext uri="{FF2B5EF4-FFF2-40B4-BE49-F238E27FC236}">
                        <a16:creationId xmlns:a16="http://schemas.microsoft.com/office/drawing/2014/main" id="{DD6918CB-980A-8A5B-6247-6B4DB3538033}"/>
                      </a:ext>
                    </a:extLst>
                  </p:cNvPr>
                  <p:cNvSpPr/>
                  <p:nvPr/>
                </p:nvSpPr>
                <p:spPr>
                  <a:xfrm>
                    <a:off x="2050463" y="2380297"/>
                    <a:ext cx="1652055" cy="2097404"/>
                  </a:xfrm>
                  <a:prstGeom prst="round2DiagRect">
                    <a:avLst>
                      <a:gd name="adj1" fmla="val 16667"/>
                      <a:gd name="adj2" fmla="val 0"/>
                    </a:avLst>
                  </a:prstGeom>
                  <a:noFill/>
                  <a:ln>
                    <a:solidFill>
                      <a:srgbClr val="FFFFED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ko-KR" altLang="en-US" dirty="0">
                      <a:latin typeface="GyeonggiTitleOTF Light" panose="02020403020101020101" pitchFamily="18" charset="-127"/>
                      <a:ea typeface="GyeonggiTitleOTF Light" panose="02020403020101020101" pitchFamily="18" charset="-127"/>
                    </a:endParaRPr>
                  </a:p>
                </p:txBody>
              </p:sp>
              <p:pic>
                <p:nvPicPr>
                  <p:cNvPr id="85" name="그림 84" descr="스크린샷, 예술, 마룬, 어둠이(가) 표시된 사진&#10;&#10;AI 생성 콘텐츠는 정확하지 않을 수 있습니다.">
                    <a:extLst>
                      <a:ext uri="{FF2B5EF4-FFF2-40B4-BE49-F238E27FC236}">
                        <a16:creationId xmlns:a16="http://schemas.microsoft.com/office/drawing/2014/main" id="{D6797FFC-E445-1642-B7E8-4F208E557CE3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4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2800528" y="2359341"/>
                    <a:ext cx="914400" cy="812800"/>
                  </a:xfrm>
                  <a:prstGeom prst="rect">
                    <a:avLst/>
                  </a:prstGeom>
                </p:spPr>
              </p:pic>
            </p:grpSp>
            <p:sp>
              <p:nvSpPr>
                <p:cNvPr id="79" name="TextBox 78">
                  <a:extLst>
                    <a:ext uri="{FF2B5EF4-FFF2-40B4-BE49-F238E27FC236}">
                      <a16:creationId xmlns:a16="http://schemas.microsoft.com/office/drawing/2014/main" id="{37EA3EB3-1932-C604-78F0-1F5A88730B1C}"/>
                    </a:ext>
                  </a:extLst>
                </p:cNvPr>
                <p:cNvSpPr txBox="1"/>
                <p:nvPr/>
              </p:nvSpPr>
              <p:spPr>
                <a:xfrm>
                  <a:off x="1060855" y="5506899"/>
                  <a:ext cx="811358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kumimoji="1" lang="ko-KR" altLang="en-US" sz="1400" dirty="0">
                      <a:solidFill>
                        <a:schemeClr val="bg1"/>
                      </a:solidFill>
                      <a:latin typeface="GyeonggiTitleOTF Light" panose="02020403020101020101" pitchFamily="18" charset="-127"/>
                      <a:ea typeface="GyeonggiTitleOTF Light" panose="02020403020101020101" pitchFamily="18" charset="-127"/>
                    </a:rPr>
                    <a:t>플라튼</a:t>
                  </a:r>
                  <a:endParaRPr kumimoji="1" lang="en-US" altLang="ko-KR" sz="1400" dirty="0">
                    <a:solidFill>
                      <a:schemeClr val="bg1"/>
                    </a:solidFill>
                    <a:latin typeface="GyeonggiTitleOTF Light" panose="02020403020101020101" pitchFamily="18" charset="-127"/>
                    <a:ea typeface="GyeonggiTitleOTF Light" panose="02020403020101020101" pitchFamily="18" charset="-127"/>
                  </a:endParaRPr>
                </a:p>
              </p:txBody>
            </p:sp>
          </p:grpSp>
          <p:pic>
            <p:nvPicPr>
              <p:cNvPr id="88" name="그림 87" descr="아니메, 만화 영화, 망가, CG 아트워크이(가) 표시된 사진&#10;&#10;AI 생성 콘텐츠는 정확하지 않을 수 있습니다.">
                <a:extLst>
                  <a:ext uri="{FF2B5EF4-FFF2-40B4-BE49-F238E27FC236}">
                    <a16:creationId xmlns:a16="http://schemas.microsoft.com/office/drawing/2014/main" id="{FA3A99C6-C565-8729-6E03-D1252120BA2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7179" r="9773"/>
              <a:stretch>
                <a:fillRect/>
              </a:stretch>
            </p:blipFill>
            <p:spPr>
              <a:xfrm>
                <a:off x="2241071" y="3943282"/>
                <a:ext cx="1287202" cy="1522930"/>
              </a:xfrm>
              <a:prstGeom prst="rect">
                <a:avLst/>
              </a:prstGeom>
            </p:spPr>
          </p:pic>
        </p:grpSp>
        <p:pic>
          <p:nvPicPr>
            <p:cNvPr id="89" name="그림 88">
              <a:extLst>
                <a:ext uri="{FF2B5EF4-FFF2-40B4-BE49-F238E27FC236}">
                  <a16:creationId xmlns:a16="http://schemas.microsoft.com/office/drawing/2014/main" id="{6BE7ABD4-45F8-4C5D-35A8-12F470CD0816}"/>
                </a:ext>
              </a:extLst>
            </p:cNvPr>
            <p:cNvPicPr>
              <a:picLocks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255255" y="5179022"/>
              <a:ext cx="288000" cy="288000"/>
            </a:xfrm>
            <a:prstGeom prst="rect">
              <a:avLst/>
            </a:prstGeom>
          </p:spPr>
        </p:pic>
      </p:grpSp>
      <p:sp>
        <p:nvSpPr>
          <p:cNvPr id="122" name="TextBox 121">
            <a:extLst>
              <a:ext uri="{FF2B5EF4-FFF2-40B4-BE49-F238E27FC236}">
                <a16:creationId xmlns:a16="http://schemas.microsoft.com/office/drawing/2014/main" id="{B8617B56-B791-DF2C-9881-96DD70D4321F}"/>
              </a:ext>
            </a:extLst>
          </p:cNvPr>
          <p:cNvSpPr txBox="1"/>
          <p:nvPr/>
        </p:nvSpPr>
        <p:spPr>
          <a:xfrm>
            <a:off x="5692053" y="4315218"/>
            <a:ext cx="5519516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R" altLang="en-US" sz="1600" b="1" dirty="0">
                <a:latin typeface="GYEONGGITITLEOTF LIGHT" panose="02020403020101020101" pitchFamily="18" charset="-127"/>
                <a:ea typeface="GYEONGGITITLEOTF LIGHT" panose="02020403020101020101" pitchFamily="18" charset="-127"/>
              </a:rPr>
              <a:t>플라튼</a:t>
            </a:r>
            <a:r>
              <a:rPr kumimoji="1" lang="ko-KR" altLang="en-US" sz="1600" dirty="0">
                <a:latin typeface="GyeonggiTitleOTF Light" panose="02020403020101020101" pitchFamily="18" charset="-127"/>
                <a:ea typeface="GyeonggiTitleOTF Light" panose="02020403020101020101" pitchFamily="18" charset="-127"/>
              </a:rPr>
              <a:t>은 뛰어난 </a:t>
            </a:r>
            <a:r>
              <a:rPr kumimoji="1" lang="ko-KR" altLang="en-US" sz="1600" dirty="0" err="1">
                <a:latin typeface="GyeonggiTitleOTF Light" panose="02020403020101020101" pitchFamily="18" charset="-127"/>
                <a:ea typeface="GyeonggiTitleOTF Light" panose="02020403020101020101" pitchFamily="18" charset="-127"/>
              </a:rPr>
              <a:t>유지력으로</a:t>
            </a:r>
            <a:r>
              <a:rPr kumimoji="1" lang="ko-KR" altLang="en-US" sz="1600" dirty="0">
                <a:latin typeface="GyeonggiTitleOTF Light" panose="02020403020101020101" pitchFamily="18" charset="-127"/>
                <a:ea typeface="GyeonggiTitleOTF Light" panose="02020403020101020101" pitchFamily="18" charset="-127"/>
              </a:rPr>
              <a:t> 적의 공격을 견디며 안정적으로 전투를 주도</a:t>
            </a:r>
            <a:endParaRPr kumimoji="1" lang="en-US" altLang="ko-KR" sz="1600" dirty="0">
              <a:latin typeface="GyeonggiTitleOTF Light" panose="02020403020101020101" pitchFamily="18" charset="-127"/>
              <a:ea typeface="GyeonggiTitleOTF Light" panose="02020403020101020101" pitchFamily="18" charset="-127"/>
            </a:endParaRPr>
          </a:p>
          <a:p>
            <a:endParaRPr kumimoji="1" lang="en-US" altLang="ko-KR" sz="1600" dirty="0">
              <a:latin typeface="GyeonggiTitleOTF Light" panose="02020403020101020101" pitchFamily="18" charset="-127"/>
              <a:ea typeface="GyeonggiTitleOTF Light" panose="02020403020101020101" pitchFamily="18" charset="-127"/>
            </a:endParaRPr>
          </a:p>
          <a:p>
            <a:r>
              <a:rPr kumimoji="1" lang="ko-KR" altLang="en-US" sz="1600" b="1" dirty="0" err="1">
                <a:latin typeface="GYEONGGITITLEOTF LIGHT" panose="02020403020101020101" pitchFamily="18" charset="-127"/>
                <a:ea typeface="GYEONGGITITLEOTF LIGHT" panose="02020403020101020101" pitchFamily="18" charset="-127"/>
              </a:rPr>
              <a:t>플라튼</a:t>
            </a:r>
            <a:r>
              <a:rPr kumimoji="1" lang="ko-KR" altLang="en-US" sz="1600" dirty="0" err="1">
                <a:latin typeface="GyeonggiTitleOTF Light" panose="02020403020101020101" pitchFamily="18" charset="-127"/>
                <a:ea typeface="GyeonggiTitleOTF Light" panose="02020403020101020101" pitchFamily="18" charset="-127"/>
              </a:rPr>
              <a:t>의</a:t>
            </a:r>
            <a:r>
              <a:rPr kumimoji="1" lang="ko-KR" altLang="en-US" sz="1600" dirty="0">
                <a:latin typeface="GyeonggiTitleOTF Light" panose="02020403020101020101" pitchFamily="18" charset="-127"/>
                <a:ea typeface="GyeonggiTitleOTF Light" panose="02020403020101020101" pitchFamily="18" charset="-127"/>
              </a:rPr>
              <a:t> </a:t>
            </a:r>
            <a:r>
              <a:rPr kumimoji="1" lang="ko-KR" altLang="en-US" sz="1600" b="1" dirty="0">
                <a:latin typeface="GYEONGGITITLEOTF LIGHT" panose="02020403020101020101" pitchFamily="18" charset="-127"/>
                <a:ea typeface="GYEONGGITITLEOTF LIGHT" panose="02020403020101020101" pitchFamily="18" charset="-127"/>
              </a:rPr>
              <a:t>패시브 스킬</a:t>
            </a:r>
            <a:r>
              <a:rPr kumimoji="1" lang="en-US" altLang="ko-KR" sz="1600" dirty="0">
                <a:latin typeface="GyeonggiTitleOTF Light" panose="02020403020101020101" pitchFamily="18" charset="-127"/>
                <a:ea typeface="GyeonggiTitleOTF Light" panose="02020403020101020101" pitchFamily="18" charset="-127"/>
              </a:rPr>
              <a:t>(</a:t>
            </a:r>
            <a:r>
              <a:rPr kumimoji="1" lang="ko-KR" altLang="en-US" sz="1600" dirty="0">
                <a:latin typeface="GyeonggiTitleOTF Light" panose="02020403020101020101" pitchFamily="18" charset="-127"/>
                <a:ea typeface="GyeonggiTitleOTF Light" panose="02020403020101020101" pitchFamily="18" charset="-127"/>
              </a:rPr>
              <a:t>피격 시 고정피해</a:t>
            </a:r>
            <a:r>
              <a:rPr kumimoji="1" lang="en-US" altLang="ko-KR" sz="1600" dirty="0">
                <a:latin typeface="GyeonggiTitleOTF Light" panose="02020403020101020101" pitchFamily="18" charset="-127"/>
                <a:ea typeface="GyeonggiTitleOTF Light" panose="02020403020101020101" pitchFamily="18" charset="-127"/>
              </a:rPr>
              <a:t>,</a:t>
            </a:r>
            <a:r>
              <a:rPr kumimoji="1" lang="ko-KR" altLang="en-US" sz="1600" dirty="0">
                <a:latin typeface="GyeonggiTitleOTF Light" panose="02020403020101020101" pitchFamily="18" charset="-127"/>
                <a:ea typeface="GyeonggiTitleOTF Light" panose="02020403020101020101" pitchFamily="18" charset="-127"/>
              </a:rPr>
              <a:t> 생명력 회복</a:t>
            </a:r>
            <a:r>
              <a:rPr kumimoji="1" lang="en-US" altLang="ko-KR" sz="1600" dirty="0">
                <a:latin typeface="GyeonggiTitleOTF Light" panose="02020403020101020101" pitchFamily="18" charset="-127"/>
                <a:ea typeface="GyeonggiTitleOTF Light" panose="02020403020101020101" pitchFamily="18" charset="-127"/>
              </a:rPr>
              <a:t>)</a:t>
            </a:r>
            <a:r>
              <a:rPr kumimoji="1" lang="ko-KR" altLang="en-US" sz="1600" dirty="0">
                <a:latin typeface="GyeonggiTitleOTF Light" panose="02020403020101020101" pitchFamily="18" charset="-127"/>
                <a:ea typeface="GyeonggiTitleOTF Light" panose="02020403020101020101" pitchFamily="18" charset="-127"/>
              </a:rPr>
              <a:t>을 통한 장기화</a:t>
            </a:r>
            <a:endParaRPr kumimoji="1" lang="en-US" altLang="ko-KR" sz="1600" dirty="0">
              <a:latin typeface="GyeonggiTitleOTF Light" panose="02020403020101020101" pitchFamily="18" charset="-127"/>
              <a:ea typeface="GyeonggiTitleOTF Light" panose="02020403020101020101" pitchFamily="18" charset="-127"/>
            </a:endParaRPr>
          </a:p>
          <a:p>
            <a:r>
              <a:rPr kumimoji="1" lang="ko-KR" altLang="en-US" sz="1600" dirty="0">
                <a:latin typeface="GyeonggiTitleOTF Light" panose="02020403020101020101" pitchFamily="18" charset="-127"/>
                <a:ea typeface="GyeonggiTitleOTF Light" panose="02020403020101020101" pitchFamily="18" charset="-127"/>
              </a:rPr>
              <a:t> </a:t>
            </a:r>
            <a:endParaRPr kumimoji="1" lang="en-US" altLang="ko-KR" sz="1600" dirty="0">
              <a:latin typeface="GyeonggiTitleOTF Light" panose="02020403020101020101" pitchFamily="18" charset="-127"/>
              <a:ea typeface="GyeonggiTitleOTF Light" panose="02020403020101020101" pitchFamily="18" charset="-127"/>
            </a:endParaRPr>
          </a:p>
          <a:p>
            <a:r>
              <a:rPr kumimoji="1" lang="en-US" altLang="ko-KR" sz="1600" dirty="0">
                <a:latin typeface="GyeonggiTitleOTF Light" panose="02020403020101020101" pitchFamily="18" charset="-127"/>
                <a:ea typeface="GyeonggiTitleOTF Light" panose="02020403020101020101" pitchFamily="18" charset="-127"/>
              </a:rPr>
              <a:t>-</a:t>
            </a:r>
            <a:r>
              <a:rPr kumimoji="1" lang="ko-KR" altLang="en-US" sz="1600" dirty="0">
                <a:latin typeface="GyeonggiTitleOTF Light" panose="02020403020101020101" pitchFamily="18" charset="-127"/>
                <a:ea typeface="GyeonggiTitleOTF Light" panose="02020403020101020101" pitchFamily="18" charset="-127"/>
              </a:rPr>
              <a:t> </a:t>
            </a:r>
            <a:r>
              <a:rPr kumimoji="1" lang="ko-KR" altLang="en-US" sz="1600" dirty="0" err="1">
                <a:latin typeface="GyeonggiTitleOTF Light" panose="02020403020101020101" pitchFamily="18" charset="-127"/>
                <a:ea typeface="GyeonggiTitleOTF Light" panose="02020403020101020101" pitchFamily="18" charset="-127"/>
              </a:rPr>
              <a:t>공덱의</a:t>
            </a:r>
            <a:r>
              <a:rPr kumimoji="1" lang="ko-KR" altLang="en-US" sz="1600" dirty="0">
                <a:latin typeface="GyeonggiTitleOTF Light" panose="02020403020101020101" pitchFamily="18" charset="-127"/>
                <a:ea typeface="GyeonggiTitleOTF Light" panose="02020403020101020101" pitchFamily="18" charset="-127"/>
              </a:rPr>
              <a:t> 초반 </a:t>
            </a:r>
            <a:r>
              <a:rPr kumimoji="1" lang="ko-KR" altLang="en-US" sz="1600" dirty="0" err="1">
                <a:latin typeface="GyeonggiTitleOTF Light" panose="02020403020101020101" pitchFamily="18" charset="-127"/>
                <a:ea typeface="GyeonggiTitleOTF Light" panose="02020403020101020101" pitchFamily="18" charset="-127"/>
              </a:rPr>
              <a:t>딜링을</a:t>
            </a:r>
            <a:r>
              <a:rPr kumimoji="1" lang="ko-KR" altLang="en-US" sz="1600" dirty="0">
                <a:latin typeface="GyeonggiTitleOTF Light" panose="02020403020101020101" pitchFamily="18" charset="-127"/>
                <a:ea typeface="GyeonggiTitleOTF Light" panose="02020403020101020101" pitchFamily="18" charset="-127"/>
              </a:rPr>
              <a:t> 버틴다면 플라튼을 활용한 </a:t>
            </a:r>
            <a:r>
              <a:rPr kumimoji="1" lang="ko-KR" altLang="en-US" sz="1600" dirty="0" err="1">
                <a:latin typeface="GyeonggiTitleOTF Light" panose="02020403020101020101" pitchFamily="18" charset="-127"/>
                <a:ea typeface="GyeonggiTitleOTF Light" panose="02020403020101020101" pitchFamily="18" charset="-127"/>
              </a:rPr>
              <a:t>덱이</a:t>
            </a:r>
            <a:r>
              <a:rPr kumimoji="1" lang="ko-KR" altLang="en-US" sz="1600" dirty="0">
                <a:latin typeface="GyeonggiTitleOTF Light" panose="02020403020101020101" pitchFamily="18" charset="-127"/>
                <a:ea typeface="GyeonggiTitleOTF Light" panose="02020403020101020101" pitchFamily="18" charset="-127"/>
              </a:rPr>
              <a:t> 전투를 장기전으로 이끌며 유리한 상성 보유</a:t>
            </a:r>
            <a:endParaRPr kumimoji="1" lang="en-US" altLang="ko-KR" sz="1600" dirty="0">
              <a:latin typeface="GyeonggiTitleOTF Light" panose="02020403020101020101" pitchFamily="18" charset="-127"/>
              <a:ea typeface="GyeonggiTitleOTF Light" panose="02020403020101020101" pitchFamily="18" charset="-127"/>
            </a:endParaRPr>
          </a:p>
        </p:txBody>
      </p:sp>
      <p:sp>
        <p:nvSpPr>
          <p:cNvPr id="120" name="모서리가 둥근 직사각형 119">
            <a:extLst>
              <a:ext uri="{FF2B5EF4-FFF2-40B4-BE49-F238E27FC236}">
                <a16:creationId xmlns:a16="http://schemas.microsoft.com/office/drawing/2014/main" id="{B6A16E3D-CD65-523F-85B2-1F172F77C8F1}"/>
              </a:ext>
            </a:extLst>
          </p:cNvPr>
          <p:cNvSpPr/>
          <p:nvPr/>
        </p:nvSpPr>
        <p:spPr>
          <a:xfrm>
            <a:off x="5607546" y="4080900"/>
            <a:ext cx="5567123" cy="2195157"/>
          </a:xfrm>
          <a:prstGeom prst="roundRect">
            <a:avLst/>
          </a:prstGeom>
          <a:noFill/>
          <a:ln w="38100">
            <a:solidFill>
              <a:srgbClr val="1A53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>
              <a:latin typeface="GyeonggiTitle Bold" panose="02020803020101020101" pitchFamily="18" charset="-127"/>
              <a:ea typeface="GyeonggiTitle Bold" panose="02020803020101020101" pitchFamily="18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07C29E4-0712-524F-56D7-EBFE93047811}"/>
              </a:ext>
            </a:extLst>
          </p:cNvPr>
          <p:cNvSpPr txBox="1"/>
          <p:nvPr/>
        </p:nvSpPr>
        <p:spPr>
          <a:xfrm>
            <a:off x="5848109" y="6412606"/>
            <a:ext cx="49578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ko-KR" sz="1000" dirty="0">
                <a:latin typeface="GyeonggiTitle Bold" panose="02020803020101020101" pitchFamily="18" charset="-127"/>
                <a:ea typeface="GyeonggiTitle Bold" panose="02020803020101020101" pitchFamily="18" charset="-127"/>
              </a:rPr>
              <a:t>- 8 - </a:t>
            </a:r>
            <a:endParaRPr kumimoji="1" lang="ko-KR" altLang="en-US" sz="1000" dirty="0">
              <a:latin typeface="GyeonggiTitle Bold" panose="02020803020101020101" pitchFamily="18" charset="-127"/>
              <a:ea typeface="GyeonggiTitle Bold" panose="02020803020101020101" pitchFamily="18" charset="-127"/>
            </a:endParaRPr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2D31F071-E1CE-BF83-95E2-CF8004474148}"/>
              </a:ext>
            </a:extLst>
          </p:cNvPr>
          <p:cNvGrpSpPr/>
          <p:nvPr/>
        </p:nvGrpSpPr>
        <p:grpSpPr>
          <a:xfrm>
            <a:off x="5468400" y="1806721"/>
            <a:ext cx="625988" cy="1922990"/>
            <a:chOff x="5468210" y="1806721"/>
            <a:chExt cx="625988" cy="1922990"/>
          </a:xfrm>
        </p:grpSpPr>
        <p:grpSp>
          <p:nvGrpSpPr>
            <p:cNvPr id="2" name="그룹 1">
              <a:extLst>
                <a:ext uri="{FF2B5EF4-FFF2-40B4-BE49-F238E27FC236}">
                  <a16:creationId xmlns:a16="http://schemas.microsoft.com/office/drawing/2014/main" id="{7E7777B3-8BA4-D41D-8525-73BB596E74E2}"/>
                </a:ext>
              </a:extLst>
            </p:cNvPr>
            <p:cNvGrpSpPr/>
            <p:nvPr/>
          </p:nvGrpSpPr>
          <p:grpSpPr>
            <a:xfrm>
              <a:off x="5468518" y="2471683"/>
              <a:ext cx="619582" cy="584718"/>
              <a:chOff x="2025726" y="2230368"/>
              <a:chExt cx="619582" cy="584718"/>
            </a:xfrm>
          </p:grpSpPr>
          <p:sp>
            <p:nvSpPr>
              <p:cNvPr id="3" name="대각선 방향의 모서리가 둥근 사각형 2">
                <a:extLst>
                  <a:ext uri="{FF2B5EF4-FFF2-40B4-BE49-F238E27FC236}">
                    <a16:creationId xmlns:a16="http://schemas.microsoft.com/office/drawing/2014/main" id="{58428869-A495-9F20-831A-2DE86A37B333}"/>
                  </a:ext>
                </a:extLst>
              </p:cNvPr>
              <p:cNvSpPr/>
              <p:nvPr/>
            </p:nvSpPr>
            <p:spPr>
              <a:xfrm>
                <a:off x="2096070" y="2230368"/>
                <a:ext cx="540000" cy="540000"/>
              </a:xfrm>
              <a:prstGeom prst="round2Diag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R" altLang="en-US" dirty="0">
                  <a:latin typeface="GyeonggiTitleOTF Light" panose="02020403020101020101" pitchFamily="18" charset="-127"/>
                  <a:ea typeface="GyeonggiTitleOTF Light" panose="02020403020101020101" pitchFamily="18" charset="-127"/>
                </a:endParaRPr>
              </a:p>
            </p:txBody>
          </p:sp>
          <p:sp>
            <p:nvSpPr>
              <p:cNvPr id="4" name="대각선 방향의 모서리가 둥근 사각형 3">
                <a:extLst>
                  <a:ext uri="{FF2B5EF4-FFF2-40B4-BE49-F238E27FC236}">
                    <a16:creationId xmlns:a16="http://schemas.microsoft.com/office/drawing/2014/main" id="{9EA792B4-A490-D77D-F3CC-ACE8E5B8B4AF}"/>
                  </a:ext>
                </a:extLst>
              </p:cNvPr>
              <p:cNvSpPr/>
              <p:nvPr/>
            </p:nvSpPr>
            <p:spPr>
              <a:xfrm>
                <a:off x="2092495" y="2618256"/>
                <a:ext cx="552813" cy="154970"/>
              </a:xfrm>
              <a:prstGeom prst="round2DiagRect">
                <a:avLst>
                  <a:gd name="adj1" fmla="val 50000"/>
                  <a:gd name="adj2" fmla="val 12510"/>
                </a:avLst>
              </a:prstGeom>
              <a:solidFill>
                <a:srgbClr val="5C7BFF">
                  <a:alpha val="53045"/>
                </a:srgbClr>
              </a:solidFill>
              <a:ln w="190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R" altLang="en-US">
                  <a:latin typeface="GyeonggiTitleOTF Light" panose="02020403020101020101" pitchFamily="18" charset="-127"/>
                  <a:ea typeface="GyeonggiTitleOTF Light" panose="02020403020101020101" pitchFamily="18" charset="-127"/>
                </a:endParaRPr>
              </a:p>
            </p:txBody>
          </p:sp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A5F04CD-E9F4-C5A3-67B0-FBDE8BF6C418}"/>
                  </a:ext>
                </a:extLst>
              </p:cNvPr>
              <p:cNvSpPr txBox="1"/>
              <p:nvPr/>
            </p:nvSpPr>
            <p:spPr>
              <a:xfrm>
                <a:off x="2025726" y="2599642"/>
                <a:ext cx="446690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ko-KR" altLang="en-US" sz="800" dirty="0">
                    <a:solidFill>
                      <a:schemeClr val="bg1"/>
                    </a:solidFill>
                    <a:latin typeface="GyeonggiTitleOTF Light" panose="02020403020101020101" pitchFamily="18" charset="-127"/>
                    <a:ea typeface="GyeonggiTitleOTF Light" panose="02020403020101020101" pitchFamily="18" charset="-127"/>
                  </a:rPr>
                  <a:t>스킬</a:t>
                </a:r>
                <a:r>
                  <a:rPr kumimoji="1" lang="en-US" altLang="ko-KR" sz="800" dirty="0">
                    <a:solidFill>
                      <a:schemeClr val="bg1"/>
                    </a:solidFill>
                    <a:latin typeface="GyeonggiTitleOTF Light" panose="02020403020101020101" pitchFamily="18" charset="-127"/>
                    <a:ea typeface="GyeonggiTitleOTF Light" panose="02020403020101020101" pitchFamily="18" charset="-127"/>
                  </a:rPr>
                  <a:t>1</a:t>
                </a:r>
                <a:endParaRPr kumimoji="1" lang="ko-KR" altLang="en-US" sz="800" dirty="0">
                  <a:solidFill>
                    <a:schemeClr val="bg1"/>
                  </a:solidFill>
                  <a:latin typeface="GyeonggiTitleOTF Light" panose="02020403020101020101" pitchFamily="18" charset="-127"/>
                  <a:ea typeface="GyeonggiTitleOTF Light" panose="02020403020101020101" pitchFamily="18" charset="-127"/>
                </a:endParaRPr>
              </a:p>
            </p:txBody>
          </p:sp>
        </p:grpSp>
        <p:grpSp>
          <p:nvGrpSpPr>
            <p:cNvPr id="8" name="그룹 7">
              <a:extLst>
                <a:ext uri="{FF2B5EF4-FFF2-40B4-BE49-F238E27FC236}">
                  <a16:creationId xmlns:a16="http://schemas.microsoft.com/office/drawing/2014/main" id="{50686F11-19C3-2697-9726-5F89818E4FC7}"/>
                </a:ext>
              </a:extLst>
            </p:cNvPr>
            <p:cNvGrpSpPr/>
            <p:nvPr/>
          </p:nvGrpSpPr>
          <p:grpSpPr>
            <a:xfrm>
              <a:off x="5468518" y="3142607"/>
              <a:ext cx="616750" cy="587104"/>
              <a:chOff x="2025726" y="2791657"/>
              <a:chExt cx="616750" cy="587104"/>
            </a:xfrm>
          </p:grpSpPr>
          <p:sp>
            <p:nvSpPr>
              <p:cNvPr id="9" name="대각선 방향의 모서리가 둥근 사각형 8">
                <a:extLst>
                  <a:ext uri="{FF2B5EF4-FFF2-40B4-BE49-F238E27FC236}">
                    <a16:creationId xmlns:a16="http://schemas.microsoft.com/office/drawing/2014/main" id="{8D5E14AE-DFA9-7E4A-2377-EFD46035B814}"/>
                  </a:ext>
                </a:extLst>
              </p:cNvPr>
              <p:cNvSpPr/>
              <p:nvPr/>
            </p:nvSpPr>
            <p:spPr>
              <a:xfrm>
                <a:off x="2096070" y="2791657"/>
                <a:ext cx="540000" cy="540000"/>
              </a:xfrm>
              <a:prstGeom prst="round2Diag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R" altLang="en-US" dirty="0">
                  <a:latin typeface="GyeonggiTitleOTF Light" panose="02020403020101020101" pitchFamily="18" charset="-127"/>
                  <a:ea typeface="GyeonggiTitleOTF Light" panose="02020403020101020101" pitchFamily="18" charset="-127"/>
                </a:endParaRPr>
              </a:p>
            </p:txBody>
          </p:sp>
          <p:sp>
            <p:nvSpPr>
              <p:cNvPr id="10" name="대각선 방향의 모서리가 둥근 사각형 9">
                <a:extLst>
                  <a:ext uri="{FF2B5EF4-FFF2-40B4-BE49-F238E27FC236}">
                    <a16:creationId xmlns:a16="http://schemas.microsoft.com/office/drawing/2014/main" id="{DA118CC8-4342-8DE8-705F-6B107A95CE3A}"/>
                  </a:ext>
                </a:extLst>
              </p:cNvPr>
              <p:cNvSpPr/>
              <p:nvPr/>
            </p:nvSpPr>
            <p:spPr>
              <a:xfrm>
                <a:off x="2089663" y="3183552"/>
                <a:ext cx="552813" cy="154970"/>
              </a:xfrm>
              <a:prstGeom prst="round2DiagRect">
                <a:avLst>
                  <a:gd name="adj1" fmla="val 50000"/>
                  <a:gd name="adj2" fmla="val 12510"/>
                </a:avLst>
              </a:prstGeom>
              <a:solidFill>
                <a:srgbClr val="5C7BFF">
                  <a:alpha val="53045"/>
                </a:srgbClr>
              </a:solidFill>
              <a:ln w="190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R" altLang="en-US">
                  <a:latin typeface="GyeonggiTitleOTF Light" panose="02020403020101020101" pitchFamily="18" charset="-127"/>
                  <a:ea typeface="GyeonggiTitleOTF Light" panose="02020403020101020101" pitchFamily="18" charset="-127"/>
                </a:endParaRPr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9BB89AA7-5991-8DCA-4ECE-C67035996470}"/>
                  </a:ext>
                </a:extLst>
              </p:cNvPr>
              <p:cNvSpPr txBox="1"/>
              <p:nvPr/>
            </p:nvSpPr>
            <p:spPr>
              <a:xfrm>
                <a:off x="2025726" y="3163317"/>
                <a:ext cx="612725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ko-KR" altLang="en-US" sz="800" dirty="0">
                    <a:solidFill>
                      <a:schemeClr val="bg1"/>
                    </a:solidFill>
                    <a:latin typeface="GyeonggiTitleOTF Light" panose="02020403020101020101" pitchFamily="18" charset="-127"/>
                    <a:ea typeface="GyeonggiTitleOTF Light" panose="02020403020101020101" pitchFamily="18" charset="-127"/>
                  </a:rPr>
                  <a:t>기본공격</a:t>
                </a:r>
              </a:p>
            </p:txBody>
          </p:sp>
        </p:grpSp>
        <p:grpSp>
          <p:nvGrpSpPr>
            <p:cNvPr id="17" name="그룹 16">
              <a:extLst>
                <a:ext uri="{FF2B5EF4-FFF2-40B4-BE49-F238E27FC236}">
                  <a16:creationId xmlns:a16="http://schemas.microsoft.com/office/drawing/2014/main" id="{40DC7E85-1A19-E470-9D07-F4C5821724B3}"/>
                </a:ext>
              </a:extLst>
            </p:cNvPr>
            <p:cNvGrpSpPr/>
            <p:nvPr/>
          </p:nvGrpSpPr>
          <p:grpSpPr>
            <a:xfrm>
              <a:off x="5468210" y="1806721"/>
              <a:ext cx="625988" cy="588965"/>
              <a:chOff x="2025726" y="1669079"/>
              <a:chExt cx="625988" cy="588965"/>
            </a:xfrm>
          </p:grpSpPr>
          <p:sp>
            <p:nvSpPr>
              <p:cNvPr id="18" name="대각선 방향의 모서리가 둥근 사각형 17">
                <a:extLst>
                  <a:ext uri="{FF2B5EF4-FFF2-40B4-BE49-F238E27FC236}">
                    <a16:creationId xmlns:a16="http://schemas.microsoft.com/office/drawing/2014/main" id="{25FED7BF-7B98-0826-A893-C358FE64C5E4}"/>
                  </a:ext>
                </a:extLst>
              </p:cNvPr>
              <p:cNvSpPr/>
              <p:nvPr/>
            </p:nvSpPr>
            <p:spPr>
              <a:xfrm>
                <a:off x="2105308" y="1669079"/>
                <a:ext cx="540000" cy="540000"/>
              </a:xfrm>
              <a:prstGeom prst="round2DiagRect">
                <a:avLst>
                  <a:gd name="adj1" fmla="val 16667"/>
                  <a:gd name="adj2" fmla="val 0"/>
                </a:avLst>
              </a:prstGeom>
              <a:blipFill>
                <a:blip r:embed="rId9"/>
                <a:stretch>
                  <a:fillRect/>
                </a:stretch>
              </a:blip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R" altLang="en-US" dirty="0">
                  <a:latin typeface="GyeonggiTitleOTF Light" panose="02020403020101020101" pitchFamily="18" charset="-127"/>
                  <a:ea typeface="GyeonggiTitleOTF Light" panose="02020403020101020101" pitchFamily="18" charset="-127"/>
                </a:endParaRPr>
              </a:p>
            </p:txBody>
          </p:sp>
          <p:sp>
            <p:nvSpPr>
              <p:cNvPr id="19" name="대각선 방향의 모서리가 둥근 사각형 18">
                <a:extLst>
                  <a:ext uri="{FF2B5EF4-FFF2-40B4-BE49-F238E27FC236}">
                    <a16:creationId xmlns:a16="http://schemas.microsoft.com/office/drawing/2014/main" id="{AB7F69EC-65A6-0E5D-8391-3300787A3275}"/>
                  </a:ext>
                </a:extLst>
              </p:cNvPr>
              <p:cNvSpPr/>
              <p:nvPr/>
            </p:nvSpPr>
            <p:spPr>
              <a:xfrm>
                <a:off x="2098901" y="2062919"/>
                <a:ext cx="552813" cy="154970"/>
              </a:xfrm>
              <a:prstGeom prst="round2DiagRect">
                <a:avLst>
                  <a:gd name="adj1" fmla="val 50000"/>
                  <a:gd name="adj2" fmla="val 12510"/>
                </a:avLst>
              </a:prstGeom>
              <a:solidFill>
                <a:srgbClr val="5C7BFF">
                  <a:alpha val="53045"/>
                </a:srgbClr>
              </a:solidFill>
              <a:ln w="190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R" altLang="en-US">
                  <a:latin typeface="GyeonggiTitleOTF Light" panose="02020403020101020101" pitchFamily="18" charset="-127"/>
                  <a:ea typeface="GyeonggiTitleOTF Light" panose="02020403020101020101" pitchFamily="18" charset="-127"/>
                </a:endParaRPr>
              </a:p>
            </p:txBody>
          </p: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61D02ABE-866E-C848-2E7C-102BFD1C6674}"/>
                  </a:ext>
                </a:extLst>
              </p:cNvPr>
              <p:cNvSpPr txBox="1"/>
              <p:nvPr/>
            </p:nvSpPr>
            <p:spPr>
              <a:xfrm>
                <a:off x="2025726" y="2042600"/>
                <a:ext cx="523974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ko-KR" altLang="en-US" sz="800" dirty="0">
                    <a:solidFill>
                      <a:schemeClr val="bg1"/>
                    </a:solidFill>
                    <a:latin typeface="GyeonggiTitleOTF Light" panose="02020403020101020101" pitchFamily="18" charset="-127"/>
                    <a:ea typeface="GyeonggiTitleOTF Light" panose="02020403020101020101" pitchFamily="18" charset="-127"/>
                  </a:rPr>
                  <a:t>패시브</a:t>
                </a:r>
              </a:p>
            </p:txBody>
          </p:sp>
        </p:grpSp>
      </p:grpSp>
      <p:pic>
        <p:nvPicPr>
          <p:cNvPr id="7" name="그림 6">
            <a:extLst>
              <a:ext uri="{FF2B5EF4-FFF2-40B4-BE49-F238E27FC236}">
                <a16:creationId xmlns:a16="http://schemas.microsoft.com/office/drawing/2014/main" id="{47AD3116-4A69-34BE-BEA7-3745DDE29E21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86613" y="3844600"/>
            <a:ext cx="540000" cy="5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99822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6C7549D-C56A-1037-537F-D2F60B6303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TextBox 44">
            <a:extLst>
              <a:ext uri="{FF2B5EF4-FFF2-40B4-BE49-F238E27FC236}">
                <a16:creationId xmlns:a16="http://schemas.microsoft.com/office/drawing/2014/main" id="{C1068D63-ABF6-E889-58A2-A718D71042DB}"/>
              </a:ext>
            </a:extLst>
          </p:cNvPr>
          <p:cNvSpPr txBox="1"/>
          <p:nvPr/>
        </p:nvSpPr>
        <p:spPr>
          <a:xfrm>
            <a:off x="1072526" y="586716"/>
            <a:ext cx="4471937" cy="9079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500" dirty="0">
                <a:latin typeface="GyeonggiTitle Bold" panose="02020803020101020101" pitchFamily="18" charset="-127"/>
                <a:ea typeface="GyeonggiTitle Bold" panose="02020803020101020101" pitchFamily="18" charset="-127"/>
              </a:rPr>
              <a:t>플라튼</a:t>
            </a:r>
            <a:endParaRPr lang="en-US" altLang="ko-KR" sz="3500" dirty="0">
              <a:latin typeface="GyeonggiTitle Bold" panose="02020803020101020101" pitchFamily="18" charset="-127"/>
              <a:ea typeface="GyeonggiTitle Bold" panose="02020803020101020101" pitchFamily="18" charset="-127"/>
            </a:endParaRPr>
          </a:p>
          <a:p>
            <a:r>
              <a:rPr lang="ko-KR" altLang="en-US" dirty="0">
                <a:latin typeface="GyeonggiTitle Bold" panose="02020803020101020101" pitchFamily="18" charset="-127"/>
                <a:ea typeface="GyeonggiTitle Bold" panose="02020803020101020101" pitchFamily="18" charset="-127"/>
              </a:rPr>
              <a:t>왜 </a:t>
            </a:r>
            <a:r>
              <a:rPr lang="ko-KR" altLang="en-US" dirty="0" err="1">
                <a:solidFill>
                  <a:srgbClr val="FF0000"/>
                </a:solidFill>
                <a:latin typeface="GyeonggiTitle Bold" panose="02020803020101020101" pitchFamily="18" charset="-127"/>
                <a:ea typeface="GyeonggiTitle Bold" panose="02020803020101020101" pitchFamily="18" charset="-127"/>
              </a:rPr>
              <a:t>공덱</a:t>
            </a:r>
            <a:r>
              <a:rPr lang="ko-KR" altLang="en-US" dirty="0" err="1">
                <a:latin typeface="GyeonggiTitle Bold" panose="02020803020101020101" pitchFamily="18" charset="-127"/>
                <a:ea typeface="GyeonggiTitle Bold" panose="02020803020101020101" pitchFamily="18" charset="-127"/>
              </a:rPr>
              <a:t>에</a:t>
            </a:r>
            <a:r>
              <a:rPr lang="ko-KR" altLang="en-US" dirty="0">
                <a:latin typeface="GyeonggiTitle Bold" panose="02020803020101020101" pitchFamily="18" charset="-127"/>
                <a:ea typeface="GyeonggiTitle Bold" panose="02020803020101020101" pitchFamily="18" charset="-127"/>
              </a:rPr>
              <a:t> 상성이 좋은가</a:t>
            </a:r>
            <a:r>
              <a:rPr lang="en-US" altLang="ko-KR" dirty="0">
                <a:latin typeface="GyeonggiTitle Bold" panose="02020803020101020101" pitchFamily="18" charset="-127"/>
                <a:ea typeface="GyeonggiTitle Bold" panose="02020803020101020101" pitchFamily="18" charset="-127"/>
              </a:rPr>
              <a:t>?</a:t>
            </a: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5F2D6F81-84E4-C935-7D97-176121E8F1D2}"/>
              </a:ext>
            </a:extLst>
          </p:cNvPr>
          <p:cNvGrpSpPr/>
          <p:nvPr/>
        </p:nvGrpSpPr>
        <p:grpSpPr>
          <a:xfrm>
            <a:off x="7920080" y="1636176"/>
            <a:ext cx="1817220" cy="1072799"/>
            <a:chOff x="1871986" y="2845728"/>
            <a:chExt cx="1817220" cy="1072799"/>
          </a:xfrm>
        </p:grpSpPr>
        <p:pic>
          <p:nvPicPr>
            <p:cNvPr id="3" name="그림 2" descr="블랙, 어둠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4D2A5625-BC75-C759-790C-54759233B97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71986" y="2845728"/>
              <a:ext cx="979054" cy="979054"/>
            </a:xfrm>
            <a:prstGeom prst="rect">
              <a:avLst/>
            </a:prstGeom>
          </p:spPr>
        </p:pic>
        <p:pic>
          <p:nvPicPr>
            <p:cNvPr id="5" name="그림 4" descr="그래픽, 디자인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F4B734E5-72F8-F642-ABC3-C97E9BFBF02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710152" y="2939473"/>
              <a:ext cx="979054" cy="979054"/>
            </a:xfrm>
            <a:prstGeom prst="rect">
              <a:avLst/>
            </a:prstGeom>
          </p:spPr>
        </p:pic>
      </p:grpSp>
      <p:grpSp>
        <p:nvGrpSpPr>
          <p:cNvPr id="9" name="그룹 8">
            <a:extLst>
              <a:ext uri="{FF2B5EF4-FFF2-40B4-BE49-F238E27FC236}">
                <a16:creationId xmlns:a16="http://schemas.microsoft.com/office/drawing/2014/main" id="{F560B0FC-24CE-F18B-D2BF-38731B51313D}"/>
              </a:ext>
            </a:extLst>
          </p:cNvPr>
          <p:cNvGrpSpPr/>
          <p:nvPr/>
        </p:nvGrpSpPr>
        <p:grpSpPr>
          <a:xfrm>
            <a:off x="2275548" y="1958148"/>
            <a:ext cx="2504174" cy="766873"/>
            <a:chOff x="2252797" y="2393055"/>
            <a:chExt cx="2504174" cy="766873"/>
          </a:xfrm>
        </p:grpSpPr>
        <p:sp>
          <p:nvSpPr>
            <p:cNvPr id="42" name="대각선 방향의 모서리가 둥근 사각형 41">
              <a:extLst>
                <a:ext uri="{FF2B5EF4-FFF2-40B4-BE49-F238E27FC236}">
                  <a16:creationId xmlns:a16="http://schemas.microsoft.com/office/drawing/2014/main" id="{C923D17B-6AD0-E3CF-991D-50BD3A705807}"/>
                </a:ext>
              </a:extLst>
            </p:cNvPr>
            <p:cNvSpPr/>
            <p:nvPr/>
          </p:nvSpPr>
          <p:spPr>
            <a:xfrm>
              <a:off x="4036971" y="2393055"/>
              <a:ext cx="720000" cy="720000"/>
            </a:xfrm>
            <a:prstGeom prst="round2DiagRect">
              <a:avLst/>
            </a:prstGeom>
            <a:blipFill>
              <a:blip r:embed="rId5"/>
              <a:stretch>
                <a:fillRect/>
              </a:stretch>
            </a:blip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dirty="0">
                <a:latin typeface="GyeonggiTitle Bold" panose="02020803020101020101" pitchFamily="18" charset="-127"/>
                <a:ea typeface="GyeonggiTitle Bold" panose="02020803020101020101" pitchFamily="18" charset="-127"/>
              </a:endParaRPr>
            </a:p>
          </p:txBody>
        </p:sp>
        <p:sp>
          <p:nvSpPr>
            <p:cNvPr id="39" name="대각선 방향의 모서리가 둥근 사각형 38">
              <a:extLst>
                <a:ext uri="{FF2B5EF4-FFF2-40B4-BE49-F238E27FC236}">
                  <a16:creationId xmlns:a16="http://schemas.microsoft.com/office/drawing/2014/main" id="{ACCE1DEF-0764-1AC2-3A85-89456B2DF41B}"/>
                </a:ext>
              </a:extLst>
            </p:cNvPr>
            <p:cNvSpPr/>
            <p:nvPr/>
          </p:nvSpPr>
          <p:spPr>
            <a:xfrm>
              <a:off x="3144884" y="2405962"/>
              <a:ext cx="720000" cy="720000"/>
            </a:xfrm>
            <a:prstGeom prst="round2DiagRect">
              <a:avLst/>
            </a:prstGeom>
            <a:blipFill>
              <a:blip r:embed="rId6"/>
              <a:stretch>
                <a:fillRect/>
              </a:stretch>
            </a:blip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dirty="0">
                <a:latin typeface="GyeonggiTitle Bold" panose="02020803020101020101" pitchFamily="18" charset="-127"/>
                <a:ea typeface="GyeonggiTitle Bold" panose="02020803020101020101" pitchFamily="18" charset="-127"/>
              </a:endParaRPr>
            </a:p>
          </p:txBody>
        </p:sp>
        <p:sp>
          <p:nvSpPr>
            <p:cNvPr id="36" name="대각선 방향의 모서리가 둥근 사각형 35">
              <a:extLst>
                <a:ext uri="{FF2B5EF4-FFF2-40B4-BE49-F238E27FC236}">
                  <a16:creationId xmlns:a16="http://schemas.microsoft.com/office/drawing/2014/main" id="{BA986873-EF86-6938-F56C-86DE00941164}"/>
                </a:ext>
              </a:extLst>
            </p:cNvPr>
            <p:cNvSpPr/>
            <p:nvPr/>
          </p:nvSpPr>
          <p:spPr>
            <a:xfrm>
              <a:off x="2252797" y="2439928"/>
              <a:ext cx="720000" cy="720000"/>
            </a:xfrm>
            <a:prstGeom prst="round2DiagRect">
              <a:avLst>
                <a:gd name="adj1" fmla="val 16667"/>
                <a:gd name="adj2" fmla="val 0"/>
              </a:avLst>
            </a:prstGeom>
            <a:blipFill>
              <a:blip r:embed="rId7"/>
              <a:stretch>
                <a:fillRect/>
              </a:stretch>
            </a:blip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dirty="0">
                <a:latin typeface="GyeonggiTitle Bold" panose="02020803020101020101" pitchFamily="18" charset="-127"/>
                <a:ea typeface="GyeonggiTitle Bold" panose="02020803020101020101" pitchFamily="18" charset="-127"/>
              </a:endParaRPr>
            </a:p>
          </p:txBody>
        </p:sp>
      </p:grp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871E3B73-5594-1812-7EBC-BB31CA5BD320}"/>
              </a:ext>
            </a:extLst>
          </p:cNvPr>
          <p:cNvGrpSpPr/>
          <p:nvPr/>
        </p:nvGrpSpPr>
        <p:grpSpPr>
          <a:xfrm>
            <a:off x="1651859" y="3090355"/>
            <a:ext cx="3797871" cy="3187144"/>
            <a:chOff x="1627747" y="3304120"/>
            <a:chExt cx="3797871" cy="3187144"/>
          </a:xfrm>
        </p:grpSpPr>
        <p:grpSp>
          <p:nvGrpSpPr>
            <p:cNvPr id="2" name="그룹 1">
              <a:extLst>
                <a:ext uri="{FF2B5EF4-FFF2-40B4-BE49-F238E27FC236}">
                  <a16:creationId xmlns:a16="http://schemas.microsoft.com/office/drawing/2014/main" id="{DF60F101-87C8-8A8F-BA2C-BF9D7188E308}"/>
                </a:ext>
              </a:extLst>
            </p:cNvPr>
            <p:cNvGrpSpPr/>
            <p:nvPr/>
          </p:nvGrpSpPr>
          <p:grpSpPr>
            <a:xfrm>
              <a:off x="1627747" y="3304120"/>
              <a:ext cx="3797871" cy="3187144"/>
              <a:chOff x="2904209" y="1707507"/>
              <a:chExt cx="3271596" cy="4430276"/>
            </a:xfrm>
            <a:effectLst>
              <a:outerShdw blurRad="50800" dist="127000" dir="2700000" algn="ctr" rotWithShape="0">
                <a:srgbClr val="000000">
                  <a:alpha val="50000"/>
                </a:srgbClr>
              </a:outerShdw>
            </a:effectLst>
          </p:grpSpPr>
          <p:grpSp>
            <p:nvGrpSpPr>
              <p:cNvPr id="4" name="그룹 3">
                <a:extLst>
                  <a:ext uri="{FF2B5EF4-FFF2-40B4-BE49-F238E27FC236}">
                    <a16:creationId xmlns:a16="http://schemas.microsoft.com/office/drawing/2014/main" id="{0A4A3C72-B436-FA44-8069-806640CD17D5}"/>
                  </a:ext>
                </a:extLst>
              </p:cNvPr>
              <p:cNvGrpSpPr/>
              <p:nvPr/>
            </p:nvGrpSpPr>
            <p:grpSpPr>
              <a:xfrm>
                <a:off x="2904209" y="1707507"/>
                <a:ext cx="3191774" cy="4430276"/>
                <a:chOff x="3907766" y="931651"/>
                <a:chExt cx="3191774" cy="4994696"/>
              </a:xfrm>
            </p:grpSpPr>
            <p:sp>
              <p:nvSpPr>
                <p:cNvPr id="14" name="대각선 방향의 모서리가 둥근 사각형 13">
                  <a:extLst>
                    <a:ext uri="{FF2B5EF4-FFF2-40B4-BE49-F238E27FC236}">
                      <a16:creationId xmlns:a16="http://schemas.microsoft.com/office/drawing/2014/main" id="{23E2109D-4064-68E1-793B-DEAD078D1927}"/>
                    </a:ext>
                  </a:extLst>
                </p:cNvPr>
                <p:cNvSpPr/>
                <p:nvPr/>
              </p:nvSpPr>
              <p:spPr>
                <a:xfrm>
                  <a:off x="3907766" y="931653"/>
                  <a:ext cx="3191774" cy="4994694"/>
                </a:xfrm>
                <a:prstGeom prst="round2DiagRect">
                  <a:avLst>
                    <a:gd name="adj1" fmla="val 10451"/>
                    <a:gd name="adj2" fmla="val 0"/>
                  </a:avLst>
                </a:prstGeom>
                <a:solidFill>
                  <a:srgbClr val="DEDCDA"/>
                </a:solidFill>
                <a:ln>
                  <a:solidFill>
                    <a:srgbClr val="DEDCDA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endParaRPr kumimoji="1" lang="en-US" altLang="ko-KR" dirty="0">
                    <a:latin typeface="GyeonggiTitle Bold" panose="02020803020101020101" pitchFamily="18" charset="-127"/>
                    <a:ea typeface="GyeonggiTitle Bold" panose="02020803020101020101" pitchFamily="18" charset="-127"/>
                  </a:endParaRPr>
                </a:p>
              </p:txBody>
            </p:sp>
            <p:sp>
              <p:nvSpPr>
                <p:cNvPr id="16" name="대각선 방향의 모서리가 둥근 사각형 15">
                  <a:extLst>
                    <a:ext uri="{FF2B5EF4-FFF2-40B4-BE49-F238E27FC236}">
                      <a16:creationId xmlns:a16="http://schemas.microsoft.com/office/drawing/2014/main" id="{8112D9F6-484B-F55D-DD23-47DD33CFCC61}"/>
                    </a:ext>
                  </a:extLst>
                </p:cNvPr>
                <p:cNvSpPr/>
                <p:nvPr/>
              </p:nvSpPr>
              <p:spPr>
                <a:xfrm>
                  <a:off x="3907766" y="931651"/>
                  <a:ext cx="3191774" cy="716613"/>
                </a:xfrm>
                <a:prstGeom prst="round2DiagRect">
                  <a:avLst>
                    <a:gd name="adj1" fmla="val 48374"/>
                    <a:gd name="adj2" fmla="val 0"/>
                  </a:avLst>
                </a:prstGeom>
                <a:solidFill>
                  <a:srgbClr val="393833"/>
                </a:solidFill>
                <a:ln>
                  <a:solidFill>
                    <a:srgbClr val="DFDCDA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altLang="ko-KR" dirty="0">
                    <a:solidFill>
                      <a:schemeClr val="bg1"/>
                    </a:solidFill>
                    <a:latin typeface="GyeonggiTitleOTF Light" panose="02020403020101020101" pitchFamily="18" charset="-127"/>
                    <a:ea typeface="GyeonggiTitleOTF Light" panose="02020403020101020101" pitchFamily="18" charset="-127"/>
                  </a:endParaRPr>
                </a:p>
                <a:p>
                  <a:pPr algn="ctr"/>
                  <a:r>
                    <a:rPr lang="ko-KR" altLang="en-US" dirty="0">
                      <a:solidFill>
                        <a:schemeClr val="bg1"/>
                      </a:solidFill>
                      <a:latin typeface="GyeonggiTitleOTF Light" panose="02020403020101020101" pitchFamily="18" charset="-127"/>
                      <a:ea typeface="GyeonggiTitleOTF Light" panose="02020403020101020101" pitchFamily="18" charset="-127"/>
                    </a:rPr>
                    <a:t>캐릭터 자체 성능</a:t>
                  </a:r>
                  <a:endParaRPr kumimoji="1" lang="ko-KR" altLang="en-US" dirty="0">
                    <a:solidFill>
                      <a:schemeClr val="bg1"/>
                    </a:solidFill>
                    <a:latin typeface="GyeonggiTitleOTF Light" panose="02020403020101020101" pitchFamily="18" charset="-127"/>
                    <a:ea typeface="GyeonggiTitleOTF Light" panose="02020403020101020101" pitchFamily="18" charset="-127"/>
                  </a:endParaRPr>
                </a:p>
                <a:p>
                  <a:pPr algn="ctr"/>
                  <a:endParaRPr lang="en-US" altLang="ko-KR" dirty="0">
                    <a:solidFill>
                      <a:schemeClr val="bg1"/>
                    </a:solidFill>
                    <a:latin typeface="GyeonggiTitleOTF Light" panose="02020403020101020101" pitchFamily="18" charset="-127"/>
                    <a:ea typeface="GyeonggiTitleOTF Light" panose="02020403020101020101" pitchFamily="18" charset="-127"/>
                  </a:endParaRPr>
                </a:p>
              </p:txBody>
            </p:sp>
          </p:grp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55DBE26C-F86C-6E07-F2F2-64504338BB29}"/>
                  </a:ext>
                </a:extLst>
              </p:cNvPr>
              <p:cNvSpPr txBox="1"/>
              <p:nvPr/>
            </p:nvSpPr>
            <p:spPr>
              <a:xfrm>
                <a:off x="2984034" y="2351782"/>
                <a:ext cx="3191771" cy="47060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endParaRPr kumimoji="1" lang="en-US" altLang="ko-KR" sz="1600" dirty="0">
                  <a:solidFill>
                    <a:srgbClr val="302F2C"/>
                  </a:solidFill>
                  <a:latin typeface="GyeonggiTitle Bold" panose="02020803020101020101" pitchFamily="18" charset="-127"/>
                  <a:ea typeface="GyeonggiTitle Bold" panose="02020803020101020101" pitchFamily="18" charset="-127"/>
                </a:endParaRPr>
              </a:p>
            </p:txBody>
          </p:sp>
        </p:grp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DB866EF4-0F17-7721-BD50-2A36849818B4}"/>
                </a:ext>
              </a:extLst>
            </p:cNvPr>
            <p:cNvSpPr txBox="1"/>
            <p:nvPr/>
          </p:nvSpPr>
          <p:spPr>
            <a:xfrm>
              <a:off x="1627747" y="3840522"/>
              <a:ext cx="3751552" cy="2585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ko-KR" altLang="en-US" dirty="0">
                  <a:latin typeface="GyeonggiTitleOTF Light" panose="02020403020101020101" pitchFamily="18" charset="-127"/>
                  <a:ea typeface="GyeonggiTitleOTF Light" panose="02020403020101020101" pitchFamily="18" charset="-127"/>
                </a:rPr>
                <a:t>고유 패시브를 통해 체력이 절반 이하로 떨어지면 자동 회복 발생</a:t>
              </a:r>
              <a:endParaRPr kumimoji="1" lang="en-US" altLang="ko-KR" dirty="0">
                <a:latin typeface="GyeonggiTitleOTF Light" panose="02020403020101020101" pitchFamily="18" charset="-127"/>
                <a:ea typeface="GyeonggiTitleOTF Light" panose="02020403020101020101" pitchFamily="18" charset="-127"/>
              </a:endParaRPr>
            </a:p>
            <a:p>
              <a:endParaRPr kumimoji="1" lang="en-US" altLang="ko-KR" dirty="0">
                <a:latin typeface="GyeonggiTitleOTF Light" panose="02020403020101020101" pitchFamily="18" charset="-127"/>
                <a:ea typeface="GyeonggiTitleOTF Light" panose="02020403020101020101" pitchFamily="18" charset="-127"/>
              </a:endParaRPr>
            </a:p>
            <a:p>
              <a:r>
                <a:rPr kumimoji="1" lang="ko-KR" altLang="en-US" dirty="0">
                  <a:latin typeface="GyeonggiTitleOTF Light" panose="02020403020101020101" pitchFamily="18" charset="-127"/>
                  <a:ea typeface="GyeonggiTitleOTF Light" panose="02020403020101020101" pitchFamily="18" charset="-127"/>
                </a:rPr>
                <a:t>적 공격 </a:t>
              </a:r>
              <a:r>
                <a:rPr kumimoji="1" lang="en-US" altLang="ko-KR" dirty="0">
                  <a:latin typeface="GyeonggiTitleOTF Light" panose="02020403020101020101" pitchFamily="18" charset="-127"/>
                  <a:ea typeface="GyeonggiTitleOTF Light" panose="02020403020101020101" pitchFamily="18" charset="-127"/>
                </a:rPr>
                <a:t>4</a:t>
              </a:r>
              <a:r>
                <a:rPr kumimoji="1" lang="ko-KR" altLang="en-US" dirty="0">
                  <a:latin typeface="GyeonggiTitleOTF Light" panose="02020403020101020101" pitchFamily="18" charset="-127"/>
                  <a:ea typeface="GyeonggiTitleOTF Light" panose="02020403020101020101" pitchFamily="18" charset="-127"/>
                </a:rPr>
                <a:t>회 피격 시마다 상대 전원에게 고정 피해</a:t>
              </a:r>
              <a:endParaRPr kumimoji="1" lang="en-US" altLang="ko-KR" dirty="0">
                <a:latin typeface="GyeonggiTitleOTF Light" panose="02020403020101020101" pitchFamily="18" charset="-127"/>
                <a:ea typeface="GyeonggiTitleOTF Light" panose="02020403020101020101" pitchFamily="18" charset="-127"/>
              </a:endParaRPr>
            </a:p>
            <a:p>
              <a:endParaRPr kumimoji="1" lang="en-US" altLang="ko-KR" dirty="0">
                <a:latin typeface="GyeonggiTitleOTF Light" panose="02020403020101020101" pitchFamily="18" charset="-127"/>
                <a:ea typeface="GyeonggiTitleOTF Light" panose="02020403020101020101" pitchFamily="18" charset="-127"/>
              </a:endParaRPr>
            </a:p>
            <a:p>
              <a:r>
                <a:rPr kumimoji="1" lang="ko-KR" altLang="en-US" dirty="0">
                  <a:latin typeface="GyeonggiTitleOTF Light" panose="02020403020101020101" pitchFamily="18" charset="-127"/>
                  <a:ea typeface="GyeonggiTitleOTF Light" panose="02020403020101020101" pitchFamily="18" charset="-127"/>
                </a:rPr>
                <a:t>스킬로 적 버프 해제 </a:t>
              </a:r>
              <a:r>
                <a:rPr kumimoji="1" lang="en-US" altLang="ko-KR" dirty="0">
                  <a:latin typeface="GyeonggiTitleOTF Light" panose="02020403020101020101" pitchFamily="18" charset="-127"/>
                  <a:ea typeface="GyeonggiTitleOTF Light" panose="02020403020101020101" pitchFamily="18" charset="-127"/>
                </a:rPr>
                <a:t>,</a:t>
              </a:r>
              <a:r>
                <a:rPr kumimoji="1" lang="ko-KR" altLang="en-US" dirty="0">
                  <a:latin typeface="GyeonggiTitleOTF Light" panose="02020403020101020101" pitchFamily="18" charset="-127"/>
                  <a:ea typeface="GyeonggiTitleOTF Light" panose="02020403020101020101" pitchFamily="18" charset="-127"/>
                </a:rPr>
                <a:t> 생명력 전환을 통한 팀 </a:t>
              </a:r>
              <a:r>
                <a:rPr kumimoji="1" lang="ko-KR" altLang="en-US" dirty="0" err="1">
                  <a:latin typeface="GyeonggiTitleOTF Light" panose="02020403020101020101" pitchFamily="18" charset="-127"/>
                  <a:ea typeface="GyeonggiTitleOTF Light" panose="02020403020101020101" pitchFamily="18" charset="-127"/>
                </a:rPr>
                <a:t>생존력과</a:t>
              </a:r>
              <a:r>
                <a:rPr kumimoji="1" lang="ko-KR" altLang="en-US" dirty="0">
                  <a:latin typeface="GyeonggiTitleOTF Light" panose="02020403020101020101" pitchFamily="18" charset="-127"/>
                  <a:ea typeface="GyeonggiTitleOTF Light" panose="02020403020101020101" pitchFamily="18" charset="-127"/>
                </a:rPr>
                <a:t> 상대 견제 동시 수행</a:t>
              </a:r>
              <a:endParaRPr kumimoji="1" lang="en-US" altLang="ko-KR" dirty="0">
                <a:latin typeface="GyeonggiTitleOTF Light" panose="02020403020101020101" pitchFamily="18" charset="-127"/>
                <a:ea typeface="GyeonggiTitleOTF Light" panose="02020403020101020101" pitchFamily="18" charset="-127"/>
              </a:endParaRPr>
            </a:p>
            <a:p>
              <a:endParaRPr kumimoji="1" lang="ko-KR" altLang="en-US" dirty="0">
                <a:latin typeface="GyeonggiTitle Bold" panose="02020803020101020101" pitchFamily="18" charset="-127"/>
                <a:ea typeface="GyeonggiTitle Bold" panose="02020803020101020101" pitchFamily="18" charset="-127"/>
              </a:endParaRPr>
            </a:p>
          </p:txBody>
        </p:sp>
      </p:grp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95BC2244-DA8A-BBB3-D84A-5255EE9A7841}"/>
              </a:ext>
            </a:extLst>
          </p:cNvPr>
          <p:cNvGrpSpPr/>
          <p:nvPr/>
        </p:nvGrpSpPr>
        <p:grpSpPr>
          <a:xfrm>
            <a:off x="6976086" y="3084141"/>
            <a:ext cx="3797871" cy="3187143"/>
            <a:chOff x="6951974" y="3297906"/>
            <a:chExt cx="3797871" cy="3187143"/>
          </a:xfrm>
        </p:grpSpPr>
        <p:grpSp>
          <p:nvGrpSpPr>
            <p:cNvPr id="18" name="그룹 17">
              <a:extLst>
                <a:ext uri="{FF2B5EF4-FFF2-40B4-BE49-F238E27FC236}">
                  <a16:creationId xmlns:a16="http://schemas.microsoft.com/office/drawing/2014/main" id="{25AD32E7-61FD-9D76-9825-24A2C95DDA50}"/>
                </a:ext>
              </a:extLst>
            </p:cNvPr>
            <p:cNvGrpSpPr/>
            <p:nvPr/>
          </p:nvGrpSpPr>
          <p:grpSpPr>
            <a:xfrm>
              <a:off x="6951974" y="3297906"/>
              <a:ext cx="3797871" cy="3187143"/>
              <a:chOff x="2904209" y="1707509"/>
              <a:chExt cx="3271596" cy="4430274"/>
            </a:xfrm>
            <a:effectLst>
              <a:outerShdw blurRad="50800" dist="127000" dir="2700000" algn="ctr" rotWithShape="0">
                <a:srgbClr val="000000">
                  <a:alpha val="50000"/>
                </a:srgbClr>
              </a:outerShdw>
            </a:effectLst>
          </p:grpSpPr>
          <p:grpSp>
            <p:nvGrpSpPr>
              <p:cNvPr id="19" name="그룹 18">
                <a:extLst>
                  <a:ext uri="{FF2B5EF4-FFF2-40B4-BE49-F238E27FC236}">
                    <a16:creationId xmlns:a16="http://schemas.microsoft.com/office/drawing/2014/main" id="{7853F0E1-70BB-98E3-2611-8BC4FBE9AEED}"/>
                  </a:ext>
                </a:extLst>
              </p:cNvPr>
              <p:cNvGrpSpPr/>
              <p:nvPr/>
            </p:nvGrpSpPr>
            <p:grpSpPr>
              <a:xfrm>
                <a:off x="2904209" y="1707509"/>
                <a:ext cx="3191774" cy="4430274"/>
                <a:chOff x="3907766" y="931653"/>
                <a:chExt cx="3191774" cy="4994694"/>
              </a:xfrm>
            </p:grpSpPr>
            <p:sp>
              <p:nvSpPr>
                <p:cNvPr id="23" name="대각선 방향의 모서리가 둥근 사각형 22">
                  <a:extLst>
                    <a:ext uri="{FF2B5EF4-FFF2-40B4-BE49-F238E27FC236}">
                      <a16:creationId xmlns:a16="http://schemas.microsoft.com/office/drawing/2014/main" id="{5D6B7C58-AC6F-9B29-813A-5E6A600F0832}"/>
                    </a:ext>
                  </a:extLst>
                </p:cNvPr>
                <p:cNvSpPr/>
                <p:nvPr/>
              </p:nvSpPr>
              <p:spPr>
                <a:xfrm>
                  <a:off x="3907766" y="931653"/>
                  <a:ext cx="3191774" cy="4994694"/>
                </a:xfrm>
                <a:prstGeom prst="round2DiagRect">
                  <a:avLst>
                    <a:gd name="adj1" fmla="val 10451"/>
                    <a:gd name="adj2" fmla="val 0"/>
                  </a:avLst>
                </a:prstGeom>
                <a:solidFill>
                  <a:srgbClr val="DEDCDA"/>
                </a:solidFill>
                <a:ln>
                  <a:solidFill>
                    <a:srgbClr val="DEDCDA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endParaRPr kumimoji="1" lang="en-US" altLang="ko-KR" dirty="0">
                    <a:latin typeface="GyeonggiTitle Bold" panose="02020803020101020101" pitchFamily="18" charset="-127"/>
                    <a:ea typeface="GyeonggiTitle Bold" panose="02020803020101020101" pitchFamily="18" charset="-127"/>
                  </a:endParaRPr>
                </a:p>
              </p:txBody>
            </p:sp>
            <p:sp>
              <p:nvSpPr>
                <p:cNvPr id="25" name="대각선 방향의 모서리가 둥근 사각형 24">
                  <a:extLst>
                    <a:ext uri="{FF2B5EF4-FFF2-40B4-BE49-F238E27FC236}">
                      <a16:creationId xmlns:a16="http://schemas.microsoft.com/office/drawing/2014/main" id="{291C4991-A22E-6C75-A9B2-0B3B1D208A58}"/>
                    </a:ext>
                  </a:extLst>
                </p:cNvPr>
                <p:cNvSpPr/>
                <p:nvPr/>
              </p:nvSpPr>
              <p:spPr>
                <a:xfrm>
                  <a:off x="3907766" y="931653"/>
                  <a:ext cx="3191774" cy="693916"/>
                </a:xfrm>
                <a:prstGeom prst="round2DiagRect">
                  <a:avLst>
                    <a:gd name="adj1" fmla="val 48374"/>
                    <a:gd name="adj2" fmla="val 0"/>
                  </a:avLst>
                </a:prstGeom>
                <a:solidFill>
                  <a:srgbClr val="393833"/>
                </a:solidFill>
                <a:ln>
                  <a:solidFill>
                    <a:srgbClr val="DFDCDA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kumimoji="1" lang="ko-KR" altLang="en-US" b="1" dirty="0">
                      <a:solidFill>
                        <a:schemeClr val="bg1"/>
                      </a:solidFill>
                      <a:latin typeface="GYEONGGITITLEOTF LIGHT" panose="02020403020101020101" pitchFamily="18" charset="-127"/>
                      <a:ea typeface="GYEONGGITITLEOTF LIGHT" panose="02020403020101020101" pitchFamily="18" charset="-127"/>
                    </a:rPr>
                    <a:t>내구도 중심 </a:t>
                  </a:r>
                  <a:r>
                    <a:rPr kumimoji="1" lang="ko-KR" altLang="en-US" b="1" dirty="0" err="1">
                      <a:solidFill>
                        <a:schemeClr val="bg1"/>
                      </a:solidFill>
                      <a:latin typeface="GYEONGGITITLEOTF LIGHT" panose="02020403020101020101" pitchFamily="18" charset="-127"/>
                      <a:ea typeface="GYEONGGITITLEOTF LIGHT" panose="02020403020101020101" pitchFamily="18" charset="-127"/>
                    </a:rPr>
                    <a:t>방어구</a:t>
                  </a:r>
                  <a:r>
                    <a:rPr kumimoji="1" lang="ko-KR" altLang="en-US" b="1" dirty="0">
                      <a:solidFill>
                        <a:schemeClr val="bg1"/>
                      </a:solidFill>
                      <a:latin typeface="GYEONGGITITLEOTF LIGHT" panose="02020403020101020101" pitchFamily="18" charset="-127"/>
                      <a:ea typeface="GYEONGGITITLEOTF LIGHT" panose="02020403020101020101" pitchFamily="18" charset="-127"/>
                    </a:rPr>
                    <a:t> 세팅</a:t>
                  </a:r>
                  <a:endParaRPr kumimoji="1" lang="en-US" altLang="ko-KR" b="1" dirty="0">
                    <a:solidFill>
                      <a:schemeClr val="bg1"/>
                    </a:solidFill>
                    <a:latin typeface="GYEONGGITITLEOTF LIGHT" panose="02020403020101020101" pitchFamily="18" charset="-127"/>
                    <a:ea typeface="GYEONGGITITLEOTF LIGHT" panose="02020403020101020101" pitchFamily="18" charset="-127"/>
                  </a:endParaRPr>
                </a:p>
              </p:txBody>
            </p:sp>
          </p:grp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7BF005FA-6027-3799-01D0-B892E27901BD}"/>
                  </a:ext>
                </a:extLst>
              </p:cNvPr>
              <p:cNvSpPr txBox="1"/>
              <p:nvPr/>
            </p:nvSpPr>
            <p:spPr>
              <a:xfrm>
                <a:off x="2984034" y="2351783"/>
                <a:ext cx="3191771" cy="4706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endParaRPr kumimoji="1" lang="en-US" altLang="ko-KR" sz="1600" dirty="0">
                  <a:solidFill>
                    <a:srgbClr val="302F2C"/>
                  </a:solidFill>
                  <a:latin typeface="GyeonggiTitle Bold" panose="02020803020101020101" pitchFamily="18" charset="-127"/>
                  <a:ea typeface="GyeonggiTitle Bold" panose="02020803020101020101" pitchFamily="18" charset="-127"/>
                </a:endParaRPr>
              </a:p>
            </p:txBody>
          </p:sp>
        </p:grp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731DA8ED-BF49-0093-66CF-88FF33356E9C}"/>
                </a:ext>
              </a:extLst>
            </p:cNvPr>
            <p:cNvSpPr txBox="1"/>
            <p:nvPr/>
          </p:nvSpPr>
          <p:spPr>
            <a:xfrm>
              <a:off x="6991875" y="3840522"/>
              <a:ext cx="3757970" cy="23083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ko-KR" altLang="en-US" dirty="0">
                  <a:latin typeface="GyeonggiTitleOTF Light" panose="02020403020101020101" pitchFamily="18" charset="-127"/>
                  <a:ea typeface="GyeonggiTitleOTF Light" panose="02020403020101020101" pitchFamily="18" charset="-127"/>
                </a:rPr>
                <a:t>방어력</a:t>
              </a:r>
              <a:r>
                <a:rPr kumimoji="1" lang="en-US" altLang="ko-KR" dirty="0">
                  <a:latin typeface="GyeonggiTitleOTF Light" panose="02020403020101020101" pitchFamily="18" charset="-127"/>
                  <a:ea typeface="GyeonggiTitleOTF Light" panose="02020403020101020101" pitchFamily="18" charset="-127"/>
                </a:rPr>
                <a:t>,</a:t>
              </a:r>
              <a:r>
                <a:rPr kumimoji="1" lang="ko-KR" altLang="en-US" dirty="0">
                  <a:latin typeface="GyeonggiTitleOTF Light" panose="02020403020101020101" pitchFamily="18" charset="-127"/>
                  <a:ea typeface="GyeonggiTitleOTF Light" panose="02020403020101020101" pitchFamily="18" charset="-127"/>
                </a:rPr>
                <a:t> 체력</a:t>
              </a:r>
              <a:r>
                <a:rPr kumimoji="1" lang="en-US" altLang="ko-KR" dirty="0">
                  <a:latin typeface="GyeonggiTitleOTF Light" panose="02020403020101020101" pitchFamily="18" charset="-127"/>
                  <a:ea typeface="GyeonggiTitleOTF Light" panose="02020403020101020101" pitchFamily="18" charset="-127"/>
                </a:rPr>
                <a:t>,</a:t>
              </a:r>
              <a:r>
                <a:rPr kumimoji="1" lang="ko-KR" altLang="en-US" dirty="0">
                  <a:latin typeface="GyeonggiTitleOTF Light" panose="02020403020101020101" pitchFamily="18" charset="-127"/>
                  <a:ea typeface="GyeonggiTitleOTF Light" panose="02020403020101020101" pitchFamily="18" charset="-127"/>
                </a:rPr>
                <a:t> 막기 확률 세트효과 장비 중시 세팅으로 </a:t>
              </a:r>
              <a:r>
                <a:rPr kumimoji="1" lang="ko-KR" altLang="en-US" dirty="0" err="1">
                  <a:latin typeface="GyeonggiTitleOTF Light" panose="02020403020101020101" pitchFamily="18" charset="-127"/>
                  <a:ea typeface="GyeonggiTitleOTF Light" panose="02020403020101020101" pitchFamily="18" charset="-127"/>
                </a:rPr>
                <a:t>탱킹</a:t>
              </a:r>
              <a:r>
                <a:rPr kumimoji="1" lang="ko-KR" altLang="en-US" dirty="0">
                  <a:latin typeface="GyeonggiTitleOTF Light" panose="02020403020101020101" pitchFamily="18" charset="-127"/>
                  <a:ea typeface="GyeonggiTitleOTF Light" panose="02020403020101020101" pitchFamily="18" charset="-127"/>
                </a:rPr>
                <a:t> 극대화</a:t>
              </a:r>
              <a:endParaRPr kumimoji="1" lang="en-US" altLang="ko-KR" dirty="0">
                <a:latin typeface="GyeonggiTitleOTF Light" panose="02020403020101020101" pitchFamily="18" charset="-127"/>
                <a:ea typeface="GyeonggiTitleOTF Light" panose="02020403020101020101" pitchFamily="18" charset="-127"/>
              </a:endParaRPr>
            </a:p>
            <a:p>
              <a:endParaRPr kumimoji="1" lang="en-US" altLang="ko-KR" dirty="0">
                <a:latin typeface="GyeonggiTitleOTF Light" panose="02020403020101020101" pitchFamily="18" charset="-127"/>
                <a:ea typeface="GyeonggiTitleOTF Light" panose="02020403020101020101" pitchFamily="18" charset="-127"/>
              </a:endParaRPr>
            </a:p>
            <a:p>
              <a:r>
                <a:rPr kumimoji="1" lang="ko-KR" altLang="en-US" dirty="0">
                  <a:latin typeface="GyeonggiTitleOTF Light" panose="02020403020101020101" pitchFamily="18" charset="-127"/>
                  <a:ea typeface="GyeonggiTitleOTF Light" panose="02020403020101020101" pitchFamily="18" charset="-127"/>
                </a:rPr>
                <a:t>받는 피해 감소 옵션 추가</a:t>
              </a:r>
              <a:endParaRPr kumimoji="1" lang="en-US" altLang="ko-KR" dirty="0">
                <a:latin typeface="GyeonggiTitleOTF Light" panose="02020403020101020101" pitchFamily="18" charset="-127"/>
                <a:ea typeface="GyeonggiTitleOTF Light" panose="02020403020101020101" pitchFamily="18" charset="-127"/>
              </a:endParaRPr>
            </a:p>
            <a:p>
              <a:endParaRPr kumimoji="1" lang="en-US" altLang="ko-KR" dirty="0">
                <a:latin typeface="GyeonggiTitleOTF Light" panose="02020403020101020101" pitchFamily="18" charset="-127"/>
                <a:ea typeface="GyeonggiTitleOTF Light" panose="02020403020101020101" pitchFamily="18" charset="-127"/>
              </a:endParaRPr>
            </a:p>
            <a:p>
              <a:endParaRPr kumimoji="1" lang="en-US" altLang="ko-KR" dirty="0">
                <a:latin typeface="GyeonggiTitleOTF Light" panose="02020403020101020101" pitchFamily="18" charset="-127"/>
                <a:ea typeface="GyeonggiTitleOTF Light" panose="02020403020101020101" pitchFamily="18" charset="-127"/>
              </a:endParaRPr>
            </a:p>
            <a:p>
              <a:r>
                <a:rPr kumimoji="1" lang="en-US" altLang="ko-KR" dirty="0">
                  <a:latin typeface="GyeonggiTitleOTF Light" panose="02020403020101020101" pitchFamily="18" charset="-127"/>
                  <a:ea typeface="GyeonggiTitleOTF Light" panose="02020403020101020101" pitchFamily="18" charset="-127"/>
                </a:rPr>
                <a:t>=&gt;</a:t>
              </a:r>
              <a:r>
                <a:rPr kumimoji="1" lang="ko-KR" altLang="en-US" dirty="0">
                  <a:latin typeface="GyeonggiTitleOTF Light" panose="02020403020101020101" pitchFamily="18" charset="-127"/>
                  <a:ea typeface="GyeonggiTitleOTF Light" panose="02020403020101020101" pitchFamily="18" charset="-127"/>
                </a:rPr>
                <a:t> 이를 통한 </a:t>
              </a:r>
              <a:r>
                <a:rPr kumimoji="1" lang="ko-KR" altLang="en-US" dirty="0" err="1">
                  <a:latin typeface="GyeonggiTitleOTF Light" panose="02020403020101020101" pitchFamily="18" charset="-127"/>
                  <a:ea typeface="GyeonggiTitleOTF Light" panose="02020403020101020101" pitchFamily="18" charset="-127"/>
                </a:rPr>
                <a:t>공덱에</a:t>
              </a:r>
              <a:r>
                <a:rPr kumimoji="1" lang="ko-KR" altLang="en-US" dirty="0">
                  <a:latin typeface="GyeonggiTitleOTF Light" panose="02020403020101020101" pitchFamily="18" charset="-127"/>
                  <a:ea typeface="GyeonggiTitleOTF Light" panose="02020403020101020101" pitchFamily="18" charset="-127"/>
                </a:rPr>
                <a:t> 오랫동안 버티는 안정성 확보 </a:t>
              </a:r>
            </a:p>
          </p:txBody>
        </p:sp>
      </p:grpSp>
      <p:sp>
        <p:nvSpPr>
          <p:cNvPr id="28" name="TextBox 27">
            <a:extLst>
              <a:ext uri="{FF2B5EF4-FFF2-40B4-BE49-F238E27FC236}">
                <a16:creationId xmlns:a16="http://schemas.microsoft.com/office/drawing/2014/main" id="{91F4D962-C8F0-4088-4F16-54E048F16491}"/>
              </a:ext>
            </a:extLst>
          </p:cNvPr>
          <p:cNvSpPr txBox="1"/>
          <p:nvPr/>
        </p:nvSpPr>
        <p:spPr>
          <a:xfrm>
            <a:off x="5848109" y="6412606"/>
            <a:ext cx="49578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ko-KR" sz="1000" dirty="0">
                <a:latin typeface="GyeonggiTitle Bold" panose="02020803020101020101" pitchFamily="18" charset="-127"/>
                <a:ea typeface="GyeonggiTitle Bold" panose="02020803020101020101" pitchFamily="18" charset="-127"/>
              </a:rPr>
              <a:t>- 9 - </a:t>
            </a:r>
            <a:endParaRPr kumimoji="1" lang="ko-KR" altLang="en-US" sz="1000" dirty="0">
              <a:latin typeface="GyeonggiTitle Bold" panose="02020803020101020101" pitchFamily="18" charset="-127"/>
              <a:ea typeface="GyeonggiTitle Bold" panose="020208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738520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0BE6F515-111D-124F-B61F-0ACCEB1ABE6B}"/>
              </a:ext>
            </a:extLst>
          </p:cNvPr>
          <p:cNvSpPr txBox="1"/>
          <p:nvPr/>
        </p:nvSpPr>
        <p:spPr>
          <a:xfrm>
            <a:off x="1072525" y="586716"/>
            <a:ext cx="9551932" cy="11849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500" b="1" dirty="0">
                <a:solidFill>
                  <a:srgbClr val="1A5396"/>
                </a:solidFill>
                <a:latin typeface="GyeonggiTitle Bold" panose="02020803020101020101" pitchFamily="18" charset="-127"/>
                <a:ea typeface="GyeonggiTitle Bold" panose="02020803020101020101" pitchFamily="18" charset="-127"/>
              </a:rPr>
              <a:t>플라튼 </a:t>
            </a:r>
            <a:r>
              <a:rPr lang="ko-KR" altLang="en-US" sz="3500" b="1" dirty="0" err="1">
                <a:solidFill>
                  <a:srgbClr val="1A5396"/>
                </a:solidFill>
                <a:latin typeface="GyeonggiTitle Bold" panose="02020803020101020101" pitchFamily="18" charset="-127"/>
                <a:ea typeface="GyeonggiTitle Bold" panose="02020803020101020101" pitchFamily="18" charset="-127"/>
              </a:rPr>
              <a:t>마덱</a:t>
            </a:r>
            <a:r>
              <a:rPr lang="ko-KR" altLang="en-US" sz="3500" b="1" dirty="0" err="1">
                <a:latin typeface="GyeonggiTitle Bold" panose="02020803020101020101" pitchFamily="18" charset="-127"/>
                <a:ea typeface="GyeonggiTitle Bold" panose="02020803020101020101" pitchFamily="18" charset="-127"/>
              </a:rPr>
              <a:t>의</a:t>
            </a:r>
            <a:r>
              <a:rPr lang="ko-KR" altLang="en-US" sz="3500" b="1" dirty="0">
                <a:latin typeface="GyeonggiTitle Bold" panose="02020803020101020101" pitchFamily="18" charset="-127"/>
                <a:ea typeface="GyeonggiTitle Bold" panose="02020803020101020101" pitchFamily="18" charset="-127"/>
              </a:rPr>
              <a:t> 핵심 조합</a:t>
            </a:r>
            <a:endParaRPr lang="en-US" altLang="ko-KR" sz="3500" b="1" dirty="0">
              <a:latin typeface="GyeonggiTitle Bold" panose="02020803020101020101" pitchFamily="18" charset="-127"/>
              <a:ea typeface="GyeonggiTitle Bold" panose="02020803020101020101" pitchFamily="18" charset="-127"/>
            </a:endParaRPr>
          </a:p>
          <a:p>
            <a:r>
              <a:rPr lang="ko-KR" altLang="en-US" dirty="0">
                <a:latin typeface="GyeonggiTitle Bold" panose="02020803020101020101" pitchFamily="18" charset="-127"/>
                <a:ea typeface="GyeonggiTitle Bold" panose="02020803020101020101" pitchFamily="18" charset="-127"/>
              </a:rPr>
              <a:t>핵심 영웅들의 시너지</a:t>
            </a:r>
            <a:endParaRPr lang="en-US" altLang="ko-KR" sz="3500" dirty="0">
              <a:latin typeface="GyeonggiTitle Bold" panose="02020803020101020101" pitchFamily="18" charset="-127"/>
              <a:ea typeface="GyeonggiTitle Bold" panose="02020803020101020101" pitchFamily="18" charset="-127"/>
            </a:endParaRPr>
          </a:p>
          <a:p>
            <a:endParaRPr lang="ko-KR" altLang="en-US" dirty="0">
              <a:latin typeface="GyeonggiTitle Bold" panose="02020803020101020101" pitchFamily="18" charset="-127"/>
              <a:ea typeface="GyeonggiTitle Bold" panose="02020803020101020101" pitchFamily="18" charset="-127"/>
            </a:endParaRPr>
          </a:p>
        </p:txBody>
      </p:sp>
      <p:cxnSp>
        <p:nvCxnSpPr>
          <p:cNvPr id="66" name="직선 연결선[R] 65">
            <a:extLst>
              <a:ext uri="{FF2B5EF4-FFF2-40B4-BE49-F238E27FC236}">
                <a16:creationId xmlns:a16="http://schemas.microsoft.com/office/drawing/2014/main" id="{94D31FF9-F7BF-A55C-C7CF-C785D2881899}"/>
              </a:ext>
            </a:extLst>
          </p:cNvPr>
          <p:cNvCxnSpPr>
            <a:cxnSpLocks/>
          </p:cNvCxnSpPr>
          <p:nvPr/>
        </p:nvCxnSpPr>
        <p:spPr>
          <a:xfrm flipV="1">
            <a:off x="4246980" y="2107260"/>
            <a:ext cx="1211676" cy="1350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직선 연결선[R] 61">
            <a:extLst>
              <a:ext uri="{FF2B5EF4-FFF2-40B4-BE49-F238E27FC236}">
                <a16:creationId xmlns:a16="http://schemas.microsoft.com/office/drawing/2014/main" id="{5080BC12-CF30-B202-FC52-1A2CC8E1D5B3}"/>
              </a:ext>
            </a:extLst>
          </p:cNvPr>
          <p:cNvCxnSpPr>
            <a:cxnSpLocks/>
          </p:cNvCxnSpPr>
          <p:nvPr/>
        </p:nvCxnSpPr>
        <p:spPr>
          <a:xfrm>
            <a:off x="5000785" y="3765458"/>
            <a:ext cx="2273075" cy="0"/>
          </a:xfrm>
          <a:prstGeom prst="line">
            <a:avLst/>
          </a:prstGeom>
          <a:ln>
            <a:solidFill>
              <a:srgbClr val="FF0000"/>
            </a:solidFill>
          </a:ln>
          <a:effectLst>
            <a:outerShdw sx="1000" sy="1000" algn="ctr" rotWithShape="0">
              <a:srgbClr val="000000"/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직선 연결선[R] 64">
            <a:extLst>
              <a:ext uri="{FF2B5EF4-FFF2-40B4-BE49-F238E27FC236}">
                <a16:creationId xmlns:a16="http://schemas.microsoft.com/office/drawing/2014/main" id="{B8B84A23-7D80-F2F7-A1B5-56C95C0C0B56}"/>
              </a:ext>
            </a:extLst>
          </p:cNvPr>
          <p:cNvCxnSpPr>
            <a:cxnSpLocks/>
          </p:cNvCxnSpPr>
          <p:nvPr/>
        </p:nvCxnSpPr>
        <p:spPr>
          <a:xfrm>
            <a:off x="8599155" y="3769373"/>
            <a:ext cx="1196193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7" name="그룹 46">
            <a:extLst>
              <a:ext uri="{FF2B5EF4-FFF2-40B4-BE49-F238E27FC236}">
                <a16:creationId xmlns:a16="http://schemas.microsoft.com/office/drawing/2014/main" id="{FA9641BF-2354-633F-4A12-19DC0B997F21}"/>
              </a:ext>
            </a:extLst>
          </p:cNvPr>
          <p:cNvGrpSpPr/>
          <p:nvPr/>
        </p:nvGrpSpPr>
        <p:grpSpPr>
          <a:xfrm>
            <a:off x="5458656" y="1437407"/>
            <a:ext cx="1329289" cy="1968207"/>
            <a:chOff x="2232597" y="3925627"/>
            <a:chExt cx="1329289" cy="1968207"/>
          </a:xfrm>
          <a:effectLst>
            <a:outerShdw blurRad="50800" dist="63500" dir="2700000" algn="ctr" rotWithShape="0">
              <a:srgbClr val="000000">
                <a:alpha val="53000"/>
              </a:srgbClr>
            </a:outerShdw>
          </a:effectLst>
        </p:grpSpPr>
        <p:grpSp>
          <p:nvGrpSpPr>
            <p:cNvPr id="48" name="그룹 47">
              <a:extLst>
                <a:ext uri="{FF2B5EF4-FFF2-40B4-BE49-F238E27FC236}">
                  <a16:creationId xmlns:a16="http://schemas.microsoft.com/office/drawing/2014/main" id="{3FFEF79B-1833-F73A-3D0E-47E2D8EFA808}"/>
                </a:ext>
              </a:extLst>
            </p:cNvPr>
            <p:cNvGrpSpPr/>
            <p:nvPr/>
          </p:nvGrpSpPr>
          <p:grpSpPr>
            <a:xfrm>
              <a:off x="2232597" y="3925627"/>
              <a:ext cx="1329289" cy="1968207"/>
              <a:chOff x="2232597" y="3925627"/>
              <a:chExt cx="1329289" cy="1968207"/>
            </a:xfrm>
          </p:grpSpPr>
          <p:grpSp>
            <p:nvGrpSpPr>
              <p:cNvPr id="50" name="그룹 49">
                <a:extLst>
                  <a:ext uri="{FF2B5EF4-FFF2-40B4-BE49-F238E27FC236}">
                    <a16:creationId xmlns:a16="http://schemas.microsoft.com/office/drawing/2014/main" id="{D32B4AE1-FDB0-6E3E-E75A-8703B49F1F0E}"/>
                  </a:ext>
                </a:extLst>
              </p:cNvPr>
              <p:cNvGrpSpPr/>
              <p:nvPr/>
            </p:nvGrpSpPr>
            <p:grpSpPr>
              <a:xfrm>
                <a:off x="2232597" y="3925627"/>
                <a:ext cx="1329289" cy="1968207"/>
                <a:chOff x="834753" y="3940872"/>
                <a:chExt cx="1329289" cy="1968207"/>
              </a:xfrm>
            </p:grpSpPr>
            <p:grpSp>
              <p:nvGrpSpPr>
                <p:cNvPr id="52" name="그룹 51">
                  <a:extLst>
                    <a:ext uri="{FF2B5EF4-FFF2-40B4-BE49-F238E27FC236}">
                      <a16:creationId xmlns:a16="http://schemas.microsoft.com/office/drawing/2014/main" id="{BF9E6EFE-BB0D-4AB1-D6DB-F52E1AFE7938}"/>
                    </a:ext>
                  </a:extLst>
                </p:cNvPr>
                <p:cNvGrpSpPr/>
                <p:nvPr/>
              </p:nvGrpSpPr>
              <p:grpSpPr>
                <a:xfrm>
                  <a:off x="834753" y="3940872"/>
                  <a:ext cx="1329289" cy="1968207"/>
                  <a:chOff x="2050463" y="2359341"/>
                  <a:chExt cx="1664465" cy="2118360"/>
                </a:xfrm>
              </p:grpSpPr>
              <p:sp>
                <p:nvSpPr>
                  <p:cNvPr id="54" name="대각선 방향의 모서리가 둥근 사각형 53">
                    <a:extLst>
                      <a:ext uri="{FF2B5EF4-FFF2-40B4-BE49-F238E27FC236}">
                        <a16:creationId xmlns:a16="http://schemas.microsoft.com/office/drawing/2014/main" id="{4F274B34-74EF-FA4E-49EC-B653EB2F0700}"/>
                      </a:ext>
                    </a:extLst>
                  </p:cNvPr>
                  <p:cNvSpPr/>
                  <p:nvPr/>
                </p:nvSpPr>
                <p:spPr>
                  <a:xfrm>
                    <a:off x="2072640" y="2407919"/>
                    <a:ext cx="1600200" cy="2042160"/>
                  </a:xfrm>
                  <a:prstGeom prst="round2DiagRect">
                    <a:avLst/>
                  </a:prstGeom>
                  <a:solidFill>
                    <a:srgbClr val="DE9B35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ko-KR" altLang="en-US" dirty="0">
                      <a:latin typeface="GyeonggiTitle Bold" panose="02020803020101020101" pitchFamily="18" charset="-127"/>
                      <a:ea typeface="GyeonggiTitle Bold" panose="02020803020101020101" pitchFamily="18" charset="-127"/>
                    </a:endParaRPr>
                  </a:p>
                </p:txBody>
              </p:sp>
              <p:grpSp>
                <p:nvGrpSpPr>
                  <p:cNvPr id="55" name="그룹 54">
                    <a:extLst>
                      <a:ext uri="{FF2B5EF4-FFF2-40B4-BE49-F238E27FC236}">
                        <a16:creationId xmlns:a16="http://schemas.microsoft.com/office/drawing/2014/main" id="{E97DADAB-7ED9-8E3B-FE6C-F0B81703BE30}"/>
                      </a:ext>
                    </a:extLst>
                  </p:cNvPr>
                  <p:cNvGrpSpPr/>
                  <p:nvPr/>
                </p:nvGrpSpPr>
                <p:grpSpPr>
                  <a:xfrm>
                    <a:off x="2072640" y="4012083"/>
                    <a:ext cx="1600200" cy="438000"/>
                    <a:chOff x="2072640" y="4035642"/>
                    <a:chExt cx="1600200" cy="414442"/>
                  </a:xfrm>
                </p:grpSpPr>
                <p:sp>
                  <p:nvSpPr>
                    <p:cNvPr id="58" name="대각선 방향의 모서리가 둥근 사각형 57">
                      <a:extLst>
                        <a:ext uri="{FF2B5EF4-FFF2-40B4-BE49-F238E27FC236}">
                          <a16:creationId xmlns:a16="http://schemas.microsoft.com/office/drawing/2014/main" id="{0907B8B7-5B01-D49D-6C81-E541A8E646D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072640" y="4035647"/>
                      <a:ext cx="1600200" cy="414437"/>
                    </a:xfrm>
                    <a:prstGeom prst="round2DiagRect">
                      <a:avLst>
                        <a:gd name="adj1" fmla="val 50000"/>
                        <a:gd name="adj2" fmla="val 0"/>
                      </a:avLst>
                    </a:prstGeom>
                    <a:solidFill>
                      <a:schemeClr val="tx1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kumimoji="1" lang="ko-KR" altLang="en-US" dirty="0">
                        <a:latin typeface="GyeonggiTitle Bold" panose="02020803020101020101" pitchFamily="18" charset="-127"/>
                        <a:ea typeface="GyeonggiTitle Bold" panose="02020803020101020101" pitchFamily="18" charset="-127"/>
                      </a:endParaRPr>
                    </a:p>
                  </p:txBody>
                </p:sp>
                <p:sp>
                  <p:nvSpPr>
                    <p:cNvPr id="59" name="대각선 방향의 모서리가 둥근 사각형 58">
                      <a:extLst>
                        <a:ext uri="{FF2B5EF4-FFF2-40B4-BE49-F238E27FC236}">
                          <a16:creationId xmlns:a16="http://schemas.microsoft.com/office/drawing/2014/main" id="{4C001212-4C4F-4E95-7B0A-F5F564A6CAC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072640" y="4035642"/>
                      <a:ext cx="630808" cy="405737"/>
                    </a:xfrm>
                    <a:prstGeom prst="round2DiagRect">
                      <a:avLst>
                        <a:gd name="adj1" fmla="val 0"/>
                        <a:gd name="adj2" fmla="val 0"/>
                      </a:avLst>
                    </a:prstGeom>
                    <a:solidFill>
                      <a:schemeClr val="tx1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kumimoji="1" lang="ko-KR" altLang="en-US" dirty="0">
                        <a:latin typeface="GyeonggiTitle Bold" panose="02020803020101020101" pitchFamily="18" charset="-127"/>
                        <a:ea typeface="GyeonggiTitle Bold" panose="02020803020101020101" pitchFamily="18" charset="-127"/>
                      </a:endParaRPr>
                    </a:p>
                  </p:txBody>
                </p:sp>
              </p:grpSp>
              <p:sp>
                <p:nvSpPr>
                  <p:cNvPr id="56" name="대각선 방향의 모서리가 둥근 사각형 55">
                    <a:extLst>
                      <a:ext uri="{FF2B5EF4-FFF2-40B4-BE49-F238E27FC236}">
                        <a16:creationId xmlns:a16="http://schemas.microsoft.com/office/drawing/2014/main" id="{266C5AF3-A196-637D-658C-B728B1788B84}"/>
                      </a:ext>
                    </a:extLst>
                  </p:cNvPr>
                  <p:cNvSpPr/>
                  <p:nvPr/>
                </p:nvSpPr>
                <p:spPr>
                  <a:xfrm>
                    <a:off x="2050463" y="2380297"/>
                    <a:ext cx="1652055" cy="2097404"/>
                  </a:xfrm>
                  <a:prstGeom prst="round2DiagRect">
                    <a:avLst>
                      <a:gd name="adj1" fmla="val 16667"/>
                      <a:gd name="adj2" fmla="val 0"/>
                    </a:avLst>
                  </a:prstGeom>
                  <a:noFill/>
                  <a:ln>
                    <a:solidFill>
                      <a:srgbClr val="FFFFED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ko-KR" altLang="en-US" dirty="0">
                      <a:latin typeface="GyeonggiTitle Bold" panose="02020803020101020101" pitchFamily="18" charset="-127"/>
                      <a:ea typeface="GyeonggiTitle Bold" panose="02020803020101020101" pitchFamily="18" charset="-127"/>
                    </a:endParaRPr>
                  </a:p>
                </p:txBody>
              </p:sp>
              <p:pic>
                <p:nvPicPr>
                  <p:cNvPr id="57" name="그림 56" descr="스크린샷, 예술, 마룬, 어둠이(가) 표시된 사진&#10;&#10;AI 생성 콘텐츠는 정확하지 않을 수 있습니다.">
                    <a:extLst>
                      <a:ext uri="{FF2B5EF4-FFF2-40B4-BE49-F238E27FC236}">
                        <a16:creationId xmlns:a16="http://schemas.microsoft.com/office/drawing/2014/main" id="{8C7C4F50-D8FD-3D28-5C78-03377DFA0111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3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2800528" y="2359341"/>
                    <a:ext cx="914400" cy="812800"/>
                  </a:xfrm>
                  <a:prstGeom prst="rect">
                    <a:avLst/>
                  </a:prstGeom>
                </p:spPr>
              </p:pic>
            </p:grpSp>
            <p:sp>
              <p:nvSpPr>
                <p:cNvPr id="53" name="TextBox 52">
                  <a:extLst>
                    <a:ext uri="{FF2B5EF4-FFF2-40B4-BE49-F238E27FC236}">
                      <a16:creationId xmlns:a16="http://schemas.microsoft.com/office/drawing/2014/main" id="{3ADC821F-5CAE-043E-5C42-823BE138E9FF}"/>
                    </a:ext>
                  </a:extLst>
                </p:cNvPr>
                <p:cNvSpPr txBox="1"/>
                <p:nvPr/>
              </p:nvSpPr>
              <p:spPr>
                <a:xfrm>
                  <a:off x="1060855" y="5506899"/>
                  <a:ext cx="811358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kumimoji="1" lang="ko-KR" altLang="en-US" sz="1400" dirty="0">
                      <a:solidFill>
                        <a:schemeClr val="bg1"/>
                      </a:solidFill>
                      <a:latin typeface="GyeonggiTitle Bold" panose="02020803020101020101" pitchFamily="18" charset="-127"/>
                      <a:ea typeface="GyeonggiTitle Bold" panose="02020803020101020101" pitchFamily="18" charset="-127"/>
                    </a:rPr>
                    <a:t>플라튼</a:t>
                  </a:r>
                  <a:endParaRPr kumimoji="1" lang="en-US" altLang="ko-KR" sz="1400" dirty="0">
                    <a:solidFill>
                      <a:schemeClr val="bg1"/>
                    </a:solidFill>
                    <a:latin typeface="GyeonggiTitle Bold" panose="02020803020101020101" pitchFamily="18" charset="-127"/>
                    <a:ea typeface="GyeonggiTitle Bold" panose="02020803020101020101" pitchFamily="18" charset="-127"/>
                  </a:endParaRPr>
                </a:p>
              </p:txBody>
            </p:sp>
          </p:grpSp>
          <p:pic>
            <p:nvPicPr>
              <p:cNvPr id="51" name="그림 50" descr="아니메, 만화 영화, 망가, CG 아트워크이(가) 표시된 사진&#10;&#10;AI 생성 콘텐츠는 정확하지 않을 수 있습니다.">
                <a:extLst>
                  <a:ext uri="{FF2B5EF4-FFF2-40B4-BE49-F238E27FC236}">
                    <a16:creationId xmlns:a16="http://schemas.microsoft.com/office/drawing/2014/main" id="{5E03BE73-CE74-C60C-97A1-7135A7BA3A2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7179" r="9773"/>
              <a:stretch>
                <a:fillRect/>
              </a:stretch>
            </p:blipFill>
            <p:spPr>
              <a:xfrm>
                <a:off x="2241071" y="3943282"/>
                <a:ext cx="1287202" cy="1522930"/>
              </a:xfrm>
              <a:prstGeom prst="rect">
                <a:avLst/>
              </a:prstGeom>
            </p:spPr>
          </p:pic>
        </p:grpSp>
        <p:pic>
          <p:nvPicPr>
            <p:cNvPr id="49" name="그림 48">
              <a:extLst>
                <a:ext uri="{FF2B5EF4-FFF2-40B4-BE49-F238E27FC236}">
                  <a16:creationId xmlns:a16="http://schemas.microsoft.com/office/drawing/2014/main" id="{BB8DCCF0-114B-6B9F-13E9-2298AA8666FA}"/>
                </a:ext>
              </a:extLst>
            </p:cNvPr>
            <p:cNvPicPr>
              <a:picLocks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255255" y="5179022"/>
              <a:ext cx="288000" cy="288000"/>
            </a:xfrm>
            <a:prstGeom prst="rect">
              <a:avLst/>
            </a:prstGeom>
          </p:spPr>
        </p:pic>
      </p:grpSp>
      <p:cxnSp>
        <p:nvCxnSpPr>
          <p:cNvPr id="61" name="직선 연결선[R] 60">
            <a:extLst>
              <a:ext uri="{FF2B5EF4-FFF2-40B4-BE49-F238E27FC236}">
                <a16:creationId xmlns:a16="http://schemas.microsoft.com/office/drawing/2014/main" id="{4A87F55F-7E10-0601-5F97-AAF63CC73E18}"/>
              </a:ext>
            </a:extLst>
          </p:cNvPr>
          <p:cNvCxnSpPr/>
          <p:nvPr/>
        </p:nvCxnSpPr>
        <p:spPr>
          <a:xfrm>
            <a:off x="2449486" y="3765458"/>
            <a:ext cx="1221587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직선 연결선[R] 66">
            <a:extLst>
              <a:ext uri="{FF2B5EF4-FFF2-40B4-BE49-F238E27FC236}">
                <a16:creationId xmlns:a16="http://schemas.microsoft.com/office/drawing/2014/main" id="{F7725CB6-B8E9-55C5-90E9-B022400139CF}"/>
              </a:ext>
            </a:extLst>
          </p:cNvPr>
          <p:cNvCxnSpPr/>
          <p:nvPr/>
        </p:nvCxnSpPr>
        <p:spPr>
          <a:xfrm>
            <a:off x="6787945" y="2107260"/>
            <a:ext cx="122158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A8A6D546-5DE3-1799-E46B-11F82BF98D5D}"/>
              </a:ext>
            </a:extLst>
          </p:cNvPr>
          <p:cNvSpPr txBox="1"/>
          <p:nvPr/>
        </p:nvSpPr>
        <p:spPr>
          <a:xfrm>
            <a:off x="7894656" y="1922594"/>
            <a:ext cx="14868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R" altLang="en-US" dirty="0">
                <a:solidFill>
                  <a:srgbClr val="4472C4"/>
                </a:solidFill>
                <a:latin typeface="GyeonggiTitle Bold" panose="02020803020101020101" pitchFamily="18" charset="-127"/>
                <a:ea typeface="GyeonggiTitle Bold" panose="02020803020101020101" pitchFamily="18" charset="-127"/>
              </a:rPr>
              <a:t>전열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3CF68AC-DD90-A9BD-94B2-57249413567C}"/>
              </a:ext>
            </a:extLst>
          </p:cNvPr>
          <p:cNvSpPr txBox="1"/>
          <p:nvPr/>
        </p:nvSpPr>
        <p:spPr>
          <a:xfrm>
            <a:off x="9674713" y="3553654"/>
            <a:ext cx="7060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R" altLang="en-US" dirty="0">
                <a:solidFill>
                  <a:srgbClr val="FF0000"/>
                </a:solidFill>
                <a:latin typeface="GyeonggiTitle Bold" panose="02020803020101020101" pitchFamily="18" charset="-127"/>
                <a:ea typeface="GyeonggiTitle Bold" panose="02020803020101020101" pitchFamily="18" charset="-127"/>
              </a:rPr>
              <a:t>후열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54711CA-6958-ADB4-EF58-4D908B2AFCBC}"/>
              </a:ext>
            </a:extLst>
          </p:cNvPr>
          <p:cNvSpPr txBox="1"/>
          <p:nvPr/>
        </p:nvSpPr>
        <p:spPr>
          <a:xfrm>
            <a:off x="5790602" y="6370708"/>
            <a:ext cx="61079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ko-KR" sz="1000" dirty="0">
                <a:latin typeface="GyeonggiTitle Bold" panose="02020803020101020101" pitchFamily="18" charset="-127"/>
                <a:ea typeface="GyeonggiTitle Bold" panose="02020803020101020101" pitchFamily="18" charset="-127"/>
              </a:rPr>
              <a:t> </a:t>
            </a:r>
            <a:endParaRPr kumimoji="1" lang="ko-KR" altLang="en-US" sz="1000" dirty="0">
              <a:latin typeface="GyeonggiTitle Bold" panose="02020803020101020101" pitchFamily="18" charset="-127"/>
              <a:ea typeface="GyeonggiTitle Bold" panose="02020803020101020101" pitchFamily="18" charset="-127"/>
            </a:endParaRPr>
          </a:p>
        </p:txBody>
      </p:sp>
      <p:grpSp>
        <p:nvGrpSpPr>
          <p:cNvPr id="72" name="그룹 71">
            <a:extLst>
              <a:ext uri="{FF2B5EF4-FFF2-40B4-BE49-F238E27FC236}">
                <a16:creationId xmlns:a16="http://schemas.microsoft.com/office/drawing/2014/main" id="{FD361A27-2B0A-1885-3E1B-9258876C1482}"/>
              </a:ext>
            </a:extLst>
          </p:cNvPr>
          <p:cNvGrpSpPr/>
          <p:nvPr/>
        </p:nvGrpSpPr>
        <p:grpSpPr>
          <a:xfrm>
            <a:off x="828000" y="4608000"/>
            <a:ext cx="10541032" cy="1785508"/>
            <a:chOff x="900000" y="3940820"/>
            <a:chExt cx="10541032" cy="2471785"/>
          </a:xfrm>
        </p:grpSpPr>
        <p:grpSp>
          <p:nvGrpSpPr>
            <p:cNvPr id="73" name="그룹 72">
              <a:extLst>
                <a:ext uri="{FF2B5EF4-FFF2-40B4-BE49-F238E27FC236}">
                  <a16:creationId xmlns:a16="http://schemas.microsoft.com/office/drawing/2014/main" id="{2C8EB18E-EC39-D3A7-F82B-4BB0DE4ABFA8}"/>
                </a:ext>
              </a:extLst>
            </p:cNvPr>
            <p:cNvGrpSpPr/>
            <p:nvPr/>
          </p:nvGrpSpPr>
          <p:grpSpPr>
            <a:xfrm>
              <a:off x="900000" y="3940820"/>
              <a:ext cx="10541032" cy="2471785"/>
              <a:chOff x="807688" y="1546884"/>
              <a:chExt cx="10541032" cy="4864076"/>
            </a:xfrm>
          </p:grpSpPr>
          <p:grpSp>
            <p:nvGrpSpPr>
              <p:cNvPr id="77" name="그룹 76">
                <a:extLst>
                  <a:ext uri="{FF2B5EF4-FFF2-40B4-BE49-F238E27FC236}">
                    <a16:creationId xmlns:a16="http://schemas.microsoft.com/office/drawing/2014/main" id="{3ACAD859-54EF-4708-974A-DE4A4109B4FF}"/>
                  </a:ext>
                </a:extLst>
              </p:cNvPr>
              <p:cNvGrpSpPr/>
              <p:nvPr/>
            </p:nvGrpSpPr>
            <p:grpSpPr>
              <a:xfrm>
                <a:off x="807688" y="1546884"/>
                <a:ext cx="10541032" cy="4864076"/>
                <a:chOff x="807688" y="1546884"/>
                <a:chExt cx="10541032" cy="4864076"/>
              </a:xfrm>
            </p:grpSpPr>
            <p:sp>
              <p:nvSpPr>
                <p:cNvPr id="85" name="대각선 방향의 모서리가 둥근 사각형 84">
                  <a:extLst>
                    <a:ext uri="{FF2B5EF4-FFF2-40B4-BE49-F238E27FC236}">
                      <a16:creationId xmlns:a16="http://schemas.microsoft.com/office/drawing/2014/main" id="{45242C5B-58DB-B03E-ED75-6F2039020D13}"/>
                    </a:ext>
                  </a:extLst>
                </p:cNvPr>
                <p:cNvSpPr/>
                <p:nvPr/>
              </p:nvSpPr>
              <p:spPr>
                <a:xfrm>
                  <a:off x="807688" y="1546884"/>
                  <a:ext cx="10541032" cy="4864076"/>
                </a:xfrm>
                <a:prstGeom prst="round2DiagRect">
                  <a:avLst>
                    <a:gd name="adj1" fmla="val 8177"/>
                    <a:gd name="adj2" fmla="val 0"/>
                  </a:avLst>
                </a:prstGeom>
                <a:solidFill>
                  <a:srgbClr val="B4B4B3">
                    <a:alpha val="36515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lvl="0" eaLnBrk="0" fontAlgn="base" latinLnBrk="0" hangingPunct="0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altLang="ko-KR" sz="1600" dirty="0">
                    <a:solidFill>
                      <a:schemeClr val="tx1"/>
                    </a:solidFill>
                    <a:latin typeface="GyeonggiTitle Bold" panose="02020803020101020101" pitchFamily="18" charset="-127"/>
                    <a:ea typeface="GyeonggiTitle Bold" panose="02020803020101020101" pitchFamily="18" charset="-127"/>
                  </a:endParaRPr>
                </a:p>
              </p:txBody>
            </p:sp>
            <p:grpSp>
              <p:nvGrpSpPr>
                <p:cNvPr id="86" name="그룹 85">
                  <a:extLst>
                    <a:ext uri="{FF2B5EF4-FFF2-40B4-BE49-F238E27FC236}">
                      <a16:creationId xmlns:a16="http://schemas.microsoft.com/office/drawing/2014/main" id="{2CC45E26-9ADF-B4DD-3BB8-D26F57E6734C}"/>
                    </a:ext>
                  </a:extLst>
                </p:cNvPr>
                <p:cNvGrpSpPr/>
                <p:nvPr/>
              </p:nvGrpSpPr>
              <p:grpSpPr>
                <a:xfrm>
                  <a:off x="861887" y="1708925"/>
                  <a:ext cx="3271596" cy="4430274"/>
                  <a:chOff x="3850944" y="905654"/>
                  <a:chExt cx="3271596" cy="4994694"/>
                </a:xfrm>
                <a:effectLst>
                  <a:outerShdw blurRad="50800" dist="131726" dir="2700000" algn="ctr" rotWithShape="0">
                    <a:srgbClr val="000000">
                      <a:alpha val="50000"/>
                    </a:srgbClr>
                  </a:outerShdw>
                </a:effectLst>
              </p:grpSpPr>
              <p:grpSp>
                <p:nvGrpSpPr>
                  <p:cNvPr id="94" name="그룹 93">
                    <a:extLst>
                      <a:ext uri="{FF2B5EF4-FFF2-40B4-BE49-F238E27FC236}">
                        <a16:creationId xmlns:a16="http://schemas.microsoft.com/office/drawing/2014/main" id="{700CD68C-BA89-AA17-2FCA-1893D2F30F52}"/>
                      </a:ext>
                    </a:extLst>
                  </p:cNvPr>
                  <p:cNvGrpSpPr/>
                  <p:nvPr/>
                </p:nvGrpSpPr>
                <p:grpSpPr>
                  <a:xfrm>
                    <a:off x="3930766" y="905654"/>
                    <a:ext cx="3191774" cy="4994694"/>
                    <a:chOff x="3907766" y="931653"/>
                    <a:chExt cx="3191774" cy="4994694"/>
                  </a:xfrm>
                </p:grpSpPr>
                <p:sp>
                  <p:nvSpPr>
                    <p:cNvPr id="96" name="대각선 방향의 모서리가 둥근 사각형 95">
                      <a:extLst>
                        <a:ext uri="{FF2B5EF4-FFF2-40B4-BE49-F238E27FC236}">
                          <a16:creationId xmlns:a16="http://schemas.microsoft.com/office/drawing/2014/main" id="{41A1DE94-9000-E349-E624-C02F7CDF8A0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907766" y="931653"/>
                      <a:ext cx="3191774" cy="4994694"/>
                    </a:xfrm>
                    <a:prstGeom prst="round2DiagRect">
                      <a:avLst>
                        <a:gd name="adj1" fmla="val 10451"/>
                        <a:gd name="adj2" fmla="val 0"/>
                      </a:avLst>
                    </a:prstGeom>
                    <a:solidFill>
                      <a:srgbClr val="DEDCDA"/>
                    </a:solidFill>
                    <a:ln>
                      <a:solidFill>
                        <a:srgbClr val="DEDCDA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kumimoji="1" lang="ko-KR" altLang="en-US">
                        <a:latin typeface="GyeonggiTitle Bold" panose="02020803020101020101" pitchFamily="18" charset="-127"/>
                        <a:ea typeface="GyeonggiTitle Bold" panose="02020803020101020101" pitchFamily="18" charset="-127"/>
                      </a:endParaRPr>
                    </a:p>
                  </p:txBody>
                </p:sp>
                <p:sp>
                  <p:nvSpPr>
                    <p:cNvPr id="97" name="대각선 방향의 모서리가 둥근 사각형 96">
                      <a:extLst>
                        <a:ext uri="{FF2B5EF4-FFF2-40B4-BE49-F238E27FC236}">
                          <a16:creationId xmlns:a16="http://schemas.microsoft.com/office/drawing/2014/main" id="{CF3F9D2E-2F9D-BEFE-9139-E0CB4965E08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907766" y="931653"/>
                      <a:ext cx="3191774" cy="973234"/>
                    </a:xfrm>
                    <a:prstGeom prst="round2DiagRect">
                      <a:avLst>
                        <a:gd name="adj1" fmla="val 48374"/>
                        <a:gd name="adj2" fmla="val 0"/>
                      </a:avLst>
                    </a:prstGeom>
                    <a:solidFill>
                      <a:srgbClr val="393833"/>
                    </a:solidFill>
                    <a:ln>
                      <a:solidFill>
                        <a:srgbClr val="DFDCDA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kumimoji="1" lang="ko-KR" altLang="en-US" b="1" dirty="0" err="1">
                          <a:latin typeface="GyeonggiTitle Bold" panose="02020803020101020101" pitchFamily="18" charset="-127"/>
                          <a:ea typeface="GyeonggiTitle Bold" panose="02020803020101020101" pitchFamily="18" charset="-127"/>
                        </a:rPr>
                        <a:t>멜키르</a:t>
                      </a:r>
                      <a:endParaRPr kumimoji="1" lang="ko-KR" altLang="en-US" b="1" dirty="0">
                        <a:latin typeface="GyeonggiTitle Bold" panose="02020803020101020101" pitchFamily="18" charset="-127"/>
                        <a:ea typeface="GyeonggiTitle Bold" panose="02020803020101020101" pitchFamily="18" charset="-127"/>
                      </a:endParaRPr>
                    </a:p>
                  </p:txBody>
                </p:sp>
              </p:grpSp>
              <p:sp>
                <p:nvSpPr>
                  <p:cNvPr id="93" name="TextBox 92">
                    <a:extLst>
                      <a:ext uri="{FF2B5EF4-FFF2-40B4-BE49-F238E27FC236}">
                        <a16:creationId xmlns:a16="http://schemas.microsoft.com/office/drawing/2014/main" id="{B17309EA-11D4-0931-D58F-2A492D303AA9}"/>
                      </a:ext>
                    </a:extLst>
                  </p:cNvPr>
                  <p:cNvSpPr txBox="1"/>
                  <p:nvPr/>
                </p:nvSpPr>
                <p:spPr>
                  <a:xfrm>
                    <a:off x="3850944" y="2368648"/>
                    <a:ext cx="3191771" cy="36977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lvl="0" eaLnBrk="0" fontAlgn="base" latinLnBrk="0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en-US" altLang="ko-KR" sz="1500" dirty="0">
                      <a:latin typeface="GyeonggiTitleOTF Light" panose="02020403020101020101" pitchFamily="18" charset="-127"/>
                      <a:ea typeface="GyeonggiTitleOTF Light" panose="02020403020101020101" pitchFamily="18" charset="-127"/>
                    </a:endParaRPr>
                  </a:p>
                </p:txBody>
              </p:sp>
            </p:grpSp>
            <p:grpSp>
              <p:nvGrpSpPr>
                <p:cNvPr id="87" name="그룹 86">
                  <a:extLst>
                    <a:ext uri="{FF2B5EF4-FFF2-40B4-BE49-F238E27FC236}">
                      <a16:creationId xmlns:a16="http://schemas.microsoft.com/office/drawing/2014/main" id="{A73277CE-118D-9F78-0797-506C8B096619}"/>
                    </a:ext>
                  </a:extLst>
                </p:cNvPr>
                <p:cNvGrpSpPr/>
                <p:nvPr/>
              </p:nvGrpSpPr>
              <p:grpSpPr>
                <a:xfrm>
                  <a:off x="4460202" y="1708925"/>
                  <a:ext cx="3191774" cy="4430274"/>
                  <a:chOff x="2904209" y="1707509"/>
                  <a:chExt cx="3191774" cy="4430274"/>
                </a:xfrm>
                <a:effectLst>
                  <a:outerShdw blurRad="50800" dist="127000" dir="2700000" algn="ctr" rotWithShape="0">
                    <a:srgbClr val="000000">
                      <a:alpha val="50000"/>
                    </a:srgbClr>
                  </a:outerShdw>
                </a:effectLst>
              </p:grpSpPr>
              <p:grpSp>
                <p:nvGrpSpPr>
                  <p:cNvPr id="88" name="그룹 87">
                    <a:extLst>
                      <a:ext uri="{FF2B5EF4-FFF2-40B4-BE49-F238E27FC236}">
                        <a16:creationId xmlns:a16="http://schemas.microsoft.com/office/drawing/2014/main" id="{0E4D27A8-4656-C1E6-6DB3-1F5302CC34A1}"/>
                      </a:ext>
                    </a:extLst>
                  </p:cNvPr>
                  <p:cNvGrpSpPr/>
                  <p:nvPr/>
                </p:nvGrpSpPr>
                <p:grpSpPr>
                  <a:xfrm>
                    <a:off x="2904209" y="1707509"/>
                    <a:ext cx="3191774" cy="4430274"/>
                    <a:chOff x="3907766" y="931653"/>
                    <a:chExt cx="3191774" cy="4994694"/>
                  </a:xfrm>
                </p:grpSpPr>
                <p:sp>
                  <p:nvSpPr>
                    <p:cNvPr id="90" name="대각선 방향의 모서리가 둥근 사각형 89">
                      <a:extLst>
                        <a:ext uri="{FF2B5EF4-FFF2-40B4-BE49-F238E27FC236}">
                          <a16:creationId xmlns:a16="http://schemas.microsoft.com/office/drawing/2014/main" id="{FCF622C8-26D5-F3A9-40B2-9952F0C0254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907766" y="931653"/>
                      <a:ext cx="3191774" cy="4994694"/>
                    </a:xfrm>
                    <a:prstGeom prst="round2DiagRect">
                      <a:avLst>
                        <a:gd name="adj1" fmla="val 10451"/>
                        <a:gd name="adj2" fmla="val 0"/>
                      </a:avLst>
                    </a:prstGeom>
                    <a:solidFill>
                      <a:srgbClr val="DEDCDA"/>
                    </a:solidFill>
                    <a:ln>
                      <a:solidFill>
                        <a:srgbClr val="DEDCDA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kumimoji="1" lang="ko-KR" altLang="en-US">
                        <a:latin typeface="GyeonggiTitle Bold" panose="02020803020101020101" pitchFamily="18" charset="-127"/>
                        <a:ea typeface="GyeonggiTitle Bold" panose="02020803020101020101" pitchFamily="18" charset="-127"/>
                      </a:endParaRPr>
                    </a:p>
                  </p:txBody>
                </p:sp>
                <p:sp>
                  <p:nvSpPr>
                    <p:cNvPr id="91" name="대각선 방향의 모서리가 둥근 사각형 90">
                      <a:extLst>
                        <a:ext uri="{FF2B5EF4-FFF2-40B4-BE49-F238E27FC236}">
                          <a16:creationId xmlns:a16="http://schemas.microsoft.com/office/drawing/2014/main" id="{11505FE2-BAF7-829B-30BE-ABE82A0FC46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907766" y="931653"/>
                      <a:ext cx="3191774" cy="973234"/>
                    </a:xfrm>
                    <a:prstGeom prst="round2DiagRect">
                      <a:avLst>
                        <a:gd name="adj1" fmla="val 48374"/>
                        <a:gd name="adj2" fmla="val 0"/>
                      </a:avLst>
                    </a:prstGeom>
                    <a:solidFill>
                      <a:srgbClr val="393832"/>
                    </a:solidFill>
                    <a:ln>
                      <a:solidFill>
                        <a:srgbClr val="DFDCDA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kumimoji="1" lang="ko-KR" altLang="en-US" b="1" dirty="0">
                          <a:solidFill>
                            <a:schemeClr val="bg1"/>
                          </a:solidFill>
                          <a:latin typeface="GyeonggiTitle Bold" panose="02020803020101020101" pitchFamily="18" charset="-127"/>
                          <a:ea typeface="GyeonggiTitle Bold" panose="02020803020101020101" pitchFamily="18" charset="-127"/>
                        </a:rPr>
                        <a:t>시너지 효과</a:t>
                      </a:r>
                    </a:p>
                  </p:txBody>
                </p:sp>
              </p:grpSp>
              <p:sp>
                <p:nvSpPr>
                  <p:cNvPr id="89" name="TextBox 88">
                    <a:extLst>
                      <a:ext uri="{FF2B5EF4-FFF2-40B4-BE49-F238E27FC236}">
                        <a16:creationId xmlns:a16="http://schemas.microsoft.com/office/drawing/2014/main" id="{E46FA291-B664-4D99-24A8-7F56210589B9}"/>
                      </a:ext>
                    </a:extLst>
                  </p:cNvPr>
                  <p:cNvSpPr txBox="1"/>
                  <p:nvPr/>
                </p:nvSpPr>
                <p:spPr>
                  <a:xfrm>
                    <a:off x="3350654" y="1818904"/>
                    <a:ext cx="2458529" cy="37484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endParaRPr lang="en-US" altLang="ko-KR" dirty="0">
                      <a:solidFill>
                        <a:schemeClr val="bg1"/>
                      </a:solidFill>
                      <a:latin typeface="GyeonggiTitle Bold" panose="02020803020101020101" pitchFamily="18" charset="-127"/>
                      <a:ea typeface="GyeonggiTitle Bold" panose="02020803020101020101" pitchFamily="18" charset="-127"/>
                    </a:endParaRPr>
                  </a:p>
                </p:txBody>
              </p:sp>
            </p:grpSp>
          </p:grpSp>
          <p:grpSp>
            <p:nvGrpSpPr>
              <p:cNvPr id="78" name="그룹 77">
                <a:extLst>
                  <a:ext uri="{FF2B5EF4-FFF2-40B4-BE49-F238E27FC236}">
                    <a16:creationId xmlns:a16="http://schemas.microsoft.com/office/drawing/2014/main" id="{B198D24B-F0B7-3F4B-06BB-E3C38E83185B}"/>
                  </a:ext>
                </a:extLst>
              </p:cNvPr>
              <p:cNvGrpSpPr/>
              <p:nvPr/>
            </p:nvGrpSpPr>
            <p:grpSpPr>
              <a:xfrm>
                <a:off x="7978692" y="1707407"/>
                <a:ext cx="3191774" cy="4430274"/>
                <a:chOff x="2904209" y="1707509"/>
                <a:chExt cx="3191774" cy="4430274"/>
              </a:xfrm>
              <a:effectLst>
                <a:outerShdw blurRad="50800" dist="127000" dir="2700000" algn="ctr" rotWithShape="0">
                  <a:srgbClr val="000000">
                    <a:alpha val="50000"/>
                  </a:srgbClr>
                </a:outerShdw>
              </a:effectLst>
            </p:grpSpPr>
            <p:grpSp>
              <p:nvGrpSpPr>
                <p:cNvPr id="79" name="그룹 78">
                  <a:extLst>
                    <a:ext uri="{FF2B5EF4-FFF2-40B4-BE49-F238E27FC236}">
                      <a16:creationId xmlns:a16="http://schemas.microsoft.com/office/drawing/2014/main" id="{DD246770-A57D-8C51-E737-CAE65037157D}"/>
                    </a:ext>
                  </a:extLst>
                </p:cNvPr>
                <p:cNvGrpSpPr/>
                <p:nvPr/>
              </p:nvGrpSpPr>
              <p:grpSpPr>
                <a:xfrm>
                  <a:off x="2904209" y="1707509"/>
                  <a:ext cx="3191774" cy="4430274"/>
                  <a:chOff x="3907766" y="931653"/>
                  <a:chExt cx="3191774" cy="4994694"/>
                </a:xfrm>
              </p:grpSpPr>
              <p:sp>
                <p:nvSpPr>
                  <p:cNvPr id="83" name="대각선 방향의 모서리가 둥근 사각형 82">
                    <a:extLst>
                      <a:ext uri="{FF2B5EF4-FFF2-40B4-BE49-F238E27FC236}">
                        <a16:creationId xmlns:a16="http://schemas.microsoft.com/office/drawing/2014/main" id="{9E0F2DCA-3626-C2DA-D160-3960723B6E50}"/>
                      </a:ext>
                    </a:extLst>
                  </p:cNvPr>
                  <p:cNvSpPr/>
                  <p:nvPr/>
                </p:nvSpPr>
                <p:spPr>
                  <a:xfrm>
                    <a:off x="3907766" y="931653"/>
                    <a:ext cx="3191774" cy="4994694"/>
                  </a:xfrm>
                  <a:prstGeom prst="round2DiagRect">
                    <a:avLst>
                      <a:gd name="adj1" fmla="val 10451"/>
                      <a:gd name="adj2" fmla="val 0"/>
                    </a:avLst>
                  </a:prstGeom>
                  <a:solidFill>
                    <a:srgbClr val="DEDCDA"/>
                  </a:solidFill>
                  <a:ln>
                    <a:solidFill>
                      <a:srgbClr val="DEDCDA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ko-KR" altLang="en-US">
                      <a:latin typeface="GyeonggiTitle Bold" panose="02020803020101020101" pitchFamily="18" charset="-127"/>
                      <a:ea typeface="GyeonggiTitle Bold" panose="02020803020101020101" pitchFamily="18" charset="-127"/>
                    </a:endParaRPr>
                  </a:p>
                </p:txBody>
              </p:sp>
              <p:sp>
                <p:nvSpPr>
                  <p:cNvPr id="84" name="대각선 방향의 모서리가 둥근 사각형 83">
                    <a:extLst>
                      <a:ext uri="{FF2B5EF4-FFF2-40B4-BE49-F238E27FC236}">
                        <a16:creationId xmlns:a16="http://schemas.microsoft.com/office/drawing/2014/main" id="{F15F21DC-C45F-F80E-358B-F1D9F0FB6F8C}"/>
                      </a:ext>
                    </a:extLst>
                  </p:cNvPr>
                  <p:cNvSpPr/>
                  <p:nvPr/>
                </p:nvSpPr>
                <p:spPr>
                  <a:xfrm>
                    <a:off x="3907766" y="931653"/>
                    <a:ext cx="3191774" cy="973234"/>
                  </a:xfrm>
                  <a:prstGeom prst="round2DiagRect">
                    <a:avLst>
                      <a:gd name="adj1" fmla="val 48374"/>
                      <a:gd name="adj2" fmla="val 0"/>
                    </a:avLst>
                  </a:prstGeom>
                  <a:solidFill>
                    <a:srgbClr val="393833"/>
                  </a:solidFill>
                  <a:ln>
                    <a:solidFill>
                      <a:srgbClr val="DFDCDA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kumimoji="1" lang="ko-KR" altLang="en-US" b="1" dirty="0">
                        <a:latin typeface="GyeonggiTitle Bold" panose="02020803020101020101" pitchFamily="18" charset="-127"/>
                        <a:ea typeface="GyeonggiTitle Bold" panose="02020803020101020101" pitchFamily="18" charset="-127"/>
                      </a:rPr>
                      <a:t>쥬리</a:t>
                    </a:r>
                  </a:p>
                </p:txBody>
              </p:sp>
            </p:grpSp>
            <p:grpSp>
              <p:nvGrpSpPr>
                <p:cNvPr id="80" name="그룹 79">
                  <a:extLst>
                    <a:ext uri="{FF2B5EF4-FFF2-40B4-BE49-F238E27FC236}">
                      <a16:creationId xmlns:a16="http://schemas.microsoft.com/office/drawing/2014/main" id="{4F8CC096-69BE-D45C-326D-DE1950BE4BAB}"/>
                    </a:ext>
                  </a:extLst>
                </p:cNvPr>
                <p:cNvGrpSpPr/>
                <p:nvPr/>
              </p:nvGrpSpPr>
              <p:grpSpPr>
                <a:xfrm>
                  <a:off x="2904209" y="1818905"/>
                  <a:ext cx="3191771" cy="1852539"/>
                  <a:chOff x="3007726" y="1790246"/>
                  <a:chExt cx="3191771" cy="1852539"/>
                </a:xfrm>
              </p:grpSpPr>
              <p:sp>
                <p:nvSpPr>
                  <p:cNvPr id="81" name="TextBox 80">
                    <a:extLst>
                      <a:ext uri="{FF2B5EF4-FFF2-40B4-BE49-F238E27FC236}">
                        <a16:creationId xmlns:a16="http://schemas.microsoft.com/office/drawing/2014/main" id="{947FD331-C6AA-F3AB-2B9F-0068E876ACB4}"/>
                      </a:ext>
                    </a:extLst>
                  </p:cNvPr>
                  <p:cNvSpPr txBox="1"/>
                  <p:nvPr/>
                </p:nvSpPr>
                <p:spPr>
                  <a:xfrm>
                    <a:off x="3454171" y="1790246"/>
                    <a:ext cx="2458529" cy="37484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lvl="0" eaLnBrk="0" fontAlgn="base" latinLnBrk="0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ko-KR" altLang="ko-KR" dirty="0">
                      <a:solidFill>
                        <a:schemeClr val="bg1"/>
                      </a:solidFill>
                      <a:latin typeface="GyeonggiTitle Bold" panose="02020803020101020101" pitchFamily="18" charset="-127"/>
                      <a:ea typeface="GyeonggiTitle Bold" panose="02020803020101020101" pitchFamily="18" charset="-127"/>
                    </a:endParaRPr>
                  </a:p>
                </p:txBody>
              </p:sp>
              <p:sp>
                <p:nvSpPr>
                  <p:cNvPr id="82" name="TextBox 81">
                    <a:extLst>
                      <a:ext uri="{FF2B5EF4-FFF2-40B4-BE49-F238E27FC236}">
                        <a16:creationId xmlns:a16="http://schemas.microsoft.com/office/drawing/2014/main" id="{4CF46D7F-A60C-39FB-C758-5B9A3E762C41}"/>
                      </a:ext>
                    </a:extLst>
                  </p:cNvPr>
                  <p:cNvSpPr txBox="1"/>
                  <p:nvPr/>
                </p:nvSpPr>
                <p:spPr>
                  <a:xfrm>
                    <a:off x="3007726" y="3314801"/>
                    <a:ext cx="3191771" cy="32798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lvl="0" eaLnBrk="0" fontAlgn="base" latinLnBrk="0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en-US" altLang="ko-KR" sz="1500" dirty="0">
                      <a:latin typeface="GyeonggiTitleOTF Light" panose="02020403020101020101" pitchFamily="18" charset="-127"/>
                      <a:ea typeface="GyeonggiTitleOTF Light" panose="02020403020101020101" pitchFamily="18" charset="-127"/>
                    </a:endParaRPr>
                  </a:p>
                </p:txBody>
              </p:sp>
            </p:grpSp>
          </p:grpSp>
        </p:grp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B323C163-CE2B-605E-AB82-59D9AA510E5B}"/>
                </a:ext>
              </a:extLst>
            </p:cNvPr>
            <p:cNvSpPr txBox="1"/>
            <p:nvPr/>
          </p:nvSpPr>
          <p:spPr>
            <a:xfrm>
              <a:off x="1041983" y="4461075"/>
              <a:ext cx="3155398" cy="178950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ko-KR" altLang="en-US" sz="1400" b="1" dirty="0">
                  <a:latin typeface="GYEONGGITITLEOTF LIGHT" panose="02020403020101020101" pitchFamily="18" charset="-127"/>
                  <a:ea typeface="GYEONGGITITLEOTF LIGHT" panose="02020403020101020101" pitchFamily="18" charset="-127"/>
                </a:rPr>
                <a:t>패시브 </a:t>
              </a:r>
              <a:r>
                <a:rPr lang="en-US" altLang="ko-KR" sz="1400" b="1" dirty="0">
                  <a:latin typeface="GYEONGGITITLEOTF LIGHT" panose="02020403020101020101" pitchFamily="18" charset="-127"/>
                  <a:ea typeface="GYEONGGITITLEOTF LIGHT" panose="02020403020101020101" pitchFamily="18" charset="-127"/>
                </a:rPr>
                <a:t>: </a:t>
              </a:r>
              <a:r>
                <a:rPr lang="ko-KR" altLang="en-US" sz="1400" dirty="0">
                  <a:latin typeface="GyeonggiTitleOTF Light" panose="02020403020101020101" pitchFamily="18" charset="-127"/>
                  <a:ea typeface="GyeonggiTitleOTF Light" panose="02020403020101020101" pitchFamily="18" charset="-127"/>
                </a:rPr>
                <a:t>효과저항 감소</a:t>
              </a:r>
              <a:r>
                <a:rPr lang="en-US" altLang="ko-KR" sz="1400" dirty="0">
                  <a:latin typeface="GyeonggiTitleOTF Light" panose="02020403020101020101" pitchFamily="18" charset="-127"/>
                  <a:ea typeface="GyeonggiTitleOTF Light" panose="02020403020101020101" pitchFamily="18" charset="-127"/>
                </a:rPr>
                <a:t>[28%]</a:t>
              </a:r>
            </a:p>
            <a:p>
              <a:r>
                <a:rPr lang="ko-KR" altLang="en-US" sz="1400" b="1" dirty="0">
                  <a:latin typeface="GYEONGGITITLEOTF LIGHT" panose="02020403020101020101" pitchFamily="18" charset="-127"/>
                  <a:ea typeface="GYEONGGITITLEOTF LIGHT" panose="02020403020101020101" pitchFamily="18" charset="-127"/>
                </a:rPr>
                <a:t>스킬</a:t>
              </a:r>
              <a:r>
                <a:rPr lang="en-US" altLang="ko-KR" sz="1400" b="1" dirty="0">
                  <a:latin typeface="GYEONGGITITLEOTF LIGHT" panose="02020403020101020101" pitchFamily="18" charset="-127"/>
                  <a:ea typeface="GYEONGGITITLEOTF LIGHT" panose="02020403020101020101" pitchFamily="18" charset="-127"/>
                </a:rPr>
                <a:t>(</a:t>
              </a:r>
              <a:r>
                <a:rPr lang="ko-KR" altLang="en-US" sz="1400" b="1" dirty="0">
                  <a:latin typeface="GYEONGGITITLEOTF LIGHT" panose="02020403020101020101" pitchFamily="18" charset="-127"/>
                  <a:ea typeface="GYEONGGITITLEOTF LIGHT" panose="02020403020101020101" pitchFamily="18" charset="-127"/>
                </a:rPr>
                <a:t>금지된 실험</a:t>
              </a:r>
              <a:r>
                <a:rPr lang="en-US" altLang="ko-KR" sz="1400" b="1" dirty="0">
                  <a:latin typeface="GYEONGGITITLEOTF LIGHT" panose="02020403020101020101" pitchFamily="18" charset="-127"/>
                  <a:ea typeface="GYEONGGITITLEOTF LIGHT" panose="02020403020101020101" pitchFamily="18" charset="-127"/>
                </a:rPr>
                <a:t>): </a:t>
              </a:r>
              <a:r>
                <a:rPr lang="ko-KR" altLang="en-US" sz="1400" dirty="0" err="1">
                  <a:latin typeface="GyeonggiTitleOTF Light" panose="02020403020101020101" pitchFamily="18" charset="-127"/>
                  <a:ea typeface="GyeonggiTitleOTF Light" panose="02020403020101020101" pitchFamily="18" charset="-127"/>
                </a:rPr>
                <a:t>마력역류</a:t>
              </a:r>
              <a:r>
                <a:rPr lang="en-US" altLang="ko-KR" sz="1400" dirty="0">
                  <a:latin typeface="GyeonggiTitleOTF Light" panose="02020403020101020101" pitchFamily="18" charset="-127"/>
                  <a:ea typeface="GyeonggiTitleOTF Light" panose="02020403020101020101" pitchFamily="18" charset="-127"/>
                </a:rPr>
                <a:t>[45%]</a:t>
              </a:r>
            </a:p>
            <a:p>
              <a:endParaRPr lang="en-US" altLang="ko-KR" sz="1400" b="1" dirty="0">
                <a:latin typeface="GYEONGGITITLEOTF LIGHT" panose="02020403020101020101" pitchFamily="18" charset="-127"/>
                <a:ea typeface="GYEONGGITITLEOTF LIGHT" panose="02020403020101020101" pitchFamily="18" charset="-127"/>
              </a:endParaRPr>
            </a:p>
            <a:p>
              <a:r>
                <a:rPr lang="ko-KR" altLang="en-US" sz="1200" b="1" dirty="0" err="1">
                  <a:latin typeface="GYEONGGITITLEOTF LIGHT" panose="02020403020101020101" pitchFamily="18" charset="-127"/>
                  <a:ea typeface="GYEONGGITITLEOTF LIGHT" panose="02020403020101020101" pitchFamily="18" charset="-127"/>
                </a:rPr>
                <a:t>마력역류</a:t>
              </a:r>
              <a:r>
                <a:rPr lang="ko-KR" altLang="en-US" sz="1200" dirty="0">
                  <a:latin typeface="GyeonggiTitleOTF Light" panose="02020403020101020101" pitchFamily="18" charset="-127"/>
                  <a:ea typeface="GyeonggiTitleOTF Light" panose="02020403020101020101" pitchFamily="18" charset="-127"/>
                </a:rPr>
                <a:t> </a:t>
              </a:r>
              <a:r>
                <a:rPr lang="en-US" altLang="ko-KR" sz="1200" dirty="0">
                  <a:latin typeface="GyeonggiTitleOTF Light" panose="02020403020101020101" pitchFamily="18" charset="-127"/>
                  <a:ea typeface="GyeonggiTitleOTF Light" panose="02020403020101020101" pitchFamily="18" charset="-127"/>
                </a:rPr>
                <a:t>: </a:t>
              </a:r>
              <a:r>
                <a:rPr lang="ko-KR" altLang="en-US" sz="1200" dirty="0">
                  <a:latin typeface="GyeonggiTitleOTF Light" panose="02020403020101020101" pitchFamily="18" charset="-127"/>
                  <a:ea typeface="GyeonggiTitleOTF Light" panose="02020403020101020101" pitchFamily="18" charset="-127"/>
                </a:rPr>
                <a:t>지속시간 동안 대상 최대 생명력의 </a:t>
              </a:r>
              <a:r>
                <a:rPr lang="en-US" altLang="ko-KR" sz="1200" dirty="0">
                  <a:latin typeface="GyeonggiTitleOTF Light" panose="02020403020101020101" pitchFamily="18" charset="-127"/>
                  <a:ea typeface="GyeonggiTitleOTF Light" panose="02020403020101020101" pitchFamily="18" charset="-127"/>
                </a:rPr>
                <a:t>12%</a:t>
              </a:r>
              <a:r>
                <a:rPr lang="ko-KR" altLang="en-US" sz="1200" dirty="0">
                  <a:latin typeface="GyeonggiTitleOTF Light" panose="02020403020101020101" pitchFamily="18" charset="-127"/>
                  <a:ea typeface="GyeonggiTitleOTF Light" panose="02020403020101020101" pitchFamily="18" charset="-127"/>
                </a:rPr>
                <a:t>만큼 피해</a:t>
              </a:r>
              <a:r>
                <a:rPr lang="en-US" altLang="ko-KR" sz="1200" dirty="0">
                  <a:latin typeface="GyeonggiTitleOTF Light" panose="02020403020101020101" pitchFamily="18" charset="-127"/>
                  <a:ea typeface="GyeonggiTitleOTF Light" panose="02020403020101020101" pitchFamily="18" charset="-127"/>
                </a:rPr>
                <a:t>,</a:t>
              </a:r>
              <a:r>
                <a:rPr lang="ko-KR" altLang="en-US" sz="1200" dirty="0">
                  <a:latin typeface="GyeonggiTitleOTF Light" panose="02020403020101020101" pitchFamily="18" charset="-127"/>
                  <a:ea typeface="GyeonggiTitleOTF Light" panose="02020403020101020101" pitchFamily="18" charset="-127"/>
                </a:rPr>
                <a:t>캐릭터 사망 시 같은 팀 내 </a:t>
              </a:r>
              <a:r>
                <a:rPr lang="en-US" altLang="ko-KR" sz="1200" dirty="0">
                  <a:latin typeface="GyeonggiTitleOTF Light" panose="02020403020101020101" pitchFamily="18" charset="-127"/>
                  <a:ea typeface="GyeonggiTitleOTF Light" panose="02020403020101020101" pitchFamily="18" charset="-127"/>
                </a:rPr>
                <a:t>3</a:t>
              </a:r>
              <a:r>
                <a:rPr lang="ko-KR" altLang="en-US" sz="1200" dirty="0">
                  <a:latin typeface="GyeonggiTitleOTF Light" panose="02020403020101020101" pitchFamily="18" charset="-127"/>
                  <a:ea typeface="GyeonggiTitleOTF Light" panose="02020403020101020101" pitchFamily="18" charset="-127"/>
                </a:rPr>
                <a:t>명에게 전이되며 </a:t>
              </a:r>
              <a:r>
                <a:rPr lang="en-US" altLang="ko-KR" sz="1200" dirty="0">
                  <a:latin typeface="GyeonggiTitleOTF Light" panose="02020403020101020101" pitchFamily="18" charset="-127"/>
                  <a:ea typeface="GyeonggiTitleOTF Light" panose="02020403020101020101" pitchFamily="18" charset="-127"/>
                </a:rPr>
                <a:t>7</a:t>
              </a:r>
              <a:r>
                <a:rPr lang="ko-KR" altLang="en-US" sz="1200" dirty="0">
                  <a:latin typeface="GyeonggiTitleOTF Light" panose="02020403020101020101" pitchFamily="18" charset="-127"/>
                  <a:ea typeface="GyeonggiTitleOTF Light" panose="02020403020101020101" pitchFamily="18" charset="-127"/>
                </a:rPr>
                <a:t>개까지 적용</a:t>
              </a:r>
              <a:endParaRPr lang="en-US" altLang="ko-KR" sz="1200" dirty="0">
                <a:latin typeface="GyeonggiTitleOTF Light" panose="02020403020101020101" pitchFamily="18" charset="-127"/>
                <a:ea typeface="GyeonggiTitleOTF Light" panose="02020403020101020101" pitchFamily="18" charset="-127"/>
              </a:endParaRPr>
            </a:p>
          </p:txBody>
        </p: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6F818CDA-7E30-5B69-8F82-F1C3ABE12F8A}"/>
                </a:ext>
              </a:extLst>
            </p:cNvPr>
            <p:cNvSpPr txBox="1"/>
            <p:nvPr/>
          </p:nvSpPr>
          <p:spPr>
            <a:xfrm>
              <a:off x="4562190" y="4445592"/>
              <a:ext cx="3134978" cy="1917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ko-KR" altLang="en-US" sz="1400" dirty="0">
                  <a:latin typeface="GyeonggiTitleOTF Light" panose="02020403020101020101" pitchFamily="18" charset="-127"/>
                  <a:ea typeface="GyeonggiTitleOTF Light" panose="02020403020101020101" pitchFamily="18" charset="-127"/>
                </a:rPr>
                <a:t>강력한 마법 피해와 </a:t>
              </a:r>
              <a:r>
                <a:rPr lang="en-US" altLang="ko-KR" sz="1400" dirty="0">
                  <a:latin typeface="GyeonggiTitleOTF Light" panose="02020403020101020101" pitchFamily="18" charset="-127"/>
                  <a:ea typeface="GyeonggiTitleOTF Light" panose="02020403020101020101" pitchFamily="18" charset="-127"/>
                </a:rPr>
                <a:t>'</a:t>
              </a:r>
              <a:r>
                <a:rPr lang="ko-KR" altLang="en-US" sz="1400" dirty="0">
                  <a:latin typeface="GyeonggiTitleOTF Light" panose="02020403020101020101" pitchFamily="18" charset="-127"/>
                  <a:ea typeface="GyeonggiTitleOTF Light" panose="02020403020101020101" pitchFamily="18" charset="-127"/>
                </a:rPr>
                <a:t>영멸</a:t>
              </a:r>
              <a:r>
                <a:rPr lang="en-US" altLang="ko-KR" sz="1400" dirty="0">
                  <a:latin typeface="GyeonggiTitleOTF Light" panose="02020403020101020101" pitchFamily="18" charset="-127"/>
                  <a:ea typeface="GyeonggiTitleOTF Light" panose="02020403020101020101" pitchFamily="18" charset="-127"/>
                </a:rPr>
                <a:t>' </a:t>
              </a:r>
              <a:r>
                <a:rPr lang="ko-KR" altLang="en-US" sz="1400" dirty="0" err="1">
                  <a:latin typeface="GyeonggiTitleOTF Light" panose="02020403020101020101" pitchFamily="18" charset="-127"/>
                  <a:ea typeface="GyeonggiTitleOTF Light" panose="02020403020101020101" pitchFamily="18" charset="-127"/>
                </a:rPr>
                <a:t>디버프</a:t>
              </a:r>
              <a:r>
                <a:rPr lang="ko-KR" altLang="en-US" sz="1400" dirty="0">
                  <a:latin typeface="GyeonggiTitleOTF Light" panose="02020403020101020101" pitchFamily="18" charset="-127"/>
                  <a:ea typeface="GyeonggiTitleOTF Light" panose="02020403020101020101" pitchFamily="18" charset="-127"/>
                </a:rPr>
                <a:t> 연계로 상대를 확실하게 제거</a:t>
              </a:r>
              <a:r>
                <a:rPr lang="en-US" altLang="ko-KR" sz="1400" dirty="0">
                  <a:latin typeface="GyeonggiTitleOTF Light" panose="02020403020101020101" pitchFamily="18" charset="-127"/>
                  <a:ea typeface="GyeonggiTitleOTF Light" panose="02020403020101020101" pitchFamily="18" charset="-127"/>
                </a:rPr>
                <a:t>, </a:t>
              </a:r>
              <a:r>
                <a:rPr lang="ko-KR" altLang="en-US" sz="1400" dirty="0">
                  <a:latin typeface="GyeonggiTitleOTF Light" panose="02020403020101020101" pitchFamily="18" charset="-127"/>
                  <a:ea typeface="GyeonggiTitleOTF Light" panose="02020403020101020101" pitchFamily="18" charset="-127"/>
                </a:rPr>
                <a:t>상대적으로 부족한 내구도가 단점</a:t>
              </a:r>
              <a:r>
                <a:rPr lang="en-US" altLang="ko-KR" sz="1400" dirty="0">
                  <a:latin typeface="GyeonggiTitleOTF Light" panose="02020403020101020101" pitchFamily="18" charset="-127"/>
                  <a:ea typeface="GyeonggiTitleOTF Light" panose="02020403020101020101" pitchFamily="18" charset="-127"/>
                </a:rPr>
                <a:t>. </a:t>
              </a:r>
            </a:p>
            <a:p>
              <a:endParaRPr lang="en-US" altLang="ko-KR" sz="1400" dirty="0">
                <a:latin typeface="GyeonggiTitleOTF Light" panose="02020403020101020101" pitchFamily="18" charset="-127"/>
                <a:ea typeface="GyeonggiTitleOTF Light" panose="02020403020101020101" pitchFamily="18" charset="-127"/>
              </a:endParaRPr>
            </a:p>
            <a:p>
              <a:r>
                <a:rPr lang="en-US" altLang="ko-KR" sz="1400" dirty="0">
                  <a:latin typeface="GyeonggiTitleOTF Light" panose="02020403020101020101" pitchFamily="18" charset="-127"/>
                  <a:ea typeface="GyeonggiTitleOTF Light" panose="02020403020101020101" pitchFamily="18" charset="-127"/>
                </a:rPr>
                <a:t> =&gt;</a:t>
              </a:r>
              <a:r>
                <a:rPr lang="ko-KR" altLang="en-US" sz="1400" dirty="0">
                  <a:latin typeface="GyeonggiTitleOTF Light" panose="02020403020101020101" pitchFamily="18" charset="-127"/>
                  <a:ea typeface="GyeonggiTitleOTF Light" panose="02020403020101020101" pitchFamily="18" charset="-127"/>
                </a:rPr>
                <a:t>이들의 단점을 </a:t>
              </a:r>
              <a:r>
                <a:rPr lang="ko-KR" altLang="en-US" sz="1400" b="1" dirty="0" err="1">
                  <a:latin typeface="GYEONGGITITLEOTF LIGHT" panose="02020403020101020101" pitchFamily="18" charset="-127"/>
                  <a:ea typeface="GYEONGGITITLEOTF LIGHT" panose="02020403020101020101" pitchFamily="18" charset="-127"/>
                </a:rPr>
                <a:t>플라튼</a:t>
              </a:r>
              <a:r>
                <a:rPr lang="ko-KR" altLang="en-US" sz="1400" dirty="0" err="1">
                  <a:latin typeface="GyeonggiTitleOTF Light" panose="02020403020101020101" pitchFamily="18" charset="-127"/>
                  <a:ea typeface="GyeonggiTitleOTF Light" panose="02020403020101020101" pitchFamily="18" charset="-127"/>
                </a:rPr>
                <a:t>의</a:t>
              </a:r>
              <a:r>
                <a:rPr lang="ko-KR" altLang="en-US" sz="1400" dirty="0">
                  <a:latin typeface="GyeonggiTitleOTF Light" panose="02020403020101020101" pitchFamily="18" charset="-127"/>
                  <a:ea typeface="GyeonggiTitleOTF Light" panose="02020403020101020101" pitchFamily="18" charset="-127"/>
                </a:rPr>
                <a:t> 압도적인 </a:t>
              </a:r>
              <a:r>
                <a:rPr lang="ko-KR" altLang="en-US" sz="1400" dirty="0" err="1">
                  <a:latin typeface="GyeonggiTitleOTF Light" panose="02020403020101020101" pitchFamily="18" charset="-127"/>
                  <a:ea typeface="GyeonggiTitleOTF Light" panose="02020403020101020101" pitchFamily="18" charset="-127"/>
                </a:rPr>
                <a:t>생존력과</a:t>
              </a:r>
              <a:r>
                <a:rPr lang="ko-KR" altLang="en-US" sz="1400" dirty="0">
                  <a:latin typeface="GyeonggiTitleOTF Light" panose="02020403020101020101" pitchFamily="18" charset="-127"/>
                  <a:ea typeface="GyeonggiTitleOTF Light" panose="02020403020101020101" pitchFamily="18" charset="-127"/>
                </a:rPr>
                <a:t> 카운터 메커니즘으로 보완</a:t>
              </a:r>
              <a:endParaRPr lang="en-US" altLang="ko-KR" sz="1400" dirty="0">
                <a:latin typeface="GyeonggiTitleOTF Light" panose="02020403020101020101" pitchFamily="18" charset="-127"/>
                <a:ea typeface="GyeonggiTitleOTF Light" panose="02020403020101020101" pitchFamily="18" charset="-127"/>
              </a:endParaRPr>
            </a:p>
          </p:txBody>
        </p: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5B018AF3-C6C1-9471-BBAC-EB0CEDA2BDBA}"/>
                </a:ext>
              </a:extLst>
            </p:cNvPr>
            <p:cNvSpPr txBox="1"/>
            <p:nvPr/>
          </p:nvSpPr>
          <p:spPr>
            <a:xfrm>
              <a:off x="8076088" y="4445041"/>
              <a:ext cx="3115386" cy="140604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ko-KR" altLang="en-US" sz="1400" b="1" dirty="0">
                  <a:latin typeface="GyeonggiTitleOTF Light" panose="02020403020101020101" pitchFamily="18" charset="-127"/>
                  <a:ea typeface="GyeonggiTitleOTF Light" panose="02020403020101020101" pitchFamily="18" charset="-127"/>
                </a:rPr>
                <a:t>스킬</a:t>
              </a:r>
              <a:r>
                <a:rPr lang="en-US" altLang="ko-KR" sz="1400" b="1" dirty="0">
                  <a:latin typeface="GyeonggiTitleOTF Light" panose="02020403020101020101" pitchFamily="18" charset="-127"/>
                  <a:ea typeface="GyeonggiTitleOTF Light" panose="02020403020101020101" pitchFamily="18" charset="-127"/>
                </a:rPr>
                <a:t>(</a:t>
              </a:r>
              <a:r>
                <a:rPr lang="ko-KR" altLang="en-US" sz="1400" b="1" dirty="0">
                  <a:latin typeface="GyeonggiTitleOTF Light" panose="02020403020101020101" pitchFamily="18" charset="-127"/>
                  <a:ea typeface="GyeonggiTitleOTF Light" panose="02020403020101020101" pitchFamily="18" charset="-127"/>
                </a:rPr>
                <a:t>최고 판결</a:t>
              </a:r>
              <a:r>
                <a:rPr lang="en-US" altLang="ko-KR" sz="1400" b="1" dirty="0">
                  <a:latin typeface="GyeonggiTitleOTF Light" panose="02020403020101020101" pitchFamily="18" charset="-127"/>
                  <a:ea typeface="GyeonggiTitleOTF Light" panose="02020403020101020101" pitchFamily="18" charset="-127"/>
                </a:rPr>
                <a:t>) : </a:t>
              </a:r>
              <a:r>
                <a:rPr lang="ko-KR" altLang="en-US" sz="1400" dirty="0">
                  <a:latin typeface="GyeonggiTitleOTF Light" panose="02020403020101020101" pitchFamily="18" charset="-127"/>
                  <a:ea typeface="GyeonggiTitleOTF Light" panose="02020403020101020101" pitchFamily="18" charset="-127"/>
                </a:rPr>
                <a:t>영멸 </a:t>
              </a:r>
              <a:r>
                <a:rPr lang="en-US" altLang="ko-KR" sz="1400" dirty="0">
                  <a:latin typeface="GyeonggiTitleOTF Light" panose="02020403020101020101" pitchFamily="18" charset="-127"/>
                  <a:ea typeface="GyeonggiTitleOTF Light" panose="02020403020101020101" pitchFamily="18" charset="-127"/>
                </a:rPr>
                <a:t>[70%]</a:t>
              </a:r>
              <a:r>
                <a:rPr lang="ko-KR" altLang="en-US" dirty="0"/>
                <a:t> </a:t>
              </a:r>
              <a:endParaRPr lang="en-US" altLang="ko-KR" dirty="0"/>
            </a:p>
            <a:p>
              <a:endParaRPr lang="en-US" altLang="ko-KR" dirty="0"/>
            </a:p>
            <a:p>
              <a:r>
                <a:rPr lang="ko-KR" altLang="en-US" sz="1200" b="1" dirty="0">
                  <a:latin typeface="GyeonggiTitleOTF Light" panose="02020403020101020101" pitchFamily="18" charset="-127"/>
                  <a:ea typeface="GyeonggiTitleOTF Light" panose="02020403020101020101" pitchFamily="18" charset="-127"/>
                </a:rPr>
                <a:t>영멸</a:t>
              </a:r>
              <a:r>
                <a:rPr lang="en-US" altLang="ko-KR" sz="1200" dirty="0">
                  <a:latin typeface="GyeonggiTitleOTF Light" panose="02020403020101020101" pitchFamily="18" charset="-127"/>
                  <a:ea typeface="GyeonggiTitleOTF Light" panose="02020403020101020101" pitchFamily="18" charset="-127"/>
                </a:rPr>
                <a:t>: </a:t>
              </a:r>
              <a:r>
                <a:rPr lang="ko-KR" altLang="en-US" sz="1200" dirty="0">
                  <a:latin typeface="GyeonggiTitleOTF Light" panose="02020403020101020101" pitchFamily="18" charset="-127"/>
                  <a:ea typeface="GyeonggiTitleOTF Light" panose="02020403020101020101" pitchFamily="18" charset="-127"/>
                </a:rPr>
                <a:t>영멸을 보유한 상태에서 사망 시 부활</a:t>
              </a:r>
              <a:r>
                <a:rPr lang="en-US" altLang="ko-KR" sz="1200" dirty="0">
                  <a:latin typeface="GyeonggiTitleOTF Light" panose="02020403020101020101" pitchFamily="18" charset="-127"/>
                  <a:ea typeface="GyeonggiTitleOTF Light" panose="02020403020101020101" pitchFamily="18" charset="-127"/>
                </a:rPr>
                <a:t>, </a:t>
              </a:r>
              <a:r>
                <a:rPr lang="ko-KR" altLang="en-US" sz="1200" dirty="0">
                  <a:latin typeface="GyeonggiTitleOTF Light" panose="02020403020101020101" pitchFamily="18" charset="-127"/>
                  <a:ea typeface="GyeonggiTitleOTF Light" panose="02020403020101020101" pitchFamily="18" charset="-127"/>
                </a:rPr>
                <a:t>불사 효과가 발동하지 않음</a:t>
              </a:r>
              <a:r>
                <a:rPr lang="en-US" altLang="ko-KR" sz="1200" dirty="0">
                  <a:latin typeface="GyeonggiTitleOTF Light" panose="02020403020101020101" pitchFamily="18" charset="-127"/>
                  <a:ea typeface="GyeonggiTitleOTF Light" panose="02020403020101020101" pitchFamily="18" charset="-127"/>
                </a:rPr>
                <a:t>.</a:t>
              </a:r>
              <a:endParaRPr lang="ko-KR" altLang="en-US" sz="1200" dirty="0">
                <a:latin typeface="GyeonggiTitleOTF Light" panose="02020403020101020101" pitchFamily="18" charset="-127"/>
                <a:ea typeface="GyeonggiTitleOTF Light" panose="02020403020101020101" pitchFamily="18" charset="-127"/>
              </a:endParaRPr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E0AD1902-A4EE-0E49-123C-C2C2710C7311}"/>
              </a:ext>
            </a:extLst>
          </p:cNvPr>
          <p:cNvSpPr txBox="1"/>
          <p:nvPr/>
        </p:nvSpPr>
        <p:spPr>
          <a:xfrm>
            <a:off x="5848109" y="6412606"/>
            <a:ext cx="55328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ko-KR" sz="1000" dirty="0">
                <a:latin typeface="GyeonggiTitle Bold" panose="02020803020101020101" pitchFamily="18" charset="-127"/>
                <a:ea typeface="GyeonggiTitle Bold" panose="02020803020101020101" pitchFamily="18" charset="-127"/>
              </a:rPr>
              <a:t>- 10 - </a:t>
            </a:r>
            <a:endParaRPr kumimoji="1" lang="ko-KR" altLang="en-US" sz="1000" dirty="0">
              <a:latin typeface="GyeonggiTitle Bold" panose="02020803020101020101" pitchFamily="18" charset="-127"/>
              <a:ea typeface="GyeonggiTitle Bold" panose="02020803020101020101" pitchFamily="18" charset="-127"/>
            </a:endParaRPr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A05E59C8-D9C9-885B-D51B-3A9DBAF1B557}"/>
              </a:ext>
            </a:extLst>
          </p:cNvPr>
          <p:cNvGrpSpPr/>
          <p:nvPr/>
        </p:nvGrpSpPr>
        <p:grpSpPr>
          <a:xfrm>
            <a:off x="3665822" y="2531349"/>
            <a:ext cx="1326108" cy="1948736"/>
            <a:chOff x="2559337" y="2632432"/>
            <a:chExt cx="1326108" cy="1948736"/>
          </a:xfrm>
          <a:effectLst>
            <a:outerShdw blurRad="50800" dist="63500" dir="2700000" algn="ctr" rotWithShape="0">
              <a:srgbClr val="000000">
                <a:alpha val="57007"/>
              </a:srgbClr>
            </a:outerShdw>
          </a:effectLst>
        </p:grpSpPr>
        <p:grpSp>
          <p:nvGrpSpPr>
            <p:cNvPr id="15" name="그룹 14">
              <a:extLst>
                <a:ext uri="{FF2B5EF4-FFF2-40B4-BE49-F238E27FC236}">
                  <a16:creationId xmlns:a16="http://schemas.microsoft.com/office/drawing/2014/main" id="{BEA0FAE6-1932-F76A-69E9-81FFA8ACB900}"/>
                </a:ext>
              </a:extLst>
            </p:cNvPr>
            <p:cNvGrpSpPr/>
            <p:nvPr/>
          </p:nvGrpSpPr>
          <p:grpSpPr>
            <a:xfrm>
              <a:off x="2559337" y="2632432"/>
              <a:ext cx="1326108" cy="1948736"/>
              <a:chOff x="948249" y="2561365"/>
              <a:chExt cx="1326108" cy="1948736"/>
            </a:xfrm>
          </p:grpSpPr>
          <p:grpSp>
            <p:nvGrpSpPr>
              <p:cNvPr id="25" name="그룹 24">
                <a:extLst>
                  <a:ext uri="{FF2B5EF4-FFF2-40B4-BE49-F238E27FC236}">
                    <a16:creationId xmlns:a16="http://schemas.microsoft.com/office/drawing/2014/main" id="{71BEF04D-B6F6-BC0C-7486-C902BE41DCD3}"/>
                  </a:ext>
                </a:extLst>
              </p:cNvPr>
              <p:cNvGrpSpPr/>
              <p:nvPr/>
            </p:nvGrpSpPr>
            <p:grpSpPr>
              <a:xfrm>
                <a:off x="962778" y="2561365"/>
                <a:ext cx="1311579" cy="1942545"/>
                <a:chOff x="940842" y="2561365"/>
                <a:chExt cx="1311579" cy="1942545"/>
              </a:xfrm>
            </p:grpSpPr>
            <p:sp>
              <p:nvSpPr>
                <p:cNvPr id="37" name="대각선 방향의 모서리가 둥근 사각형 36">
                  <a:extLst>
                    <a:ext uri="{FF2B5EF4-FFF2-40B4-BE49-F238E27FC236}">
                      <a16:creationId xmlns:a16="http://schemas.microsoft.com/office/drawing/2014/main" id="{F49BEE20-F9A6-7051-9F19-A2120CE4A635}"/>
                    </a:ext>
                  </a:extLst>
                </p:cNvPr>
                <p:cNvSpPr/>
                <p:nvPr/>
              </p:nvSpPr>
              <p:spPr>
                <a:xfrm>
                  <a:off x="940842" y="2561365"/>
                  <a:ext cx="1277965" cy="1897408"/>
                </a:xfrm>
                <a:prstGeom prst="round2DiagRect">
                  <a:avLst/>
                </a:prstGeom>
                <a:solidFill>
                  <a:srgbClr val="DE9B35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ko-KR" altLang="en-US" dirty="0">
                    <a:latin typeface="GyeonggiTitle Bold" panose="02020803020101020101" pitchFamily="18" charset="-127"/>
                    <a:ea typeface="GyeonggiTitle Bold" panose="02020803020101020101" pitchFamily="18" charset="-127"/>
                  </a:endParaRPr>
                </a:p>
              </p:txBody>
            </p:sp>
            <p:sp>
              <p:nvSpPr>
                <p:cNvPr id="38" name="대각선 방향의 모서리가 둥근 사각형 37">
                  <a:extLst>
                    <a:ext uri="{FF2B5EF4-FFF2-40B4-BE49-F238E27FC236}">
                      <a16:creationId xmlns:a16="http://schemas.microsoft.com/office/drawing/2014/main" id="{7880856E-3A6F-47EB-B6C2-A9531FFE4DCB}"/>
                    </a:ext>
                  </a:extLst>
                </p:cNvPr>
                <p:cNvSpPr/>
                <p:nvPr/>
              </p:nvSpPr>
              <p:spPr>
                <a:xfrm>
                  <a:off x="940843" y="4096962"/>
                  <a:ext cx="1277965" cy="406948"/>
                </a:xfrm>
                <a:prstGeom prst="round2DiagRect">
                  <a:avLst>
                    <a:gd name="adj1" fmla="val 50000"/>
                    <a:gd name="adj2" fmla="val 0"/>
                  </a:avLst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ko-KR" altLang="en-US" dirty="0">
                    <a:latin typeface="GyeonggiTitle Bold" panose="02020803020101020101" pitchFamily="18" charset="-127"/>
                    <a:ea typeface="GyeonggiTitle Bold" panose="02020803020101020101" pitchFamily="18" charset="-127"/>
                  </a:endParaRPr>
                </a:p>
              </p:txBody>
            </p:sp>
            <p:sp>
              <p:nvSpPr>
                <p:cNvPr id="39" name="대각선 방향의 모서리가 둥근 사각형 38">
                  <a:extLst>
                    <a:ext uri="{FF2B5EF4-FFF2-40B4-BE49-F238E27FC236}">
                      <a16:creationId xmlns:a16="http://schemas.microsoft.com/office/drawing/2014/main" id="{5D6BCEA7-4F9F-3F31-37D5-32511E3F0EB6}"/>
                    </a:ext>
                  </a:extLst>
                </p:cNvPr>
                <p:cNvSpPr/>
                <p:nvPr/>
              </p:nvSpPr>
              <p:spPr>
                <a:xfrm>
                  <a:off x="940843" y="4096961"/>
                  <a:ext cx="503781" cy="398406"/>
                </a:xfrm>
                <a:prstGeom prst="round2DiagRect">
                  <a:avLst>
                    <a:gd name="adj1" fmla="val 0"/>
                    <a:gd name="adj2" fmla="val 0"/>
                  </a:avLst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ko-KR" altLang="en-US" dirty="0">
                    <a:latin typeface="GyeonggiTitle Bold" panose="02020803020101020101" pitchFamily="18" charset="-127"/>
                    <a:ea typeface="GyeonggiTitle Bold" panose="02020803020101020101" pitchFamily="18" charset="-127"/>
                  </a:endParaRPr>
                </a:p>
              </p:txBody>
            </p:sp>
            <p:pic>
              <p:nvPicPr>
                <p:cNvPr id="40" name="그림 39" descr="스크린샷, 예술, 마룬, 어둠이(가) 표시된 사진&#10;&#10;AI 생성 콘텐츠는 정확하지 않을 수 있습니다.">
                  <a:extLst>
                    <a:ext uri="{FF2B5EF4-FFF2-40B4-BE49-F238E27FC236}">
                      <a16:creationId xmlns:a16="http://schemas.microsoft.com/office/drawing/2014/main" id="{254F9773-A2EA-AE81-3A62-419ECF3B825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522155" y="2561365"/>
                  <a:ext cx="730266" cy="755187"/>
                </a:xfrm>
                <a:prstGeom prst="rect">
                  <a:avLst/>
                </a:prstGeom>
              </p:spPr>
            </p:pic>
            <p:sp>
              <p:nvSpPr>
                <p:cNvPr id="41" name="TextBox 40">
                  <a:extLst>
                    <a:ext uri="{FF2B5EF4-FFF2-40B4-BE49-F238E27FC236}">
                      <a16:creationId xmlns:a16="http://schemas.microsoft.com/office/drawing/2014/main" id="{65D69676-41F6-713F-4B51-128047F3187F}"/>
                    </a:ext>
                  </a:extLst>
                </p:cNvPr>
                <p:cNvSpPr txBox="1"/>
                <p:nvPr/>
              </p:nvSpPr>
              <p:spPr>
                <a:xfrm>
                  <a:off x="1149234" y="4127392"/>
                  <a:ext cx="811358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kumimoji="1" lang="ko-KR" altLang="en-US" sz="1400" dirty="0">
                      <a:solidFill>
                        <a:schemeClr val="bg1"/>
                      </a:solidFill>
                      <a:latin typeface="GyeonggiTitle Bold" panose="02020803020101020101" pitchFamily="18" charset="-127"/>
                      <a:ea typeface="GyeonggiTitle Bold" panose="02020803020101020101" pitchFamily="18" charset="-127"/>
                    </a:rPr>
                    <a:t>멜키르</a:t>
                  </a:r>
                  <a:endParaRPr kumimoji="1" lang="en-US" altLang="ko-KR" sz="1400" dirty="0">
                    <a:solidFill>
                      <a:schemeClr val="bg1"/>
                    </a:solidFill>
                    <a:latin typeface="GyeonggiTitle Bold" panose="02020803020101020101" pitchFamily="18" charset="-127"/>
                    <a:ea typeface="GyeonggiTitle Bold" panose="02020803020101020101" pitchFamily="18" charset="-127"/>
                  </a:endParaRPr>
                </a:p>
              </p:txBody>
            </p:sp>
          </p:grpSp>
          <p:sp>
            <p:nvSpPr>
              <p:cNvPr id="26" name="대각선 방향의 모서리가 둥근 사각형 25">
                <a:extLst>
                  <a:ext uri="{FF2B5EF4-FFF2-40B4-BE49-F238E27FC236}">
                    <a16:creationId xmlns:a16="http://schemas.microsoft.com/office/drawing/2014/main" id="{5A7640D7-99C6-DC95-F48B-85E3C4E43F01}"/>
                  </a:ext>
                </a:extLst>
              </p:cNvPr>
              <p:cNvSpPr/>
              <p:nvPr/>
            </p:nvSpPr>
            <p:spPr>
              <a:xfrm>
                <a:off x="948249" y="2561365"/>
                <a:ext cx="1319378" cy="1948736"/>
              </a:xfrm>
              <a:prstGeom prst="round2DiagRect">
                <a:avLst>
                  <a:gd name="adj1" fmla="val 16667"/>
                  <a:gd name="adj2" fmla="val 0"/>
                </a:avLst>
              </a:prstGeom>
              <a:noFill/>
              <a:ln>
                <a:solidFill>
                  <a:srgbClr val="FFFFED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R" altLang="en-US" dirty="0">
                  <a:latin typeface="GyeonggiTitle Bold" panose="02020803020101020101" pitchFamily="18" charset="-127"/>
                  <a:ea typeface="GyeonggiTitle Bold" panose="02020803020101020101" pitchFamily="18" charset="-127"/>
                </a:endParaRPr>
              </a:p>
            </p:txBody>
          </p:sp>
        </p:grpSp>
        <p:grpSp>
          <p:nvGrpSpPr>
            <p:cNvPr id="22" name="그룹 21">
              <a:extLst>
                <a:ext uri="{FF2B5EF4-FFF2-40B4-BE49-F238E27FC236}">
                  <a16:creationId xmlns:a16="http://schemas.microsoft.com/office/drawing/2014/main" id="{046BE569-43A3-B8DC-EE89-A6EC5E4D43C5}"/>
                </a:ext>
              </a:extLst>
            </p:cNvPr>
            <p:cNvGrpSpPr/>
            <p:nvPr/>
          </p:nvGrpSpPr>
          <p:grpSpPr>
            <a:xfrm>
              <a:off x="2573866" y="2645485"/>
              <a:ext cx="1277965" cy="1529370"/>
              <a:chOff x="2573866" y="2645485"/>
              <a:chExt cx="1277965" cy="1529370"/>
            </a:xfrm>
          </p:grpSpPr>
          <p:pic>
            <p:nvPicPr>
              <p:cNvPr id="23" name="Picture 4">
                <a:extLst>
                  <a:ext uri="{FF2B5EF4-FFF2-40B4-BE49-F238E27FC236}">
                    <a16:creationId xmlns:a16="http://schemas.microsoft.com/office/drawing/2014/main" id="{91E5D6DD-254E-1980-8681-B4C40641B5EF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0819" r="6099" b="575"/>
              <a:stretch>
                <a:fillRect/>
              </a:stretch>
            </p:blipFill>
            <p:spPr bwMode="auto">
              <a:xfrm>
                <a:off x="2573866" y="2645485"/>
                <a:ext cx="1277965" cy="152937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24" name="그림 23">
                <a:extLst>
                  <a:ext uri="{FF2B5EF4-FFF2-40B4-BE49-F238E27FC236}">
                    <a16:creationId xmlns:a16="http://schemas.microsoft.com/office/drawing/2014/main" id="{09A3536E-33BA-DDA1-A314-11A337EC15E8}"/>
                  </a:ext>
                </a:extLst>
              </p:cNvPr>
              <p:cNvPicPr>
                <a:picLocks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586220" y="3878358"/>
                <a:ext cx="288000" cy="288000"/>
              </a:xfrm>
              <a:prstGeom prst="rect">
                <a:avLst/>
              </a:prstGeom>
            </p:spPr>
          </p:pic>
        </p:grpSp>
      </p:grpSp>
      <p:grpSp>
        <p:nvGrpSpPr>
          <p:cNvPr id="107" name="그룹 106">
            <a:extLst>
              <a:ext uri="{FF2B5EF4-FFF2-40B4-BE49-F238E27FC236}">
                <a16:creationId xmlns:a16="http://schemas.microsoft.com/office/drawing/2014/main" id="{A41BEFB8-F725-BBE2-B0B3-6A032E428C1E}"/>
              </a:ext>
            </a:extLst>
          </p:cNvPr>
          <p:cNvGrpSpPr/>
          <p:nvPr/>
        </p:nvGrpSpPr>
        <p:grpSpPr>
          <a:xfrm>
            <a:off x="7279161" y="2502932"/>
            <a:ext cx="1319378" cy="1970962"/>
            <a:chOff x="5514696" y="3038036"/>
            <a:chExt cx="1319378" cy="1970962"/>
          </a:xfrm>
          <a:effectLst>
            <a:outerShdw blurRad="50800" dist="63500" dir="2700000" algn="ctr" rotWithShape="0">
              <a:srgbClr val="000000">
                <a:alpha val="60000"/>
              </a:srgbClr>
            </a:outerShdw>
          </a:effectLst>
        </p:grpSpPr>
        <p:sp>
          <p:nvSpPr>
            <p:cNvPr id="108" name="대각선 방향의 모서리가 둥근 사각형 107">
              <a:extLst>
                <a:ext uri="{FF2B5EF4-FFF2-40B4-BE49-F238E27FC236}">
                  <a16:creationId xmlns:a16="http://schemas.microsoft.com/office/drawing/2014/main" id="{4034FBAE-13DB-CD12-FD6C-E79BC7EDF39D}"/>
                </a:ext>
              </a:extLst>
            </p:cNvPr>
            <p:cNvSpPr/>
            <p:nvPr/>
          </p:nvSpPr>
          <p:spPr>
            <a:xfrm>
              <a:off x="5536211" y="3046578"/>
              <a:ext cx="1277965" cy="1962419"/>
            </a:xfrm>
            <a:prstGeom prst="round2DiagRect">
              <a:avLst/>
            </a:prstGeom>
            <a:solidFill>
              <a:srgbClr val="DE9B3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dirty="0"/>
            </a:p>
          </p:txBody>
        </p:sp>
        <p:sp>
          <p:nvSpPr>
            <p:cNvPr id="109" name="대각선 방향의 모서리가 둥근 사각형 108">
              <a:extLst>
                <a:ext uri="{FF2B5EF4-FFF2-40B4-BE49-F238E27FC236}">
                  <a16:creationId xmlns:a16="http://schemas.microsoft.com/office/drawing/2014/main" id="{B260A00E-9E01-C276-E645-F7FF157A03E2}"/>
                </a:ext>
              </a:extLst>
            </p:cNvPr>
            <p:cNvSpPr/>
            <p:nvPr/>
          </p:nvSpPr>
          <p:spPr>
            <a:xfrm>
              <a:off x="5536212" y="4602049"/>
              <a:ext cx="1277965" cy="406948"/>
            </a:xfrm>
            <a:prstGeom prst="round2DiagRect">
              <a:avLst>
                <a:gd name="adj1" fmla="val 50000"/>
                <a:gd name="adj2" fmla="val 0"/>
              </a:avLst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dirty="0"/>
            </a:p>
          </p:txBody>
        </p:sp>
        <p:sp>
          <p:nvSpPr>
            <p:cNvPr id="110" name="대각선 방향의 모서리가 둥근 사각형 109">
              <a:extLst>
                <a:ext uri="{FF2B5EF4-FFF2-40B4-BE49-F238E27FC236}">
                  <a16:creationId xmlns:a16="http://schemas.microsoft.com/office/drawing/2014/main" id="{1539A20B-3806-605B-4A5D-25E018E3761F}"/>
                </a:ext>
              </a:extLst>
            </p:cNvPr>
            <p:cNvSpPr/>
            <p:nvPr/>
          </p:nvSpPr>
          <p:spPr>
            <a:xfrm>
              <a:off x="5536212" y="4602048"/>
              <a:ext cx="503781" cy="398406"/>
            </a:xfrm>
            <a:prstGeom prst="round2DiagRect">
              <a:avLst>
                <a:gd name="adj1" fmla="val 0"/>
                <a:gd name="adj2" fmla="val 0"/>
              </a:avLst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dirty="0"/>
            </a:p>
          </p:txBody>
        </p:sp>
        <p:sp>
          <p:nvSpPr>
            <p:cNvPr id="111" name="TextBox 110">
              <a:extLst>
                <a:ext uri="{FF2B5EF4-FFF2-40B4-BE49-F238E27FC236}">
                  <a16:creationId xmlns:a16="http://schemas.microsoft.com/office/drawing/2014/main" id="{836F829A-5EF8-B947-3EC1-6AE917D0CECF}"/>
                </a:ext>
              </a:extLst>
            </p:cNvPr>
            <p:cNvSpPr txBox="1"/>
            <p:nvPr/>
          </p:nvSpPr>
          <p:spPr>
            <a:xfrm>
              <a:off x="5744603" y="4632479"/>
              <a:ext cx="81135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ko-KR" altLang="en-US" sz="1400" b="1" dirty="0">
                  <a:solidFill>
                    <a:schemeClr val="bg1"/>
                  </a:solidFill>
                  <a:latin typeface="GyeonggiTitle Bold" panose="02020803020101020101" pitchFamily="18" charset="-127"/>
                  <a:ea typeface="GyeonggiTitle Bold" panose="02020803020101020101" pitchFamily="18" charset="-127"/>
                </a:rPr>
                <a:t>쥬리</a:t>
              </a:r>
              <a:endParaRPr kumimoji="1" lang="en-US" altLang="ko-KR" sz="1400" b="1" dirty="0">
                <a:solidFill>
                  <a:schemeClr val="bg1"/>
                </a:solidFill>
                <a:latin typeface="GyeonggiTitle Bold" panose="02020803020101020101" pitchFamily="18" charset="-127"/>
                <a:ea typeface="GyeonggiTitle Bold" panose="02020803020101020101" pitchFamily="18" charset="-127"/>
              </a:endParaRPr>
            </a:p>
          </p:txBody>
        </p:sp>
        <p:sp>
          <p:nvSpPr>
            <p:cNvPr id="112" name="대각선 방향의 모서리가 둥근 사각형 111">
              <a:extLst>
                <a:ext uri="{FF2B5EF4-FFF2-40B4-BE49-F238E27FC236}">
                  <a16:creationId xmlns:a16="http://schemas.microsoft.com/office/drawing/2014/main" id="{595A4CE7-C43E-CBCB-54A1-26436EC06FE0}"/>
                </a:ext>
              </a:extLst>
            </p:cNvPr>
            <p:cNvSpPr/>
            <p:nvPr/>
          </p:nvSpPr>
          <p:spPr>
            <a:xfrm>
              <a:off x="5514696" y="3046578"/>
              <a:ext cx="1319378" cy="1962420"/>
            </a:xfrm>
            <a:prstGeom prst="round2DiagRect">
              <a:avLst>
                <a:gd name="adj1" fmla="val 16667"/>
                <a:gd name="adj2" fmla="val 0"/>
              </a:avLst>
            </a:prstGeom>
            <a:noFill/>
            <a:ln>
              <a:solidFill>
                <a:srgbClr val="FFFFE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dirty="0"/>
            </a:p>
          </p:txBody>
        </p:sp>
        <p:pic>
          <p:nvPicPr>
            <p:cNvPr id="113" name="Picture 4" descr="세븐나이츠 리버스-초상화 쥬리">
              <a:extLst>
                <a:ext uri="{FF2B5EF4-FFF2-40B4-BE49-F238E27FC236}">
                  <a16:creationId xmlns:a16="http://schemas.microsoft.com/office/drawing/2014/main" id="{5F41771D-A84C-0D45-D095-2638B0A8B3E9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0322" r="7103"/>
            <a:stretch>
              <a:fillRect/>
            </a:stretch>
          </p:blipFill>
          <p:spPr bwMode="auto">
            <a:xfrm>
              <a:off x="5533849" y="3054410"/>
              <a:ext cx="1277965" cy="154763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14" name="Picture 2" descr="세븐나이츠 리버스-영웅 구세나">
              <a:extLst>
                <a:ext uri="{FF2B5EF4-FFF2-40B4-BE49-F238E27FC236}">
                  <a16:creationId xmlns:a16="http://schemas.microsoft.com/office/drawing/2014/main" id="{F99A2DC5-F53F-F9C4-04AB-85A4E16EFE7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55459" y="3038036"/>
              <a:ext cx="776285" cy="68527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15" name="그림 114">
              <a:extLst>
                <a:ext uri="{FF2B5EF4-FFF2-40B4-BE49-F238E27FC236}">
                  <a16:creationId xmlns:a16="http://schemas.microsoft.com/office/drawing/2014/main" id="{670423D1-6CC7-FAA7-8F2E-7A6A4D031C01}"/>
                </a:ext>
              </a:extLst>
            </p:cNvPr>
            <p:cNvPicPr>
              <a:picLocks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531487" y="4317083"/>
              <a:ext cx="288000" cy="288000"/>
            </a:xfrm>
            <a:prstGeom prst="rect">
              <a:avLst/>
            </a:prstGeom>
          </p:spPr>
        </p:pic>
      </p:grp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A7EFF1E7-CC88-5F6F-414E-0CA1B14616BB}"/>
              </a:ext>
            </a:extLst>
          </p:cNvPr>
          <p:cNvGrpSpPr/>
          <p:nvPr/>
        </p:nvGrpSpPr>
        <p:grpSpPr>
          <a:xfrm>
            <a:off x="10191766" y="2700045"/>
            <a:ext cx="2185044" cy="1061534"/>
            <a:chOff x="10220925" y="2468343"/>
            <a:chExt cx="2185044" cy="780008"/>
          </a:xfrm>
        </p:grpSpPr>
        <p:grpSp>
          <p:nvGrpSpPr>
            <p:cNvPr id="16" name="그룹 15">
              <a:extLst>
                <a:ext uri="{FF2B5EF4-FFF2-40B4-BE49-F238E27FC236}">
                  <a16:creationId xmlns:a16="http://schemas.microsoft.com/office/drawing/2014/main" id="{23E978FD-3EAF-EA0E-556D-06EB236F64C4}"/>
                </a:ext>
              </a:extLst>
            </p:cNvPr>
            <p:cNvGrpSpPr/>
            <p:nvPr/>
          </p:nvGrpSpPr>
          <p:grpSpPr>
            <a:xfrm>
              <a:off x="10220926" y="2481269"/>
              <a:ext cx="2185043" cy="767082"/>
              <a:chOff x="10223256" y="2502932"/>
              <a:chExt cx="2185043" cy="767082"/>
            </a:xfrm>
          </p:grpSpPr>
          <p:sp>
            <p:nvSpPr>
              <p:cNvPr id="27" name="대각선 방향의 모서리가 둥근 사각형 26">
                <a:extLst>
                  <a:ext uri="{FF2B5EF4-FFF2-40B4-BE49-F238E27FC236}">
                    <a16:creationId xmlns:a16="http://schemas.microsoft.com/office/drawing/2014/main" id="{FED05E78-27ED-BF21-59B4-BA329798FAAE}"/>
                  </a:ext>
                </a:extLst>
              </p:cNvPr>
              <p:cNvSpPr/>
              <p:nvPr/>
            </p:nvSpPr>
            <p:spPr>
              <a:xfrm>
                <a:off x="10223256" y="2502932"/>
                <a:ext cx="1792436" cy="767082"/>
              </a:xfrm>
              <a:prstGeom prst="round2DiagRect">
                <a:avLst>
                  <a:gd name="adj1" fmla="val 34781"/>
                  <a:gd name="adj2" fmla="val 0"/>
                </a:avLst>
              </a:prstGeom>
              <a:solidFill>
                <a:srgbClr val="DBD7D5"/>
              </a:solidFill>
              <a:ln>
                <a:solidFill>
                  <a:srgbClr val="DFDCDA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R" altLang="en-US" b="1" dirty="0">
                  <a:latin typeface="GYEONGGITITLEOTF LIGHT" panose="02020403020101020101" pitchFamily="18" charset="-127"/>
                  <a:ea typeface="GYEONGGITITLEOTF LIGHT" panose="02020403020101020101" pitchFamily="18" charset="-127"/>
                </a:endParaRPr>
              </a:p>
            </p:txBody>
          </p:sp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496E07AD-0B95-7F53-EA8B-D04E949B2208}"/>
                  </a:ext>
                </a:extLst>
              </p:cNvPr>
              <p:cNvSpPr txBox="1"/>
              <p:nvPr/>
            </p:nvSpPr>
            <p:spPr>
              <a:xfrm>
                <a:off x="10322645" y="2845276"/>
                <a:ext cx="2085654" cy="3844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ko-KR" altLang="en-US" sz="1400" b="1" dirty="0">
                    <a:solidFill>
                      <a:srgbClr val="2359AD"/>
                    </a:solidFill>
                    <a:latin typeface="GyeonggiTitleOTF Light" panose="02020403020101020101" pitchFamily="18" charset="-127"/>
                    <a:ea typeface="GyeonggiTitleOTF Light" panose="02020403020101020101" pitchFamily="18" charset="-127"/>
                  </a:rPr>
                  <a:t>전열</a:t>
                </a:r>
                <a:r>
                  <a:rPr kumimoji="1" lang="ko-KR" altLang="en-US" sz="1400" b="1" dirty="0">
                    <a:latin typeface="GyeonggiTitleOTF Light" panose="02020403020101020101" pitchFamily="18" charset="-127"/>
                    <a:ea typeface="GyeonggiTitleOTF Light" panose="02020403020101020101" pitchFamily="18" charset="-127"/>
                  </a:rPr>
                  <a:t> </a:t>
                </a:r>
                <a:r>
                  <a:rPr kumimoji="1" lang="en-US" altLang="ko-KR" sz="1400" b="1" dirty="0">
                    <a:latin typeface="GyeonggiTitleOTF Light" panose="02020403020101020101" pitchFamily="18" charset="-127"/>
                    <a:ea typeface="GyeonggiTitleOTF Light" panose="02020403020101020101" pitchFamily="18" charset="-127"/>
                  </a:rPr>
                  <a:t>= </a:t>
                </a:r>
                <a:r>
                  <a:rPr kumimoji="1" lang="ko-KR" altLang="en-US" sz="1400" b="1" dirty="0">
                    <a:latin typeface="GyeonggiTitleOTF Light" panose="02020403020101020101" pitchFamily="18" charset="-127"/>
                    <a:ea typeface="GyeonggiTitleOTF Light" panose="02020403020101020101" pitchFamily="18" charset="-127"/>
                  </a:rPr>
                  <a:t>방어력 </a:t>
                </a:r>
                <a:r>
                  <a:rPr kumimoji="1" lang="en-US" altLang="ko-KR" sz="1400" b="1" dirty="0">
                    <a:latin typeface="GyeonggiTitleOTF Light" panose="02020403020101020101" pitchFamily="18" charset="-127"/>
                    <a:ea typeface="GyeonggiTitleOTF Light" panose="02020403020101020101" pitchFamily="18" charset="-127"/>
                  </a:rPr>
                  <a:t>42%</a:t>
                </a:r>
              </a:p>
              <a:p>
                <a:r>
                  <a:rPr kumimoji="1" lang="ko-KR" altLang="en-US" sz="1400" dirty="0">
                    <a:solidFill>
                      <a:srgbClr val="FF0000"/>
                    </a:solidFill>
                    <a:latin typeface="GyeonggiTitleOTF Light" panose="02020403020101020101" pitchFamily="18" charset="-127"/>
                    <a:ea typeface="GyeonggiTitleOTF Light" panose="02020403020101020101" pitchFamily="18" charset="-127"/>
                  </a:rPr>
                  <a:t>후열</a:t>
                </a:r>
                <a:r>
                  <a:rPr kumimoji="1" lang="ko-KR" altLang="en-US" sz="1400" dirty="0">
                    <a:latin typeface="GyeonggiTitleOTF Light" panose="02020403020101020101" pitchFamily="18" charset="-127"/>
                    <a:ea typeface="GyeonggiTitleOTF Light" panose="02020403020101020101" pitchFamily="18" charset="-127"/>
                  </a:rPr>
                  <a:t> </a:t>
                </a:r>
                <a:r>
                  <a:rPr kumimoji="1" lang="en-US" altLang="ko-KR" sz="1400" dirty="0">
                    <a:latin typeface="GyeonggiTitleOTF Light" panose="02020403020101020101" pitchFamily="18" charset="-127"/>
                    <a:ea typeface="GyeonggiTitleOTF Light" panose="02020403020101020101" pitchFamily="18" charset="-127"/>
                  </a:rPr>
                  <a:t>= </a:t>
                </a:r>
                <a:r>
                  <a:rPr kumimoji="1" lang="ko-KR" altLang="en-US" sz="1400" dirty="0">
                    <a:latin typeface="GyeonggiTitleOTF Light" panose="02020403020101020101" pitchFamily="18" charset="-127"/>
                    <a:ea typeface="GyeonggiTitleOTF Light" panose="02020403020101020101" pitchFamily="18" charset="-127"/>
                  </a:rPr>
                  <a:t>공격력 </a:t>
                </a:r>
                <a:r>
                  <a:rPr kumimoji="1" lang="en-US" altLang="ko-KR" sz="1400" dirty="0">
                    <a:latin typeface="GyeonggiTitleOTF Light" panose="02020403020101020101" pitchFamily="18" charset="-127"/>
                    <a:ea typeface="GyeonggiTitleOTF Light" panose="02020403020101020101" pitchFamily="18" charset="-127"/>
                  </a:rPr>
                  <a:t>10.5%</a:t>
                </a:r>
                <a:endParaRPr kumimoji="1" lang="ko-KR" altLang="en-US" sz="1400" dirty="0">
                  <a:latin typeface="GyeonggiTitleOTF Light" panose="02020403020101020101" pitchFamily="18" charset="-127"/>
                  <a:ea typeface="GyeonggiTitleOTF Light" panose="02020403020101020101" pitchFamily="18" charset="-127"/>
                </a:endParaRPr>
              </a:p>
            </p:txBody>
          </p:sp>
        </p:grpSp>
        <p:sp>
          <p:nvSpPr>
            <p:cNvPr id="17" name="대각선 방향의 모서리가 둥근 사각형 16">
              <a:extLst>
                <a:ext uri="{FF2B5EF4-FFF2-40B4-BE49-F238E27FC236}">
                  <a16:creationId xmlns:a16="http://schemas.microsoft.com/office/drawing/2014/main" id="{21CFF9C4-9698-971E-C6FC-3E50D150EF01}"/>
                </a:ext>
              </a:extLst>
            </p:cNvPr>
            <p:cNvSpPr/>
            <p:nvPr/>
          </p:nvSpPr>
          <p:spPr>
            <a:xfrm>
              <a:off x="10220925" y="2468343"/>
              <a:ext cx="1792437" cy="316884"/>
            </a:xfrm>
            <a:prstGeom prst="round2DiagRect">
              <a:avLst>
                <a:gd name="adj1" fmla="val 48374"/>
                <a:gd name="adj2" fmla="val 0"/>
              </a:avLst>
            </a:prstGeom>
            <a:solidFill>
              <a:srgbClr val="393833"/>
            </a:solidFill>
            <a:ln>
              <a:solidFill>
                <a:srgbClr val="DFDCD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ko-KR" altLang="en-US" sz="1400" dirty="0">
                  <a:latin typeface="GyeonggiTitleOTF Light" panose="02020403020101020101" pitchFamily="18" charset="-127"/>
                  <a:ea typeface="GyeonggiTitleOTF Light" panose="02020403020101020101" pitchFamily="18" charset="-127"/>
                </a:rPr>
                <a:t>진형효과 </a:t>
              </a:r>
              <a:r>
                <a:rPr kumimoji="1" lang="en-US" altLang="ko-KR" sz="1400" dirty="0">
                  <a:latin typeface="GyeonggiTitleOTF Light" panose="02020403020101020101" pitchFamily="18" charset="-127"/>
                  <a:ea typeface="GyeonggiTitleOTF Light" panose="02020403020101020101" pitchFamily="18" charset="-127"/>
                </a:rPr>
                <a:t>–</a:t>
              </a:r>
              <a:r>
                <a:rPr kumimoji="1" lang="ko-KR" altLang="en-US" sz="1400" dirty="0">
                  <a:latin typeface="GyeonggiTitleOTF Light" panose="02020403020101020101" pitchFamily="18" charset="-127"/>
                  <a:ea typeface="GyeonggiTitleOTF Light" panose="02020403020101020101" pitchFamily="18" charset="-127"/>
                </a:rPr>
                <a:t> </a:t>
              </a:r>
              <a:r>
                <a:rPr kumimoji="1" lang="ko-KR" altLang="en-US" sz="1400" b="1" dirty="0">
                  <a:latin typeface="GyeonggiTitle Bold" panose="02020803020101020101" pitchFamily="18" charset="-127"/>
                  <a:ea typeface="GyeonggiTitle Bold" panose="02020803020101020101" pitchFamily="18" charset="-127"/>
                </a:rPr>
                <a:t>공격진형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817140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834F61E-4AFC-C897-F2B0-96511B9008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6D67042F-1A4D-C749-8B82-C18C09BF172E}"/>
              </a:ext>
            </a:extLst>
          </p:cNvPr>
          <p:cNvSpPr txBox="1"/>
          <p:nvPr/>
        </p:nvSpPr>
        <p:spPr>
          <a:xfrm>
            <a:off x="1072526" y="586716"/>
            <a:ext cx="3854037" cy="9079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500" dirty="0">
                <a:latin typeface="GyeonggiTitle Bold" panose="02020803020101020101" pitchFamily="18" charset="-127"/>
                <a:ea typeface="GyeonggiTitle Bold" panose="02020803020101020101" pitchFamily="18" charset="-127"/>
              </a:rPr>
              <a:t>PVP</a:t>
            </a:r>
            <a:r>
              <a:rPr lang="ko-KR" altLang="en-US" sz="3500" dirty="0">
                <a:latin typeface="GyeonggiTitle Bold" panose="02020803020101020101" pitchFamily="18" charset="-127"/>
                <a:ea typeface="GyeonggiTitle Bold" panose="02020803020101020101" pitchFamily="18" charset="-127"/>
              </a:rPr>
              <a:t> 메타</a:t>
            </a:r>
            <a:endParaRPr lang="en-US" altLang="ko-KR" sz="3500" dirty="0">
              <a:latin typeface="GyeonggiTitle Bold" panose="02020803020101020101" pitchFamily="18" charset="-127"/>
              <a:ea typeface="GyeonggiTitle Bold" panose="02020803020101020101" pitchFamily="18" charset="-127"/>
            </a:endParaRPr>
          </a:p>
          <a:p>
            <a:r>
              <a:rPr lang="ko-KR" altLang="en-US" dirty="0">
                <a:latin typeface="GyeonggiTitle Bold" panose="02020803020101020101" pitchFamily="18" charset="-127"/>
                <a:ea typeface="GyeonggiTitle Bold" panose="02020803020101020101" pitchFamily="18" charset="-127"/>
              </a:rPr>
              <a:t>결투장</a:t>
            </a:r>
            <a:r>
              <a:rPr lang="en-US" altLang="ko-KR" dirty="0">
                <a:latin typeface="GyeonggiTitle Bold" panose="02020803020101020101" pitchFamily="18" charset="-127"/>
                <a:ea typeface="GyeonggiTitle Bold" panose="02020803020101020101" pitchFamily="18" charset="-127"/>
              </a:rPr>
              <a:t> </a:t>
            </a:r>
            <a:r>
              <a:rPr lang="ko-KR" altLang="en-US" dirty="0">
                <a:latin typeface="GyeonggiTitle Bold" panose="02020803020101020101" pitchFamily="18" charset="-127"/>
                <a:ea typeface="GyeonggiTitle Bold" panose="02020803020101020101" pitchFamily="18" charset="-127"/>
              </a:rPr>
              <a:t>영웅기용 분포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473D82C-BC39-14DF-75D6-0937306E7F56}"/>
              </a:ext>
            </a:extLst>
          </p:cNvPr>
          <p:cNvSpPr txBox="1"/>
          <p:nvPr/>
        </p:nvSpPr>
        <p:spPr>
          <a:xfrm>
            <a:off x="10324883" y="6314662"/>
            <a:ext cx="17812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000" dirty="0">
                <a:latin typeface="GyeonggiTitle Bold" panose="02020803020101020101" pitchFamily="18" charset="-127"/>
                <a:ea typeface="GyeonggiTitle Bold" panose="02020803020101020101" pitchFamily="18" charset="-127"/>
              </a:rPr>
              <a:t>2025-11-01</a:t>
            </a:r>
            <a:r>
              <a:rPr kumimoji="1" lang="ko-KR" altLang="en-US" sz="1000" dirty="0">
                <a:latin typeface="GyeonggiTitle Bold" panose="02020803020101020101" pitchFamily="18" charset="-127"/>
                <a:ea typeface="GyeonggiTitle Bold" panose="02020803020101020101" pitchFamily="18" charset="-127"/>
              </a:rPr>
              <a:t> </a:t>
            </a:r>
            <a:r>
              <a:rPr kumimoji="1" lang="en-US" altLang="ko-KR" sz="1000" dirty="0">
                <a:latin typeface="GyeonggiTitle Bold" panose="02020803020101020101" pitchFamily="18" charset="-127"/>
                <a:ea typeface="GyeonggiTitle Bold" panose="02020803020101020101" pitchFamily="18" charset="-127"/>
              </a:rPr>
              <a:t>KR</a:t>
            </a:r>
            <a:r>
              <a:rPr kumimoji="1" lang="ko-KR" altLang="en-US" sz="1000" dirty="0">
                <a:latin typeface="GyeonggiTitle Bold" panose="02020803020101020101" pitchFamily="18" charset="-127"/>
                <a:ea typeface="GyeonggiTitle Bold" panose="02020803020101020101" pitchFamily="18" charset="-127"/>
              </a:rPr>
              <a:t> </a:t>
            </a:r>
            <a:r>
              <a:rPr kumimoji="1" lang="en-US" altLang="ko-KR" sz="1000" dirty="0">
                <a:latin typeface="GyeonggiTitle Bold" panose="02020803020101020101" pitchFamily="18" charset="-127"/>
                <a:ea typeface="GyeonggiTitle Bold" panose="02020803020101020101" pitchFamily="18" charset="-127"/>
              </a:rPr>
              <a:t>1</a:t>
            </a:r>
            <a:r>
              <a:rPr kumimoji="1" lang="ko-KR" altLang="en-US" sz="1000" dirty="0">
                <a:latin typeface="GyeonggiTitle Bold" panose="02020803020101020101" pitchFamily="18" charset="-127"/>
                <a:ea typeface="GyeonggiTitle Bold" panose="02020803020101020101" pitchFamily="18" charset="-127"/>
              </a:rPr>
              <a:t>서버 기준</a:t>
            </a:r>
            <a:endParaRPr kumimoji="1" lang="en-US" altLang="ko-KR" sz="1000" dirty="0">
              <a:latin typeface="GyeonggiTitle Bold" panose="02020803020101020101" pitchFamily="18" charset="-127"/>
              <a:ea typeface="GyeonggiTitle Bold" panose="02020803020101020101" pitchFamily="18" charset="-127"/>
            </a:endParaRPr>
          </a:p>
          <a:p>
            <a:r>
              <a:rPr kumimoji="1" lang="ko-KR" altLang="en-US" sz="1000" dirty="0">
                <a:latin typeface="GyeonggiTitle Bold" panose="02020803020101020101" pitchFamily="18" charset="-127"/>
                <a:ea typeface="GyeonggiTitle Bold" panose="02020803020101020101" pitchFamily="18" charset="-127"/>
              </a:rPr>
              <a:t>상위 </a:t>
            </a:r>
            <a:r>
              <a:rPr kumimoji="1" lang="en-US" altLang="ko-KR" sz="1000" dirty="0">
                <a:latin typeface="GyeonggiTitle Bold" panose="02020803020101020101" pitchFamily="18" charset="-127"/>
                <a:ea typeface="GyeonggiTitle Bold" panose="02020803020101020101" pitchFamily="18" charset="-127"/>
              </a:rPr>
              <a:t>50</a:t>
            </a:r>
            <a:r>
              <a:rPr kumimoji="1" lang="ko-KR" altLang="en-US" sz="1000" dirty="0">
                <a:latin typeface="GyeonggiTitle Bold" panose="02020803020101020101" pitchFamily="18" charset="-127"/>
                <a:ea typeface="GyeonggiTitle Bold" panose="02020803020101020101" pitchFamily="18" charset="-127"/>
              </a:rPr>
              <a:t>명 유저의 덱 구성</a:t>
            </a: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DEA8F979-B603-3115-3BB8-4078E23DB66E}"/>
              </a:ext>
            </a:extLst>
          </p:cNvPr>
          <p:cNvGrpSpPr/>
          <p:nvPr/>
        </p:nvGrpSpPr>
        <p:grpSpPr>
          <a:xfrm>
            <a:off x="1440000" y="1440000"/>
            <a:ext cx="9368893" cy="4860000"/>
            <a:chOff x="1577506" y="1494657"/>
            <a:chExt cx="9462919" cy="4844803"/>
          </a:xfrm>
          <a:effectLst>
            <a:outerShdw blurRad="50800" dist="278152" dir="2160000" sx="98160" sy="98160" algn="ctr" rotWithShape="0">
              <a:srgbClr val="000000">
                <a:alpha val="52000"/>
              </a:srgbClr>
            </a:outerShdw>
          </a:effectLst>
        </p:grpSpPr>
        <p:grpSp>
          <p:nvGrpSpPr>
            <p:cNvPr id="6" name="그룹 5">
              <a:extLst>
                <a:ext uri="{FF2B5EF4-FFF2-40B4-BE49-F238E27FC236}">
                  <a16:creationId xmlns:a16="http://schemas.microsoft.com/office/drawing/2014/main" id="{0B82F62A-E3B1-47A9-B40C-5211833951F4}"/>
                </a:ext>
              </a:extLst>
            </p:cNvPr>
            <p:cNvGrpSpPr/>
            <p:nvPr/>
          </p:nvGrpSpPr>
          <p:grpSpPr>
            <a:xfrm>
              <a:off x="1577506" y="1494657"/>
              <a:ext cx="9453937" cy="4844803"/>
              <a:chOff x="-3912412" y="0"/>
              <a:chExt cx="9453937" cy="5552661"/>
            </a:xfrm>
          </p:grpSpPr>
          <p:sp>
            <p:nvSpPr>
              <p:cNvPr id="12" name="대각선 방향의 모서리가 둥근 사각형 11">
                <a:extLst>
                  <a:ext uri="{FF2B5EF4-FFF2-40B4-BE49-F238E27FC236}">
                    <a16:creationId xmlns:a16="http://schemas.microsoft.com/office/drawing/2014/main" id="{7A859381-AF74-23FC-D768-A64EB80A7CCB}"/>
                  </a:ext>
                </a:extLst>
              </p:cNvPr>
              <p:cNvSpPr/>
              <p:nvPr/>
            </p:nvSpPr>
            <p:spPr>
              <a:xfrm>
                <a:off x="-3912412" y="0"/>
                <a:ext cx="9448800" cy="5552661"/>
              </a:xfrm>
              <a:prstGeom prst="round2DiagRect">
                <a:avLst/>
              </a:prstGeom>
              <a:solidFill>
                <a:srgbClr val="393833"/>
              </a:solidFill>
              <a:ln>
                <a:solidFill>
                  <a:srgbClr val="DEDCDA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R" altLang="en-US">
                  <a:latin typeface="GyeonggiTitle Bold" panose="02020803020101020101" pitchFamily="18" charset="-127"/>
                  <a:ea typeface="GyeonggiTitle Bold" panose="02020803020101020101" pitchFamily="18" charset="-127"/>
                </a:endParaRPr>
              </a:p>
            </p:txBody>
          </p:sp>
          <p:grpSp>
            <p:nvGrpSpPr>
              <p:cNvPr id="13" name="그룹 12">
                <a:extLst>
                  <a:ext uri="{FF2B5EF4-FFF2-40B4-BE49-F238E27FC236}">
                    <a16:creationId xmlns:a16="http://schemas.microsoft.com/office/drawing/2014/main" id="{F219A093-E19C-9BD9-2C75-71F3A3CA48DA}"/>
                  </a:ext>
                </a:extLst>
              </p:cNvPr>
              <p:cNvGrpSpPr/>
              <p:nvPr/>
            </p:nvGrpSpPr>
            <p:grpSpPr>
              <a:xfrm>
                <a:off x="-3907277" y="767427"/>
                <a:ext cx="9448802" cy="4616792"/>
                <a:chOff x="1852242" y="979257"/>
                <a:chExt cx="9448802" cy="4448527"/>
              </a:xfrm>
            </p:grpSpPr>
            <p:sp>
              <p:nvSpPr>
                <p:cNvPr id="14" name="한쪽 모서리가 둥근 사각형 13">
                  <a:extLst>
                    <a:ext uri="{FF2B5EF4-FFF2-40B4-BE49-F238E27FC236}">
                      <a16:creationId xmlns:a16="http://schemas.microsoft.com/office/drawing/2014/main" id="{8ECE57F9-E5BE-F219-17E2-A3A9F2671EA3}"/>
                    </a:ext>
                  </a:extLst>
                </p:cNvPr>
                <p:cNvSpPr/>
                <p:nvPr/>
              </p:nvSpPr>
              <p:spPr>
                <a:xfrm flipV="1">
                  <a:off x="6505224" y="979257"/>
                  <a:ext cx="4795820" cy="4448525"/>
                </a:xfrm>
                <a:prstGeom prst="round1Rect">
                  <a:avLst>
                    <a:gd name="adj" fmla="val 22000"/>
                  </a:avLst>
                </a:prstGeom>
                <a:solidFill>
                  <a:srgbClr val="DAD7D5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ko-KR" altLang="en-US" dirty="0">
                    <a:latin typeface="GyeonggiTitle Bold" panose="02020803020101020101" pitchFamily="18" charset="-127"/>
                    <a:ea typeface="GyeonggiTitle Bold" panose="02020803020101020101" pitchFamily="18" charset="-127"/>
                  </a:endParaRPr>
                </a:p>
              </p:txBody>
            </p:sp>
            <p:sp>
              <p:nvSpPr>
                <p:cNvPr id="16" name="한쪽 모서리가 둥근 사각형 15">
                  <a:extLst>
                    <a:ext uri="{FF2B5EF4-FFF2-40B4-BE49-F238E27FC236}">
                      <a16:creationId xmlns:a16="http://schemas.microsoft.com/office/drawing/2014/main" id="{F277DBE4-CFFA-0EDC-1CDA-940E92DD9DFE}"/>
                    </a:ext>
                  </a:extLst>
                </p:cNvPr>
                <p:cNvSpPr/>
                <p:nvPr/>
              </p:nvSpPr>
              <p:spPr>
                <a:xfrm flipH="1">
                  <a:off x="1852242" y="979257"/>
                  <a:ext cx="4795821" cy="4448527"/>
                </a:xfrm>
                <a:prstGeom prst="round1Rect">
                  <a:avLst>
                    <a:gd name="adj" fmla="val 13667"/>
                  </a:avLst>
                </a:prstGeom>
                <a:solidFill>
                  <a:srgbClr val="DAD7D5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ko-KR" altLang="en-US" dirty="0">
                    <a:latin typeface="GyeonggiTitle Bold" panose="02020803020101020101" pitchFamily="18" charset="-127"/>
                    <a:ea typeface="GyeonggiTitle Bold" panose="02020803020101020101" pitchFamily="18" charset="-127"/>
                  </a:endParaRPr>
                </a:p>
              </p:txBody>
            </p:sp>
          </p:grpSp>
        </p:grp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05601B9A-6616-D346-A4D6-9EFB8FDB4AA9}"/>
                </a:ext>
              </a:extLst>
            </p:cNvPr>
            <p:cNvSpPr txBox="1"/>
            <p:nvPr/>
          </p:nvSpPr>
          <p:spPr>
            <a:xfrm>
              <a:off x="2156552" y="1607562"/>
              <a:ext cx="8883873" cy="460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ko-KR" altLang="en-US" sz="2400" dirty="0">
                  <a:solidFill>
                    <a:schemeClr val="bg1"/>
                  </a:solidFill>
                  <a:latin typeface="GyeonggiTitleOTF Light" panose="02020403020101020101" pitchFamily="18" charset="-127"/>
                  <a:ea typeface="GyeonggiTitleOTF Light" panose="02020403020101020101" pitchFamily="18" charset="-127"/>
                </a:rPr>
                <a:t>콜트와 카일</a:t>
              </a:r>
              <a:r>
                <a:rPr kumimoji="1" lang="en-US" altLang="ko-KR" sz="2400" dirty="0">
                  <a:solidFill>
                    <a:schemeClr val="bg1"/>
                  </a:solidFill>
                  <a:latin typeface="GyeonggiTitleOTF Light" panose="02020403020101020101" pitchFamily="18" charset="-127"/>
                  <a:ea typeface="GyeonggiTitleOTF Light" panose="02020403020101020101" pitchFamily="18" charset="-127"/>
                </a:rPr>
                <a:t>, </a:t>
              </a:r>
              <a:r>
                <a:rPr kumimoji="1" lang="ko-KR" altLang="en-US" sz="2400" dirty="0" err="1">
                  <a:solidFill>
                    <a:schemeClr val="bg1"/>
                  </a:solidFill>
                  <a:latin typeface="GyeonggiTitleOTF Light" panose="02020403020101020101" pitchFamily="18" charset="-127"/>
                  <a:ea typeface="GyeonggiTitleOTF Light" panose="02020403020101020101" pitchFamily="18" charset="-127"/>
                </a:rPr>
                <a:t>카구라의</a:t>
              </a:r>
              <a:r>
                <a:rPr kumimoji="1" lang="ko-KR" altLang="en-US" sz="2400" dirty="0">
                  <a:solidFill>
                    <a:schemeClr val="bg1"/>
                  </a:solidFill>
                  <a:latin typeface="GyeonggiTitleOTF Light" panose="02020403020101020101" pitchFamily="18" charset="-127"/>
                  <a:ea typeface="GyeonggiTitleOTF Light" panose="02020403020101020101" pitchFamily="18" charset="-127"/>
                </a:rPr>
                <a:t> 조합으로 순간 </a:t>
              </a:r>
              <a:r>
                <a:rPr kumimoji="1" lang="ko-KR" altLang="en-US" sz="2400" dirty="0" err="1">
                  <a:solidFill>
                    <a:schemeClr val="bg1"/>
                  </a:solidFill>
                  <a:latin typeface="GyeonggiTitleOTF Light" panose="02020403020101020101" pitchFamily="18" charset="-127"/>
                  <a:ea typeface="GyeonggiTitleOTF Light" panose="02020403020101020101" pitchFamily="18" charset="-127"/>
                </a:rPr>
                <a:t>폭딜</a:t>
              </a:r>
              <a:r>
                <a:rPr kumimoji="1" lang="ko-KR" altLang="en-US" sz="2400" dirty="0">
                  <a:solidFill>
                    <a:schemeClr val="bg1"/>
                  </a:solidFill>
                  <a:latin typeface="GyeonggiTitleOTF Light" panose="02020403020101020101" pitchFamily="18" charset="-127"/>
                  <a:ea typeface="GyeonggiTitleOTF Light" panose="02020403020101020101" pitchFamily="18" charset="-127"/>
                </a:rPr>
                <a:t> 극대화</a:t>
              </a:r>
            </a:p>
          </p:txBody>
        </p:sp>
      </p:grpSp>
      <p:sp>
        <p:nvSpPr>
          <p:cNvPr id="28" name="타원 27">
            <a:extLst>
              <a:ext uri="{FF2B5EF4-FFF2-40B4-BE49-F238E27FC236}">
                <a16:creationId xmlns:a16="http://schemas.microsoft.com/office/drawing/2014/main" id="{A61120BD-032B-138E-FACD-0E47EC425F06}"/>
              </a:ext>
            </a:extLst>
          </p:cNvPr>
          <p:cNvSpPr>
            <a:spLocks noChangeAspect="1"/>
          </p:cNvSpPr>
          <p:nvPr/>
        </p:nvSpPr>
        <p:spPr>
          <a:xfrm>
            <a:off x="2064198" y="2230661"/>
            <a:ext cx="467420" cy="468000"/>
          </a:xfrm>
          <a:prstGeom prst="ellipse">
            <a:avLst/>
          </a:prstGeom>
          <a:blipFill>
            <a:blip r:embed="rId3"/>
            <a:stretch>
              <a:fillRect/>
            </a:stretch>
          </a:blipFill>
          <a:ln>
            <a:solidFill>
              <a:srgbClr val="C9B48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30" name="타원 29">
            <a:extLst>
              <a:ext uri="{FF2B5EF4-FFF2-40B4-BE49-F238E27FC236}">
                <a16:creationId xmlns:a16="http://schemas.microsoft.com/office/drawing/2014/main" id="{D1043157-D060-473E-5824-C148D198A1E6}"/>
              </a:ext>
            </a:extLst>
          </p:cNvPr>
          <p:cNvSpPr>
            <a:spLocks noChangeAspect="1"/>
          </p:cNvSpPr>
          <p:nvPr/>
        </p:nvSpPr>
        <p:spPr>
          <a:xfrm>
            <a:off x="2069197" y="3170821"/>
            <a:ext cx="467420" cy="468000"/>
          </a:xfrm>
          <a:prstGeom prst="ellipse">
            <a:avLst/>
          </a:prstGeom>
          <a:blipFill>
            <a:blip r:embed="rId4"/>
            <a:stretch>
              <a:fillRect/>
            </a:stretch>
          </a:blipFill>
          <a:ln>
            <a:solidFill>
              <a:srgbClr val="C9B48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31" name="타원 30">
            <a:extLst>
              <a:ext uri="{FF2B5EF4-FFF2-40B4-BE49-F238E27FC236}">
                <a16:creationId xmlns:a16="http://schemas.microsoft.com/office/drawing/2014/main" id="{A6C1D62F-3EF1-CD3C-4D67-FC888CAB4438}"/>
              </a:ext>
            </a:extLst>
          </p:cNvPr>
          <p:cNvSpPr>
            <a:spLocks noChangeAspect="1"/>
          </p:cNvSpPr>
          <p:nvPr/>
        </p:nvSpPr>
        <p:spPr>
          <a:xfrm>
            <a:off x="2057460" y="2698661"/>
            <a:ext cx="467420" cy="468000"/>
          </a:xfrm>
          <a:prstGeom prst="ellipse">
            <a:avLst/>
          </a:prstGeom>
          <a:blipFill>
            <a:blip r:embed="rId5"/>
            <a:stretch>
              <a:fillRect/>
            </a:stretch>
          </a:blipFill>
          <a:ln>
            <a:solidFill>
              <a:srgbClr val="C9B48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32" name="타원 31">
            <a:extLst>
              <a:ext uri="{FF2B5EF4-FFF2-40B4-BE49-F238E27FC236}">
                <a16:creationId xmlns:a16="http://schemas.microsoft.com/office/drawing/2014/main" id="{500F0DFE-3202-A09D-0659-DF571A460261}"/>
              </a:ext>
            </a:extLst>
          </p:cNvPr>
          <p:cNvSpPr>
            <a:spLocks noChangeAspect="1"/>
          </p:cNvSpPr>
          <p:nvPr/>
        </p:nvSpPr>
        <p:spPr>
          <a:xfrm>
            <a:off x="2064198" y="4110981"/>
            <a:ext cx="467420" cy="468000"/>
          </a:xfrm>
          <a:prstGeom prst="ellipse">
            <a:avLst/>
          </a:prstGeom>
          <a:blipFill>
            <a:blip r:embed="rId6"/>
            <a:stretch>
              <a:fillRect/>
            </a:stretch>
          </a:blipFill>
          <a:ln>
            <a:solidFill>
              <a:srgbClr val="C9B48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34" name="타원 33">
            <a:extLst>
              <a:ext uri="{FF2B5EF4-FFF2-40B4-BE49-F238E27FC236}">
                <a16:creationId xmlns:a16="http://schemas.microsoft.com/office/drawing/2014/main" id="{0675482A-DF9F-7BF8-FF8A-9F70410F8DB8}"/>
              </a:ext>
            </a:extLst>
          </p:cNvPr>
          <p:cNvSpPr>
            <a:spLocks noChangeAspect="1"/>
          </p:cNvSpPr>
          <p:nvPr/>
        </p:nvSpPr>
        <p:spPr>
          <a:xfrm>
            <a:off x="2064198" y="5046981"/>
            <a:ext cx="467420" cy="468000"/>
          </a:xfrm>
          <a:prstGeom prst="ellipse">
            <a:avLst/>
          </a:prstGeom>
          <a:blipFill>
            <a:blip r:embed="rId7"/>
            <a:stretch>
              <a:fillRect/>
            </a:stretch>
          </a:blipFill>
          <a:ln>
            <a:solidFill>
              <a:srgbClr val="C9B48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35" name="타원 34">
            <a:extLst>
              <a:ext uri="{FF2B5EF4-FFF2-40B4-BE49-F238E27FC236}">
                <a16:creationId xmlns:a16="http://schemas.microsoft.com/office/drawing/2014/main" id="{10F836F4-57B7-3F42-E114-5893C1B62832}"/>
              </a:ext>
            </a:extLst>
          </p:cNvPr>
          <p:cNvSpPr>
            <a:spLocks noChangeAspect="1"/>
          </p:cNvSpPr>
          <p:nvPr/>
        </p:nvSpPr>
        <p:spPr>
          <a:xfrm>
            <a:off x="2057460" y="4580979"/>
            <a:ext cx="467420" cy="468000"/>
          </a:xfrm>
          <a:prstGeom prst="ellipse">
            <a:avLst/>
          </a:prstGeom>
          <a:blipFill>
            <a:blip r:embed="rId8"/>
            <a:stretch>
              <a:fillRect/>
            </a:stretch>
          </a:blipFill>
          <a:ln>
            <a:solidFill>
              <a:srgbClr val="C9B48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36" name="타원 35">
            <a:extLst>
              <a:ext uri="{FF2B5EF4-FFF2-40B4-BE49-F238E27FC236}">
                <a16:creationId xmlns:a16="http://schemas.microsoft.com/office/drawing/2014/main" id="{7CEB0CA9-A610-B0EB-8ED3-79DD044E9621}"/>
              </a:ext>
            </a:extLst>
          </p:cNvPr>
          <p:cNvSpPr>
            <a:spLocks noChangeAspect="1"/>
          </p:cNvSpPr>
          <p:nvPr/>
        </p:nvSpPr>
        <p:spPr>
          <a:xfrm>
            <a:off x="2064198" y="5514981"/>
            <a:ext cx="467420" cy="468000"/>
          </a:xfrm>
          <a:prstGeom prst="ellipse">
            <a:avLst/>
          </a:prstGeom>
          <a:blipFill>
            <a:blip r:embed="rId9"/>
            <a:stretch>
              <a:fillRect/>
            </a:stretch>
          </a:blipFill>
          <a:ln>
            <a:solidFill>
              <a:srgbClr val="C9B48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grpSp>
        <p:nvGrpSpPr>
          <p:cNvPr id="63" name="그룹 62">
            <a:extLst>
              <a:ext uri="{FF2B5EF4-FFF2-40B4-BE49-F238E27FC236}">
                <a16:creationId xmlns:a16="http://schemas.microsoft.com/office/drawing/2014/main" id="{6DC415D2-6E34-80B6-BB07-A1C669D6F4CE}"/>
              </a:ext>
            </a:extLst>
          </p:cNvPr>
          <p:cNvGrpSpPr/>
          <p:nvPr/>
        </p:nvGrpSpPr>
        <p:grpSpPr>
          <a:xfrm>
            <a:off x="2607057" y="2263608"/>
            <a:ext cx="4453277" cy="3752185"/>
            <a:chOff x="2516349" y="2269333"/>
            <a:chExt cx="4047543" cy="3752185"/>
          </a:xfrm>
        </p:grpSpPr>
        <p:sp>
          <p:nvSpPr>
            <p:cNvPr id="39" name="직사각형 38">
              <a:extLst>
                <a:ext uri="{FF2B5EF4-FFF2-40B4-BE49-F238E27FC236}">
                  <a16:creationId xmlns:a16="http://schemas.microsoft.com/office/drawing/2014/main" id="{AE8519FA-AF65-004C-64F5-E265A6E8782E}"/>
                </a:ext>
              </a:extLst>
            </p:cNvPr>
            <p:cNvSpPr/>
            <p:nvPr/>
          </p:nvSpPr>
          <p:spPr>
            <a:xfrm>
              <a:off x="2521348" y="2386009"/>
              <a:ext cx="3600000" cy="231151"/>
            </a:xfrm>
            <a:prstGeom prst="rect">
              <a:avLst/>
            </a:prstGeom>
            <a:solidFill>
              <a:srgbClr val="C4474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dirty="0"/>
            </a:p>
          </p:txBody>
        </p:sp>
        <p:cxnSp>
          <p:nvCxnSpPr>
            <p:cNvPr id="41" name="직선 연결선[R] 40">
              <a:extLst>
                <a:ext uri="{FF2B5EF4-FFF2-40B4-BE49-F238E27FC236}">
                  <a16:creationId xmlns:a16="http://schemas.microsoft.com/office/drawing/2014/main" id="{726CEBC5-7B21-7FC4-0551-B57F8E116270}"/>
                </a:ext>
              </a:extLst>
            </p:cNvPr>
            <p:cNvCxnSpPr>
              <a:cxnSpLocks/>
            </p:cNvCxnSpPr>
            <p:nvPr/>
          </p:nvCxnSpPr>
          <p:spPr>
            <a:xfrm>
              <a:off x="2516349" y="2269333"/>
              <a:ext cx="0" cy="375218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직사각형 44">
              <a:extLst>
                <a:ext uri="{FF2B5EF4-FFF2-40B4-BE49-F238E27FC236}">
                  <a16:creationId xmlns:a16="http://schemas.microsoft.com/office/drawing/2014/main" id="{66DE0D1E-CCE3-0ABB-E2D3-A9A777659C35}"/>
                </a:ext>
              </a:extLst>
            </p:cNvPr>
            <p:cNvSpPr/>
            <p:nvPr/>
          </p:nvSpPr>
          <p:spPr>
            <a:xfrm>
              <a:off x="2521347" y="2839840"/>
              <a:ext cx="3599208" cy="231151"/>
            </a:xfrm>
            <a:prstGeom prst="rect">
              <a:avLst/>
            </a:prstGeom>
            <a:solidFill>
              <a:srgbClr val="C4474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46" name="직사각형 45">
              <a:extLst>
                <a:ext uri="{FF2B5EF4-FFF2-40B4-BE49-F238E27FC236}">
                  <a16:creationId xmlns:a16="http://schemas.microsoft.com/office/drawing/2014/main" id="{60F23EA4-9515-19E1-CF2C-DAA50EBA88D6}"/>
                </a:ext>
              </a:extLst>
            </p:cNvPr>
            <p:cNvSpPr/>
            <p:nvPr/>
          </p:nvSpPr>
          <p:spPr>
            <a:xfrm>
              <a:off x="2521348" y="3304811"/>
              <a:ext cx="3239287" cy="231151"/>
            </a:xfrm>
            <a:prstGeom prst="rect">
              <a:avLst/>
            </a:prstGeom>
            <a:solidFill>
              <a:srgbClr val="C4474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47" name="직사각형 46">
              <a:extLst>
                <a:ext uri="{FF2B5EF4-FFF2-40B4-BE49-F238E27FC236}">
                  <a16:creationId xmlns:a16="http://schemas.microsoft.com/office/drawing/2014/main" id="{952E2040-8396-A453-DAC4-D0C79F5BF38F}"/>
                </a:ext>
              </a:extLst>
            </p:cNvPr>
            <p:cNvSpPr/>
            <p:nvPr/>
          </p:nvSpPr>
          <p:spPr>
            <a:xfrm>
              <a:off x="2521347" y="3747709"/>
              <a:ext cx="3239287" cy="231151"/>
            </a:xfrm>
            <a:prstGeom prst="rect">
              <a:avLst/>
            </a:prstGeom>
            <a:solidFill>
              <a:srgbClr val="C4474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48" name="직사각형 47">
              <a:extLst>
                <a:ext uri="{FF2B5EF4-FFF2-40B4-BE49-F238E27FC236}">
                  <a16:creationId xmlns:a16="http://schemas.microsoft.com/office/drawing/2014/main" id="{CCD6D9B1-AFCD-A6B7-6C53-12EDF57831D0}"/>
                </a:ext>
              </a:extLst>
            </p:cNvPr>
            <p:cNvSpPr/>
            <p:nvPr/>
          </p:nvSpPr>
          <p:spPr>
            <a:xfrm>
              <a:off x="2521347" y="4246884"/>
              <a:ext cx="1370971" cy="231151"/>
            </a:xfrm>
            <a:prstGeom prst="rect">
              <a:avLst/>
            </a:prstGeom>
            <a:solidFill>
              <a:srgbClr val="C4474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49" name="직사각형 48">
              <a:extLst>
                <a:ext uri="{FF2B5EF4-FFF2-40B4-BE49-F238E27FC236}">
                  <a16:creationId xmlns:a16="http://schemas.microsoft.com/office/drawing/2014/main" id="{5E5B2ACE-9F4C-6FBB-08EE-424D70122D24}"/>
                </a:ext>
              </a:extLst>
            </p:cNvPr>
            <p:cNvSpPr/>
            <p:nvPr/>
          </p:nvSpPr>
          <p:spPr>
            <a:xfrm>
              <a:off x="2521347" y="4710895"/>
              <a:ext cx="1027410" cy="231151"/>
            </a:xfrm>
            <a:prstGeom prst="rect">
              <a:avLst/>
            </a:prstGeom>
            <a:solidFill>
              <a:srgbClr val="C4474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50" name="직사각형 49">
              <a:extLst>
                <a:ext uri="{FF2B5EF4-FFF2-40B4-BE49-F238E27FC236}">
                  <a16:creationId xmlns:a16="http://schemas.microsoft.com/office/drawing/2014/main" id="{F04781D2-A3AC-AA4C-DD1B-DDF20C59B135}"/>
                </a:ext>
              </a:extLst>
            </p:cNvPr>
            <p:cNvSpPr/>
            <p:nvPr/>
          </p:nvSpPr>
          <p:spPr>
            <a:xfrm>
              <a:off x="2521348" y="5186849"/>
              <a:ext cx="513705" cy="231151"/>
            </a:xfrm>
            <a:prstGeom prst="rect">
              <a:avLst/>
            </a:prstGeom>
            <a:solidFill>
              <a:srgbClr val="C4474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dirty="0"/>
            </a:p>
          </p:txBody>
        </p:sp>
        <p:sp>
          <p:nvSpPr>
            <p:cNvPr id="51" name="직사각형 50">
              <a:extLst>
                <a:ext uri="{FF2B5EF4-FFF2-40B4-BE49-F238E27FC236}">
                  <a16:creationId xmlns:a16="http://schemas.microsoft.com/office/drawing/2014/main" id="{A1FFBA42-B37E-D056-EA03-8F99F66D7FE6}"/>
                </a:ext>
              </a:extLst>
            </p:cNvPr>
            <p:cNvSpPr/>
            <p:nvPr/>
          </p:nvSpPr>
          <p:spPr>
            <a:xfrm>
              <a:off x="2521348" y="5652000"/>
              <a:ext cx="513705" cy="231151"/>
            </a:xfrm>
            <a:prstGeom prst="rect">
              <a:avLst/>
            </a:prstGeom>
            <a:solidFill>
              <a:srgbClr val="C4474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dirty="0"/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AE81DFC6-73B4-CEE2-88BA-0A8D8D6966AE}"/>
                </a:ext>
              </a:extLst>
            </p:cNvPr>
            <p:cNvSpPr txBox="1"/>
            <p:nvPr/>
          </p:nvSpPr>
          <p:spPr>
            <a:xfrm>
              <a:off x="6117457" y="2340001"/>
              <a:ext cx="405715" cy="3231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ko-KR" sz="1500" dirty="0">
                  <a:latin typeface="GyeonggiTitleOTF Light" panose="02020403020101020101" pitchFamily="18" charset="-127"/>
                  <a:ea typeface="GyeonggiTitleOTF Light" panose="02020403020101020101" pitchFamily="18" charset="-127"/>
                </a:rPr>
                <a:t>29</a:t>
              </a:r>
              <a:endParaRPr kumimoji="1" lang="ko-KR" altLang="en-US" sz="1500" dirty="0">
                <a:latin typeface="GyeonggiTitleOTF Light" panose="02020403020101020101" pitchFamily="18" charset="-127"/>
                <a:ea typeface="GyeonggiTitleOTF Light" panose="02020403020101020101" pitchFamily="18" charset="-127"/>
              </a:endParaRP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72C9451A-32F2-7476-A756-B8F63713A1C8}"/>
                </a:ext>
              </a:extLst>
            </p:cNvPr>
            <p:cNvSpPr txBox="1"/>
            <p:nvPr/>
          </p:nvSpPr>
          <p:spPr>
            <a:xfrm>
              <a:off x="6117457" y="2776803"/>
              <a:ext cx="446435" cy="3231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ko-KR" sz="1500" dirty="0">
                  <a:latin typeface="GyeonggiTitleOTF Light" panose="02020403020101020101" pitchFamily="18" charset="-127"/>
                  <a:ea typeface="GyeonggiTitleOTF Light" panose="02020403020101020101" pitchFamily="18" charset="-127"/>
                </a:rPr>
                <a:t>29</a:t>
              </a:r>
              <a:endParaRPr kumimoji="1" lang="ko-KR" altLang="en-US" sz="1500" dirty="0">
                <a:latin typeface="GyeonggiTitleOTF Light" panose="02020403020101020101" pitchFamily="18" charset="-127"/>
                <a:ea typeface="GyeonggiTitleOTF Light" panose="02020403020101020101" pitchFamily="18" charset="-127"/>
              </a:endParaRP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8984127B-28B6-1AFD-91DA-747EC71DBFEC}"/>
                </a:ext>
              </a:extLst>
            </p:cNvPr>
            <p:cNvSpPr txBox="1"/>
            <p:nvPr/>
          </p:nvSpPr>
          <p:spPr>
            <a:xfrm>
              <a:off x="5749239" y="3247767"/>
              <a:ext cx="446435" cy="3231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ko-KR" sz="1500" dirty="0">
                  <a:latin typeface="GyeonggiTitleOTF Light" panose="02020403020101020101" pitchFamily="18" charset="-127"/>
                  <a:ea typeface="GyeonggiTitleOTF Light" panose="02020403020101020101" pitchFamily="18" charset="-127"/>
                </a:rPr>
                <a:t>28</a:t>
              </a:r>
              <a:endParaRPr kumimoji="1" lang="ko-KR" altLang="en-US" sz="1500" dirty="0">
                <a:latin typeface="GyeonggiTitleOTF Light" panose="02020403020101020101" pitchFamily="18" charset="-127"/>
                <a:ea typeface="GyeonggiTitleOTF Light" panose="02020403020101020101" pitchFamily="18" charset="-127"/>
              </a:endParaRP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FC766A3F-1230-5316-7A39-AC0D0E4045E5}"/>
                </a:ext>
              </a:extLst>
            </p:cNvPr>
            <p:cNvSpPr txBox="1"/>
            <p:nvPr/>
          </p:nvSpPr>
          <p:spPr>
            <a:xfrm>
              <a:off x="5749239" y="3701701"/>
              <a:ext cx="446435" cy="3231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ko-KR" sz="1500" dirty="0">
                  <a:latin typeface="GyeonggiTitleOTF Light" panose="02020403020101020101" pitchFamily="18" charset="-127"/>
                  <a:ea typeface="GyeonggiTitleOTF Light" panose="02020403020101020101" pitchFamily="18" charset="-127"/>
                </a:rPr>
                <a:t>28</a:t>
              </a:r>
              <a:endParaRPr kumimoji="1" lang="ko-KR" altLang="en-US" sz="1500" dirty="0">
                <a:latin typeface="GyeonggiTitleOTF Light" panose="02020403020101020101" pitchFamily="18" charset="-127"/>
                <a:ea typeface="GyeonggiTitleOTF Light" panose="02020403020101020101" pitchFamily="18" charset="-127"/>
              </a:endParaRP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268D9751-DD90-3BED-9352-A72EB0BACE2E}"/>
                </a:ext>
              </a:extLst>
            </p:cNvPr>
            <p:cNvSpPr txBox="1"/>
            <p:nvPr/>
          </p:nvSpPr>
          <p:spPr>
            <a:xfrm>
              <a:off x="3889686" y="4201369"/>
              <a:ext cx="446435" cy="3231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ko-KR" sz="1500" dirty="0">
                  <a:latin typeface="GyeonggiTitleOTF Light" panose="02020403020101020101" pitchFamily="18" charset="-127"/>
                  <a:ea typeface="GyeonggiTitleOTF Light" panose="02020403020101020101" pitchFamily="18" charset="-127"/>
                </a:rPr>
                <a:t>12</a:t>
              </a:r>
              <a:endParaRPr kumimoji="1" lang="ko-KR" altLang="en-US" sz="1500" dirty="0">
                <a:latin typeface="GyeonggiTitleOTF Light" panose="02020403020101020101" pitchFamily="18" charset="-127"/>
                <a:ea typeface="GyeonggiTitleOTF Light" panose="02020403020101020101" pitchFamily="18" charset="-127"/>
              </a:endParaRP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5A2D373A-D710-2C0A-02D2-E1F1F21298C6}"/>
                </a:ext>
              </a:extLst>
            </p:cNvPr>
            <p:cNvSpPr txBox="1"/>
            <p:nvPr/>
          </p:nvSpPr>
          <p:spPr>
            <a:xfrm>
              <a:off x="3548757" y="4670561"/>
              <a:ext cx="446435" cy="3231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ko-KR" sz="1500" dirty="0">
                  <a:latin typeface="GyeonggiTitleOTF Light" panose="02020403020101020101" pitchFamily="18" charset="-127"/>
                  <a:ea typeface="GyeonggiTitleOTF Light" panose="02020403020101020101" pitchFamily="18" charset="-127"/>
                </a:rPr>
                <a:t>9</a:t>
              </a:r>
              <a:endParaRPr kumimoji="1" lang="ko-KR" altLang="en-US" sz="1500" dirty="0">
                <a:latin typeface="GyeonggiTitleOTF Light" panose="02020403020101020101" pitchFamily="18" charset="-127"/>
                <a:ea typeface="GyeonggiTitleOTF Light" panose="02020403020101020101" pitchFamily="18" charset="-127"/>
              </a:endParaRP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88F10A35-5A0C-6898-2464-C42C4C993E9F}"/>
                </a:ext>
              </a:extLst>
            </p:cNvPr>
            <p:cNvSpPr txBox="1"/>
            <p:nvPr/>
          </p:nvSpPr>
          <p:spPr>
            <a:xfrm>
              <a:off x="3030440" y="5125123"/>
              <a:ext cx="446435" cy="3231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ko-KR" sz="1500" dirty="0">
                  <a:latin typeface="GyeonggiTitleOTF Light" panose="02020403020101020101" pitchFamily="18" charset="-127"/>
                  <a:ea typeface="GyeonggiTitleOTF Light" panose="02020403020101020101" pitchFamily="18" charset="-127"/>
                </a:rPr>
                <a:t>4</a:t>
              </a:r>
              <a:endParaRPr kumimoji="1" lang="ko-KR" altLang="en-US" sz="1500" dirty="0">
                <a:latin typeface="GyeonggiTitleOTF Light" panose="02020403020101020101" pitchFamily="18" charset="-127"/>
                <a:ea typeface="GyeonggiTitleOTF Light" panose="02020403020101020101" pitchFamily="18" charset="-127"/>
              </a:endParaRP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0EE0231F-049A-D29E-FECE-67AF92CA1CB8}"/>
                </a:ext>
              </a:extLst>
            </p:cNvPr>
            <p:cNvSpPr txBox="1"/>
            <p:nvPr/>
          </p:nvSpPr>
          <p:spPr>
            <a:xfrm>
              <a:off x="3025462" y="5593123"/>
              <a:ext cx="446435" cy="3231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ko-KR" sz="1500" dirty="0">
                  <a:latin typeface="GyeonggiTitleOTF Light" panose="02020403020101020101" pitchFamily="18" charset="-127"/>
                  <a:ea typeface="GyeonggiTitleOTF Light" panose="02020403020101020101" pitchFamily="18" charset="-127"/>
                </a:rPr>
                <a:t>4</a:t>
              </a:r>
              <a:endParaRPr kumimoji="1" lang="ko-KR" altLang="en-US" sz="1500" dirty="0">
                <a:latin typeface="GyeonggiTitleOTF Light" panose="02020403020101020101" pitchFamily="18" charset="-127"/>
                <a:ea typeface="GyeonggiTitleOTF Light" panose="02020403020101020101" pitchFamily="18" charset="-127"/>
              </a:endParaRPr>
            </a:p>
          </p:txBody>
        </p:sp>
      </p:grpSp>
      <p:sp>
        <p:nvSpPr>
          <p:cNvPr id="60" name="TextBox 59">
            <a:extLst>
              <a:ext uri="{FF2B5EF4-FFF2-40B4-BE49-F238E27FC236}">
                <a16:creationId xmlns:a16="http://schemas.microsoft.com/office/drawing/2014/main" id="{7BCF75A7-E544-9E86-1660-3F7E5D802A13}"/>
              </a:ext>
            </a:extLst>
          </p:cNvPr>
          <p:cNvSpPr txBox="1"/>
          <p:nvPr/>
        </p:nvSpPr>
        <p:spPr>
          <a:xfrm>
            <a:off x="7192729" y="2397375"/>
            <a:ext cx="30362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R" altLang="en-US" dirty="0">
                <a:latin typeface="GyeonggiTitleVOTF Bold" panose="02020803020101020101" pitchFamily="18" charset="-127"/>
                <a:ea typeface="GyeonggiTitleVOTF Bold" panose="02020803020101020101" pitchFamily="18" charset="-127"/>
              </a:rPr>
              <a:t> </a:t>
            </a:r>
            <a:r>
              <a:rPr kumimoji="1" lang="ko-KR" altLang="en-US" dirty="0">
                <a:solidFill>
                  <a:srgbClr val="FF0000"/>
                </a:solidFill>
                <a:latin typeface="GyeonggiTitleVOTF Bold" panose="02020803020101020101" pitchFamily="18" charset="-127"/>
                <a:ea typeface="GyeonggiTitleVOTF Bold" panose="02020803020101020101" pitchFamily="18" charset="-127"/>
              </a:rPr>
              <a:t>공덱</a:t>
            </a:r>
            <a:r>
              <a:rPr kumimoji="1" lang="ko-KR" altLang="en-US" dirty="0">
                <a:latin typeface="GyeonggiTitleVOTF Bold" panose="02020803020101020101" pitchFamily="18" charset="-127"/>
                <a:ea typeface="GyeonggiTitleVOTF Bold" panose="02020803020101020101" pitchFamily="18" charset="-127"/>
              </a:rPr>
              <a:t> 유저 중 카일 활용도 </a:t>
            </a:r>
            <a:endParaRPr kumimoji="1" lang="en-US" altLang="ko-KR" dirty="0">
              <a:latin typeface="GyeonggiTitleVOTF Bold" panose="02020803020101020101" pitchFamily="18" charset="-127"/>
              <a:ea typeface="GyeonggiTitleVOTF Bold" panose="02020803020101020101" pitchFamily="18" charset="-127"/>
            </a:endParaRPr>
          </a:p>
          <a:p>
            <a:r>
              <a:rPr kumimoji="1" lang="en-US" altLang="ko-KR" dirty="0">
                <a:latin typeface="GyeonggiTitleOTF Light" panose="02020403020101020101" pitchFamily="18" charset="-127"/>
                <a:ea typeface="GyeonggiTitleOTF Light" panose="02020403020101020101" pitchFamily="18" charset="-127"/>
              </a:rPr>
              <a:t>29</a:t>
            </a:r>
            <a:r>
              <a:rPr kumimoji="1" lang="ko-KR" altLang="en-US" dirty="0">
                <a:latin typeface="GyeonggiTitleOTF Light" panose="02020403020101020101" pitchFamily="18" charset="-127"/>
                <a:ea typeface="GyeonggiTitleOTF Light" panose="02020403020101020101" pitchFamily="18" charset="-127"/>
              </a:rPr>
              <a:t>명 </a:t>
            </a:r>
            <a:r>
              <a:rPr kumimoji="1" lang="en-US" altLang="ko-KR" dirty="0">
                <a:latin typeface="GyeonggiTitleOTF Light" panose="02020403020101020101" pitchFamily="18" charset="-127"/>
                <a:ea typeface="GyeonggiTitleOTF Light" panose="02020403020101020101" pitchFamily="18" charset="-127"/>
              </a:rPr>
              <a:t>(100%) </a:t>
            </a:r>
            <a:r>
              <a:rPr kumimoji="1" lang="ko-KR" altLang="en-US" b="1" dirty="0">
                <a:latin typeface="GyeonggiTitleOTF Light" panose="02020403020101020101" pitchFamily="18" charset="-127"/>
                <a:ea typeface="GyeonggiTitleOTF Light" panose="02020403020101020101" pitchFamily="18" charset="-127"/>
              </a:rPr>
              <a:t>활용 중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CD267DDA-FF3D-DBF9-0FD3-3B462BEF8ACD}"/>
              </a:ext>
            </a:extLst>
          </p:cNvPr>
          <p:cNvSpPr txBox="1"/>
          <p:nvPr/>
        </p:nvSpPr>
        <p:spPr>
          <a:xfrm>
            <a:off x="7187731" y="3261282"/>
            <a:ext cx="303628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R" altLang="en-US" dirty="0">
                <a:latin typeface="GyeonggiTitleVOTF Bold" panose="02020803020101020101" pitchFamily="18" charset="-127"/>
                <a:ea typeface="GyeonggiTitleVOTF Bold" panose="02020803020101020101" pitchFamily="18" charset="-127"/>
              </a:rPr>
              <a:t> 랭킹별 카일 활용도</a:t>
            </a:r>
            <a:endParaRPr kumimoji="1" lang="en-US" altLang="ko-KR" dirty="0">
              <a:latin typeface="GyeonggiTitleVOTF Bold" panose="02020803020101020101" pitchFamily="18" charset="-127"/>
              <a:ea typeface="GyeonggiTitleVOTF Bold" panose="02020803020101020101" pitchFamily="18" charset="-127"/>
            </a:endParaRPr>
          </a:p>
          <a:p>
            <a:r>
              <a:rPr kumimoji="1" lang="en-US" altLang="ko-KR" dirty="0">
                <a:latin typeface="GyeonggiTitleOTF Light" panose="02020403020101020101" pitchFamily="18" charset="-127"/>
                <a:ea typeface="GyeonggiTitleOTF Light" panose="02020403020101020101" pitchFamily="18" charset="-127"/>
              </a:rPr>
              <a:t> Top 10 :  3/ 10</a:t>
            </a:r>
          </a:p>
          <a:p>
            <a:r>
              <a:rPr kumimoji="1" lang="en-US" altLang="ko-KR" dirty="0">
                <a:latin typeface="GyeonggiTitleOTF Light" panose="02020403020101020101" pitchFamily="18" charset="-127"/>
                <a:ea typeface="GyeonggiTitleOTF Light" panose="02020403020101020101" pitchFamily="18" charset="-127"/>
              </a:rPr>
              <a:t>11 ~ 30 :  15 / 20</a:t>
            </a:r>
          </a:p>
          <a:p>
            <a:r>
              <a:rPr kumimoji="1" lang="en-US" altLang="ko-KR" dirty="0">
                <a:latin typeface="GyeonggiTitleOTF Light" panose="02020403020101020101" pitchFamily="18" charset="-127"/>
                <a:ea typeface="GyeonggiTitleOTF Light" panose="02020403020101020101" pitchFamily="18" charset="-127"/>
              </a:rPr>
              <a:t>31 ~ 50 :  11 / 20</a:t>
            </a:r>
            <a:endParaRPr kumimoji="1" lang="ko-KR" altLang="en-US" dirty="0">
              <a:latin typeface="GyeonggiTitleOTF Light" panose="02020403020101020101" pitchFamily="18" charset="-127"/>
              <a:ea typeface="GyeonggiTitleOTF Light" panose="02020403020101020101" pitchFamily="18" charset="-127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CFF9D3AD-26D3-804F-4C88-2F76ACAF4B45}"/>
              </a:ext>
            </a:extLst>
          </p:cNvPr>
          <p:cNvSpPr txBox="1"/>
          <p:nvPr/>
        </p:nvSpPr>
        <p:spPr>
          <a:xfrm>
            <a:off x="7197637" y="4611373"/>
            <a:ext cx="328546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R" altLang="en-US" dirty="0">
                <a:latin typeface="GyeonggiTitleVOTF Bold" panose="02020803020101020101" pitchFamily="18" charset="-127"/>
                <a:ea typeface="GyeonggiTitleVOTF Bold" panose="02020803020101020101" pitchFamily="18" charset="-127"/>
              </a:rPr>
              <a:t> 메타 결론</a:t>
            </a:r>
            <a:endParaRPr kumimoji="1" lang="en-US" altLang="ko-KR" dirty="0">
              <a:latin typeface="GyeonggiTitleVOTF Bold" panose="02020803020101020101" pitchFamily="18" charset="-127"/>
              <a:ea typeface="GyeonggiTitleVOTF Bold" panose="02020803020101020101" pitchFamily="18" charset="-127"/>
            </a:endParaRPr>
          </a:p>
          <a:p>
            <a:r>
              <a:rPr lang="ko-KR" altLang="en-US" dirty="0">
                <a:latin typeface="GyeonggiTitleOTF Light" panose="02020403020101020101" pitchFamily="18" charset="-127"/>
                <a:ea typeface="GyeonggiTitleOTF Light" panose="02020403020101020101" pitchFamily="18" charset="-127"/>
              </a:rPr>
              <a:t>최상위 </a:t>
            </a:r>
            <a:r>
              <a:rPr lang="ko-KR" altLang="en-US" dirty="0" err="1">
                <a:latin typeface="GyeonggiTitleOTF Light" panose="02020403020101020101" pitchFamily="18" charset="-127"/>
                <a:ea typeface="GyeonggiTitleOTF Light" panose="02020403020101020101" pitchFamily="18" charset="-127"/>
              </a:rPr>
              <a:t>티어의</a:t>
            </a:r>
            <a:r>
              <a:rPr lang="ko-KR" altLang="en-US" dirty="0">
                <a:latin typeface="GyeonggiTitleOTF Light" panose="02020403020101020101" pitchFamily="18" charset="-127"/>
                <a:ea typeface="GyeonggiTitleOTF Light" panose="02020403020101020101" pitchFamily="18" charset="-127"/>
              </a:rPr>
              <a:t> 순위에서의 경쟁력은 조금 떨어지지만 그 이하 </a:t>
            </a:r>
            <a:r>
              <a:rPr lang="ko-KR" altLang="en-US" dirty="0" err="1">
                <a:latin typeface="GyeonggiTitleOTF Light" panose="02020403020101020101" pitchFamily="18" charset="-127"/>
                <a:ea typeface="GyeonggiTitleOTF Light" panose="02020403020101020101" pitchFamily="18" charset="-127"/>
              </a:rPr>
              <a:t>티어에서는</a:t>
            </a:r>
            <a:r>
              <a:rPr lang="ko-KR" altLang="en-US" dirty="0">
                <a:latin typeface="GyeonggiTitleOTF Light" panose="02020403020101020101" pitchFamily="18" charset="-127"/>
                <a:ea typeface="GyeonggiTitleOTF Light" panose="02020403020101020101" pitchFamily="18" charset="-127"/>
              </a:rPr>
              <a:t> 높은 경쟁력을 보여줌</a:t>
            </a:r>
            <a:endParaRPr kumimoji="1" lang="ko-KR" altLang="en-US" dirty="0">
              <a:latin typeface="GyeonggiTitleOTF Light" panose="02020403020101020101" pitchFamily="18" charset="-127"/>
              <a:ea typeface="GyeonggiTitleOTF Light" panose="02020403020101020101" pitchFamily="18" charset="-127"/>
            </a:endParaRPr>
          </a:p>
        </p:txBody>
      </p:sp>
      <p:sp>
        <p:nvSpPr>
          <p:cNvPr id="2048" name="TextBox 2047">
            <a:extLst>
              <a:ext uri="{FF2B5EF4-FFF2-40B4-BE49-F238E27FC236}">
                <a16:creationId xmlns:a16="http://schemas.microsoft.com/office/drawing/2014/main" id="{FA22F30F-61C4-568E-56DE-D04B13047107}"/>
              </a:ext>
            </a:extLst>
          </p:cNvPr>
          <p:cNvSpPr txBox="1"/>
          <p:nvPr/>
        </p:nvSpPr>
        <p:spPr>
          <a:xfrm>
            <a:off x="1556657" y="2327420"/>
            <a:ext cx="50719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ko-KR" altLang="en-US" sz="1000" dirty="0">
                <a:latin typeface="GyeonggiTitleOTF Light" panose="02020403020101020101" pitchFamily="18" charset="-127"/>
                <a:ea typeface="GyeonggiTitleOTF Light" panose="02020403020101020101" pitchFamily="18" charset="-127"/>
              </a:rPr>
              <a:t>카일</a:t>
            </a:r>
          </a:p>
        </p:txBody>
      </p:sp>
      <p:sp>
        <p:nvSpPr>
          <p:cNvPr id="2049" name="TextBox 2048">
            <a:extLst>
              <a:ext uri="{FF2B5EF4-FFF2-40B4-BE49-F238E27FC236}">
                <a16:creationId xmlns:a16="http://schemas.microsoft.com/office/drawing/2014/main" id="{528EEAA8-1697-AAFC-B2B0-67AC0E068D3C}"/>
              </a:ext>
            </a:extLst>
          </p:cNvPr>
          <p:cNvSpPr txBox="1"/>
          <p:nvPr/>
        </p:nvSpPr>
        <p:spPr>
          <a:xfrm>
            <a:off x="1468301" y="2826578"/>
            <a:ext cx="58518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ko-KR" altLang="en-US" sz="1000" dirty="0">
                <a:latin typeface="GyeonggiTitleOTF Light" panose="02020403020101020101" pitchFamily="18" charset="-127"/>
                <a:ea typeface="GyeonggiTitleOTF Light" panose="02020403020101020101" pitchFamily="18" charset="-127"/>
              </a:rPr>
              <a:t>콜트</a:t>
            </a:r>
          </a:p>
        </p:txBody>
      </p:sp>
      <p:sp>
        <p:nvSpPr>
          <p:cNvPr id="2051" name="TextBox 2050">
            <a:extLst>
              <a:ext uri="{FF2B5EF4-FFF2-40B4-BE49-F238E27FC236}">
                <a16:creationId xmlns:a16="http://schemas.microsoft.com/office/drawing/2014/main" id="{9D83CA53-2812-5132-9498-0165F99A4A0B}"/>
              </a:ext>
            </a:extLst>
          </p:cNvPr>
          <p:cNvSpPr txBox="1"/>
          <p:nvPr/>
        </p:nvSpPr>
        <p:spPr>
          <a:xfrm>
            <a:off x="1588458" y="3303814"/>
            <a:ext cx="46741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ko-KR" altLang="en-US" sz="1000" dirty="0">
                <a:latin typeface="GyeonggiTitleOTF Light" panose="02020403020101020101" pitchFamily="18" charset="-127"/>
                <a:ea typeface="GyeonggiTitleOTF Light" panose="02020403020101020101" pitchFamily="18" charset="-127"/>
              </a:rPr>
              <a:t>파이</a:t>
            </a:r>
          </a:p>
        </p:txBody>
      </p:sp>
      <p:sp>
        <p:nvSpPr>
          <p:cNvPr id="2053" name="TextBox 2052">
            <a:extLst>
              <a:ext uri="{FF2B5EF4-FFF2-40B4-BE49-F238E27FC236}">
                <a16:creationId xmlns:a16="http://schemas.microsoft.com/office/drawing/2014/main" id="{8D8827DB-493B-8FB8-CB27-6296A653F56A}"/>
              </a:ext>
            </a:extLst>
          </p:cNvPr>
          <p:cNvSpPr txBox="1"/>
          <p:nvPr/>
        </p:nvSpPr>
        <p:spPr>
          <a:xfrm>
            <a:off x="1473445" y="3740735"/>
            <a:ext cx="58518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ko-KR" altLang="en-US" sz="1000" dirty="0" err="1">
                <a:latin typeface="GyeonggiTitleOTF Light" panose="02020403020101020101" pitchFamily="18" charset="-127"/>
                <a:ea typeface="GyeonggiTitleOTF Light" panose="02020403020101020101" pitchFamily="18" charset="-127"/>
              </a:rPr>
              <a:t>카구라</a:t>
            </a:r>
            <a:endParaRPr kumimoji="1" lang="ko-KR" altLang="en-US" sz="1000" dirty="0">
              <a:latin typeface="GyeonggiTitleOTF Light" panose="02020403020101020101" pitchFamily="18" charset="-127"/>
              <a:ea typeface="GyeonggiTitleOTF Light" panose="02020403020101020101" pitchFamily="18" charset="-127"/>
            </a:endParaRPr>
          </a:p>
        </p:txBody>
      </p:sp>
      <p:sp>
        <p:nvSpPr>
          <p:cNvPr id="2055" name="TextBox 2054">
            <a:extLst>
              <a:ext uri="{FF2B5EF4-FFF2-40B4-BE49-F238E27FC236}">
                <a16:creationId xmlns:a16="http://schemas.microsoft.com/office/drawing/2014/main" id="{E25F2259-C91E-9AB2-5302-41728AE04575}"/>
              </a:ext>
            </a:extLst>
          </p:cNvPr>
          <p:cNvSpPr txBox="1"/>
          <p:nvPr/>
        </p:nvSpPr>
        <p:spPr>
          <a:xfrm>
            <a:off x="1785891" y="4233622"/>
            <a:ext cx="25223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ko-KR" altLang="en-US" sz="1000" dirty="0">
                <a:latin typeface="GyeonggiTitleOTF Light" panose="02020403020101020101" pitchFamily="18" charset="-127"/>
                <a:ea typeface="GyeonggiTitleOTF Light" panose="02020403020101020101" pitchFamily="18" charset="-127"/>
              </a:rPr>
              <a:t>린</a:t>
            </a:r>
          </a:p>
        </p:txBody>
      </p:sp>
      <p:sp>
        <p:nvSpPr>
          <p:cNvPr id="2057" name="TextBox 2056">
            <a:extLst>
              <a:ext uri="{FF2B5EF4-FFF2-40B4-BE49-F238E27FC236}">
                <a16:creationId xmlns:a16="http://schemas.microsoft.com/office/drawing/2014/main" id="{59210843-3FBB-16DF-0A09-D362680867E1}"/>
              </a:ext>
            </a:extLst>
          </p:cNvPr>
          <p:cNvSpPr txBox="1"/>
          <p:nvPr/>
        </p:nvSpPr>
        <p:spPr>
          <a:xfrm>
            <a:off x="1433542" y="4705563"/>
            <a:ext cx="62660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ko-KR" altLang="en-US" sz="1000" dirty="0">
                <a:latin typeface="GyeonggiTitleOTF Light" panose="02020403020101020101" pitchFamily="18" charset="-127"/>
                <a:ea typeface="GyeonggiTitleOTF Light" panose="02020403020101020101" pitchFamily="18" charset="-127"/>
              </a:rPr>
              <a:t>바네사</a:t>
            </a:r>
          </a:p>
        </p:txBody>
      </p:sp>
      <p:sp>
        <p:nvSpPr>
          <p:cNvPr id="2059" name="TextBox 2058">
            <a:extLst>
              <a:ext uri="{FF2B5EF4-FFF2-40B4-BE49-F238E27FC236}">
                <a16:creationId xmlns:a16="http://schemas.microsoft.com/office/drawing/2014/main" id="{7AF9215A-760F-AA11-7092-D4A75331DE55}"/>
              </a:ext>
            </a:extLst>
          </p:cNvPr>
          <p:cNvSpPr txBox="1"/>
          <p:nvPr/>
        </p:nvSpPr>
        <p:spPr>
          <a:xfrm>
            <a:off x="1426021" y="5173588"/>
            <a:ext cx="63143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ko-KR" altLang="en-US" sz="1000" dirty="0" err="1">
                <a:latin typeface="GyeonggiTitleOTF Light" panose="02020403020101020101" pitchFamily="18" charset="-127"/>
                <a:ea typeface="GyeonggiTitleOTF Light" panose="02020403020101020101" pitchFamily="18" charset="-127"/>
              </a:rPr>
              <a:t>아멜리아</a:t>
            </a:r>
            <a:endParaRPr kumimoji="1" lang="ko-KR" altLang="en-US" sz="1000" dirty="0">
              <a:latin typeface="GyeonggiTitleOTF Light" panose="02020403020101020101" pitchFamily="18" charset="-127"/>
              <a:ea typeface="GyeonggiTitleOTF Light" panose="02020403020101020101" pitchFamily="18" charset="-127"/>
            </a:endParaRPr>
          </a:p>
        </p:txBody>
      </p:sp>
      <p:sp>
        <p:nvSpPr>
          <p:cNvPr id="2061" name="TextBox 2060">
            <a:extLst>
              <a:ext uri="{FF2B5EF4-FFF2-40B4-BE49-F238E27FC236}">
                <a16:creationId xmlns:a16="http://schemas.microsoft.com/office/drawing/2014/main" id="{96B54A5F-15EC-F46C-CF57-BE2600C8E62C}"/>
              </a:ext>
            </a:extLst>
          </p:cNvPr>
          <p:cNvSpPr txBox="1"/>
          <p:nvPr/>
        </p:nvSpPr>
        <p:spPr>
          <a:xfrm>
            <a:off x="1426021" y="5631205"/>
            <a:ext cx="6266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ko-KR" altLang="en-US" sz="1000" dirty="0" err="1">
                <a:latin typeface="GyeonggiTitleOTF Light" panose="02020403020101020101" pitchFamily="18" charset="-127"/>
                <a:ea typeface="GyeonggiTitleOTF Light" panose="02020403020101020101" pitchFamily="18" charset="-127"/>
              </a:rPr>
              <a:t>델론즈</a:t>
            </a:r>
            <a:endParaRPr kumimoji="1" lang="ko-KR" altLang="en-US" sz="1000" dirty="0">
              <a:latin typeface="GyeonggiTitleOTF Light" panose="02020403020101020101" pitchFamily="18" charset="-127"/>
              <a:ea typeface="GyeonggiTitleOTF Light" panose="02020403020101020101" pitchFamily="18" charset="-127"/>
            </a:endParaRPr>
          </a:p>
        </p:txBody>
      </p:sp>
      <p:sp>
        <p:nvSpPr>
          <p:cNvPr id="2065" name="직사각형 2064">
            <a:extLst>
              <a:ext uri="{FF2B5EF4-FFF2-40B4-BE49-F238E27FC236}">
                <a16:creationId xmlns:a16="http://schemas.microsoft.com/office/drawing/2014/main" id="{2AE792F1-04B7-3A64-6EC0-96582E906B4A}"/>
              </a:ext>
            </a:extLst>
          </p:cNvPr>
          <p:cNvSpPr/>
          <p:nvPr/>
        </p:nvSpPr>
        <p:spPr>
          <a:xfrm>
            <a:off x="2531618" y="2263608"/>
            <a:ext cx="4394699" cy="435053"/>
          </a:xfrm>
          <a:prstGeom prst="rect">
            <a:avLst/>
          </a:prstGeom>
          <a:noFill/>
          <a:ln w="25400">
            <a:solidFill>
              <a:srgbClr val="1C53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3" name="타원 2">
            <a:extLst>
              <a:ext uri="{FF2B5EF4-FFF2-40B4-BE49-F238E27FC236}">
                <a16:creationId xmlns:a16="http://schemas.microsoft.com/office/drawing/2014/main" id="{2522E0EE-6A10-F5C3-B946-6A30614A0FE7}"/>
              </a:ext>
            </a:extLst>
          </p:cNvPr>
          <p:cNvSpPr>
            <a:spLocks noChangeAspect="1"/>
          </p:cNvSpPr>
          <p:nvPr/>
        </p:nvSpPr>
        <p:spPr>
          <a:xfrm>
            <a:off x="2070656" y="3644552"/>
            <a:ext cx="467420" cy="468000"/>
          </a:xfrm>
          <a:prstGeom prst="ellipse">
            <a:avLst/>
          </a:prstGeom>
          <a:blipFill>
            <a:blip r:embed="rId10"/>
            <a:stretch>
              <a:fillRect/>
            </a:stretch>
          </a:blipFill>
          <a:ln>
            <a:solidFill>
              <a:srgbClr val="C9B48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5C40C509-9797-EE45-F347-06D7B8DE88E0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2124" y="2251658"/>
            <a:ext cx="562969" cy="56296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3A464CD-15AA-FF75-4EF2-95028BF6AEA0}"/>
              </a:ext>
            </a:extLst>
          </p:cNvPr>
          <p:cNvSpPr txBox="1"/>
          <p:nvPr/>
        </p:nvSpPr>
        <p:spPr>
          <a:xfrm>
            <a:off x="5848109" y="6412606"/>
            <a:ext cx="55328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ko-KR" sz="1000" dirty="0">
                <a:latin typeface="GyeonggiTitle Bold" panose="02020803020101020101" pitchFamily="18" charset="-127"/>
                <a:ea typeface="GyeonggiTitle Bold" panose="02020803020101020101" pitchFamily="18" charset="-127"/>
              </a:rPr>
              <a:t>- 11 - </a:t>
            </a:r>
            <a:endParaRPr kumimoji="1" lang="ko-KR" altLang="en-US" sz="1000" dirty="0">
              <a:latin typeface="GyeonggiTitle Bold" panose="02020803020101020101" pitchFamily="18" charset="-127"/>
              <a:ea typeface="GyeonggiTitle Bold" panose="020208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706701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35A9781-106A-A8CB-8F9E-82B49ACEFA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그룹 3">
            <a:extLst>
              <a:ext uri="{FF2B5EF4-FFF2-40B4-BE49-F238E27FC236}">
                <a16:creationId xmlns:a16="http://schemas.microsoft.com/office/drawing/2014/main" id="{B37633C5-87D0-D47F-B431-4A5107DCA8C5}"/>
              </a:ext>
            </a:extLst>
          </p:cNvPr>
          <p:cNvGrpSpPr/>
          <p:nvPr/>
        </p:nvGrpSpPr>
        <p:grpSpPr>
          <a:xfrm>
            <a:off x="0" y="296773"/>
            <a:ext cx="6613628" cy="6590966"/>
            <a:chOff x="1" y="267034"/>
            <a:chExt cx="6613628" cy="6590966"/>
          </a:xfrm>
        </p:grpSpPr>
        <p:pic>
          <p:nvPicPr>
            <p:cNvPr id="75" name="Picture 2" descr="카일(세븐나이츠) - 나무위키">
              <a:extLst>
                <a:ext uri="{FF2B5EF4-FFF2-40B4-BE49-F238E27FC236}">
                  <a16:creationId xmlns:a16="http://schemas.microsoft.com/office/drawing/2014/main" id="{5810DC08-1851-53AB-63F7-06EDFCEABC06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alphaModFix amt="43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4536" b="83061"/>
            <a:stretch>
              <a:fillRect/>
            </a:stretch>
          </p:blipFill>
          <p:spPr bwMode="auto">
            <a:xfrm>
              <a:off x="93839" y="267034"/>
              <a:ext cx="6445895" cy="116170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3" name="그룹 2">
              <a:extLst>
                <a:ext uri="{FF2B5EF4-FFF2-40B4-BE49-F238E27FC236}">
                  <a16:creationId xmlns:a16="http://schemas.microsoft.com/office/drawing/2014/main" id="{06733275-1ADA-E823-478E-5CF8BF7F8563}"/>
                </a:ext>
              </a:extLst>
            </p:cNvPr>
            <p:cNvGrpSpPr/>
            <p:nvPr/>
          </p:nvGrpSpPr>
          <p:grpSpPr>
            <a:xfrm>
              <a:off x="1" y="1427522"/>
              <a:ext cx="6613628" cy="5430478"/>
              <a:chOff x="1" y="1427522"/>
              <a:chExt cx="6613628" cy="5430478"/>
            </a:xfrm>
          </p:grpSpPr>
          <p:pic>
            <p:nvPicPr>
              <p:cNvPr id="2" name="Picture 2" descr="카일(세븐나이츠) - 나무위키">
                <a:extLst>
                  <a:ext uri="{FF2B5EF4-FFF2-40B4-BE49-F238E27FC236}">
                    <a16:creationId xmlns:a16="http://schemas.microsoft.com/office/drawing/2014/main" id="{D6389E70-1EF8-546E-A752-3C51B259BCD4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">
                <a:alphaModFix amt="43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6323" t="16719" b="4097"/>
              <a:stretch>
                <a:fillRect/>
              </a:stretch>
            </p:blipFill>
            <p:spPr bwMode="auto">
              <a:xfrm>
                <a:off x="5568742" y="1427522"/>
                <a:ext cx="1044887" cy="543047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5122" name="Picture 2" descr="카일(세븐나이츠) - 나무위키">
                <a:extLst>
                  <a:ext uri="{FF2B5EF4-FFF2-40B4-BE49-F238E27FC236}">
                    <a16:creationId xmlns:a16="http://schemas.microsoft.com/office/drawing/2014/main" id="{AD19DFDF-F3CC-1AB8-9F71-FD663DDDB472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3293" t="16719" r="13759" b="4097"/>
              <a:stretch>
                <a:fillRect/>
              </a:stretch>
            </p:blipFill>
            <p:spPr bwMode="auto">
              <a:xfrm>
                <a:off x="1" y="1427522"/>
                <a:ext cx="5572718" cy="543047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  <p:grpSp>
        <p:nvGrpSpPr>
          <p:cNvPr id="57" name="그룹 56">
            <a:extLst>
              <a:ext uri="{FF2B5EF4-FFF2-40B4-BE49-F238E27FC236}">
                <a16:creationId xmlns:a16="http://schemas.microsoft.com/office/drawing/2014/main" id="{21FFBBA2-5406-A37D-32FE-0919D0DB2E0E}"/>
              </a:ext>
            </a:extLst>
          </p:cNvPr>
          <p:cNvGrpSpPr/>
          <p:nvPr/>
        </p:nvGrpSpPr>
        <p:grpSpPr>
          <a:xfrm>
            <a:off x="406800" y="4482000"/>
            <a:ext cx="1329289" cy="1968207"/>
            <a:chOff x="1722442" y="1956034"/>
            <a:chExt cx="1329289" cy="1968207"/>
          </a:xfrm>
          <a:effectLst>
            <a:outerShdw blurRad="50800" dist="63500" dir="2700000" algn="ctr" rotWithShape="0">
              <a:srgbClr val="000000">
                <a:alpha val="53000"/>
              </a:srgbClr>
            </a:outerShdw>
          </a:effectLst>
        </p:grpSpPr>
        <p:grpSp>
          <p:nvGrpSpPr>
            <p:cNvPr id="58" name="그룹 57">
              <a:extLst>
                <a:ext uri="{FF2B5EF4-FFF2-40B4-BE49-F238E27FC236}">
                  <a16:creationId xmlns:a16="http://schemas.microsoft.com/office/drawing/2014/main" id="{690B6EDE-1F7D-1C4C-42F9-9E5D6FA2565E}"/>
                </a:ext>
              </a:extLst>
            </p:cNvPr>
            <p:cNvGrpSpPr/>
            <p:nvPr/>
          </p:nvGrpSpPr>
          <p:grpSpPr>
            <a:xfrm>
              <a:off x="1722442" y="1956034"/>
              <a:ext cx="1329289" cy="1968207"/>
              <a:chOff x="2050463" y="2359341"/>
              <a:chExt cx="1664465" cy="2118360"/>
            </a:xfrm>
          </p:grpSpPr>
          <p:sp>
            <p:nvSpPr>
              <p:cNvPr id="63" name="대각선 방향의 모서리가 둥근 사각형 62">
                <a:extLst>
                  <a:ext uri="{FF2B5EF4-FFF2-40B4-BE49-F238E27FC236}">
                    <a16:creationId xmlns:a16="http://schemas.microsoft.com/office/drawing/2014/main" id="{955D83AC-48BE-ED19-7435-0DD1D909341F}"/>
                  </a:ext>
                </a:extLst>
              </p:cNvPr>
              <p:cNvSpPr/>
              <p:nvPr/>
            </p:nvSpPr>
            <p:spPr>
              <a:xfrm>
                <a:off x="2072640" y="2407919"/>
                <a:ext cx="1600200" cy="2042160"/>
              </a:xfrm>
              <a:prstGeom prst="round2DiagRect">
                <a:avLst/>
              </a:prstGeom>
              <a:solidFill>
                <a:srgbClr val="DE9B3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R" altLang="en-US" dirty="0">
                  <a:latin typeface="GyeonggiTitleOTF Light" panose="02020403020101020101" pitchFamily="18" charset="-127"/>
                  <a:ea typeface="GyeonggiTitleOTF Light" panose="02020403020101020101" pitchFamily="18" charset="-127"/>
                </a:endParaRPr>
              </a:p>
            </p:txBody>
          </p:sp>
          <p:grpSp>
            <p:nvGrpSpPr>
              <p:cNvPr id="64" name="그룹 63">
                <a:extLst>
                  <a:ext uri="{FF2B5EF4-FFF2-40B4-BE49-F238E27FC236}">
                    <a16:creationId xmlns:a16="http://schemas.microsoft.com/office/drawing/2014/main" id="{34828CB8-83D1-083A-D656-EB9CFDB0578E}"/>
                  </a:ext>
                </a:extLst>
              </p:cNvPr>
              <p:cNvGrpSpPr/>
              <p:nvPr/>
            </p:nvGrpSpPr>
            <p:grpSpPr>
              <a:xfrm>
                <a:off x="2072640" y="4012086"/>
                <a:ext cx="1600200" cy="437995"/>
                <a:chOff x="2072640" y="4035642"/>
                <a:chExt cx="1600200" cy="414437"/>
              </a:xfrm>
            </p:grpSpPr>
            <p:sp>
              <p:nvSpPr>
                <p:cNvPr id="72" name="대각선 방향의 모서리가 둥근 사각형 71">
                  <a:extLst>
                    <a:ext uri="{FF2B5EF4-FFF2-40B4-BE49-F238E27FC236}">
                      <a16:creationId xmlns:a16="http://schemas.microsoft.com/office/drawing/2014/main" id="{37A72ED8-DB11-DF9C-D0B4-9344E911A231}"/>
                    </a:ext>
                  </a:extLst>
                </p:cNvPr>
                <p:cNvSpPr/>
                <p:nvPr/>
              </p:nvSpPr>
              <p:spPr>
                <a:xfrm>
                  <a:off x="2072640" y="4035643"/>
                  <a:ext cx="1600200" cy="414436"/>
                </a:xfrm>
                <a:prstGeom prst="round2DiagRect">
                  <a:avLst>
                    <a:gd name="adj1" fmla="val 50000"/>
                    <a:gd name="adj2" fmla="val 0"/>
                  </a:avLst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ko-KR" altLang="en-US" dirty="0">
                    <a:latin typeface="GyeonggiTitleOTF Light" panose="02020403020101020101" pitchFamily="18" charset="-127"/>
                    <a:ea typeface="GyeonggiTitleOTF Light" panose="02020403020101020101" pitchFamily="18" charset="-127"/>
                  </a:endParaRPr>
                </a:p>
              </p:txBody>
            </p:sp>
            <p:sp>
              <p:nvSpPr>
                <p:cNvPr id="73" name="대각선 방향의 모서리가 둥근 사각형 72">
                  <a:extLst>
                    <a:ext uri="{FF2B5EF4-FFF2-40B4-BE49-F238E27FC236}">
                      <a16:creationId xmlns:a16="http://schemas.microsoft.com/office/drawing/2014/main" id="{CD4C3CC9-A799-320D-D5D7-D0354A0DA5B2}"/>
                    </a:ext>
                  </a:extLst>
                </p:cNvPr>
                <p:cNvSpPr/>
                <p:nvPr/>
              </p:nvSpPr>
              <p:spPr>
                <a:xfrm>
                  <a:off x="2072640" y="4035642"/>
                  <a:ext cx="630808" cy="405737"/>
                </a:xfrm>
                <a:prstGeom prst="round2DiagRect">
                  <a:avLst>
                    <a:gd name="adj1" fmla="val 0"/>
                    <a:gd name="adj2" fmla="val 0"/>
                  </a:avLst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ko-KR" altLang="en-US" dirty="0">
                    <a:latin typeface="GyeonggiTitleOTF Light" panose="02020403020101020101" pitchFamily="18" charset="-127"/>
                    <a:ea typeface="GyeonggiTitleOTF Light" panose="02020403020101020101" pitchFamily="18" charset="-127"/>
                  </a:endParaRPr>
                </a:p>
              </p:txBody>
            </p:sp>
          </p:grpSp>
          <p:sp>
            <p:nvSpPr>
              <p:cNvPr id="70" name="대각선 방향의 모서리가 둥근 사각형 69">
                <a:extLst>
                  <a:ext uri="{FF2B5EF4-FFF2-40B4-BE49-F238E27FC236}">
                    <a16:creationId xmlns:a16="http://schemas.microsoft.com/office/drawing/2014/main" id="{543D1F02-6904-4F0A-2B65-C7C6995A7B9F}"/>
                  </a:ext>
                </a:extLst>
              </p:cNvPr>
              <p:cNvSpPr/>
              <p:nvPr/>
            </p:nvSpPr>
            <p:spPr>
              <a:xfrm>
                <a:off x="2050463" y="2380297"/>
                <a:ext cx="1652055" cy="2097404"/>
              </a:xfrm>
              <a:prstGeom prst="round2DiagRect">
                <a:avLst>
                  <a:gd name="adj1" fmla="val 16667"/>
                  <a:gd name="adj2" fmla="val 0"/>
                </a:avLst>
              </a:prstGeom>
              <a:noFill/>
              <a:ln>
                <a:solidFill>
                  <a:srgbClr val="FFFFED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R" altLang="en-US" dirty="0">
                  <a:latin typeface="GyeonggiTitleOTF Light" panose="02020403020101020101" pitchFamily="18" charset="-127"/>
                  <a:ea typeface="GyeonggiTitleOTF Light" panose="02020403020101020101" pitchFamily="18" charset="-127"/>
                </a:endParaRPr>
              </a:p>
            </p:txBody>
          </p:sp>
          <p:pic>
            <p:nvPicPr>
              <p:cNvPr id="71" name="그림 70" descr="스크린샷, 예술, 마룬, 어둠이(가) 표시된 사진&#10;&#10;AI 생성 콘텐츠는 정확하지 않을 수 있습니다.">
                <a:extLst>
                  <a:ext uri="{FF2B5EF4-FFF2-40B4-BE49-F238E27FC236}">
                    <a16:creationId xmlns:a16="http://schemas.microsoft.com/office/drawing/2014/main" id="{A149177B-67C2-D831-4279-0FC40DCC1AC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800528" y="2359341"/>
                <a:ext cx="914400" cy="812800"/>
              </a:xfrm>
              <a:prstGeom prst="rect">
                <a:avLst/>
              </a:prstGeom>
            </p:spPr>
          </p:pic>
        </p:grp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27720D6F-883C-3ED2-BCEC-C3FA730643ED}"/>
                </a:ext>
              </a:extLst>
            </p:cNvPr>
            <p:cNvSpPr txBox="1"/>
            <p:nvPr/>
          </p:nvSpPr>
          <p:spPr>
            <a:xfrm>
              <a:off x="1948544" y="3522061"/>
              <a:ext cx="81135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ko-KR" altLang="en-US" sz="1400" dirty="0">
                  <a:solidFill>
                    <a:schemeClr val="bg1"/>
                  </a:solidFill>
                  <a:latin typeface="GyeonggiTitleOTF Light" panose="02020403020101020101" pitchFamily="18" charset="-127"/>
                  <a:ea typeface="GyeonggiTitleOTF Light" panose="02020403020101020101" pitchFamily="18" charset="-127"/>
                </a:rPr>
                <a:t>카일</a:t>
              </a:r>
            </a:p>
          </p:txBody>
        </p:sp>
        <p:pic>
          <p:nvPicPr>
            <p:cNvPr id="60" name="Picture 2">
              <a:extLst>
                <a:ext uri="{FF2B5EF4-FFF2-40B4-BE49-F238E27FC236}">
                  <a16:creationId xmlns:a16="http://schemas.microsoft.com/office/drawing/2014/main" id="{B6270141-C35F-7D58-F4FC-B2AA8486F20A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387" t="1838" r="9697"/>
            <a:stretch>
              <a:fillRect/>
            </a:stretch>
          </p:blipFill>
          <p:spPr bwMode="auto">
            <a:xfrm>
              <a:off x="1745953" y="2014042"/>
              <a:ext cx="1267334" cy="147758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1" name="그림 60">
              <a:extLst>
                <a:ext uri="{FF2B5EF4-FFF2-40B4-BE49-F238E27FC236}">
                  <a16:creationId xmlns:a16="http://schemas.microsoft.com/office/drawing/2014/main" id="{F6FE38C9-8B33-9FC3-153D-B5F0754DADEF}"/>
                </a:ext>
              </a:extLst>
            </p:cNvPr>
            <p:cNvPicPr>
              <a:picLocks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40151" y="3197836"/>
              <a:ext cx="288000" cy="288000"/>
            </a:xfrm>
            <a:prstGeom prst="rect">
              <a:avLst/>
            </a:prstGeom>
          </p:spPr>
        </p:pic>
      </p:grp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C4E799BE-FA9B-4C40-35CB-D04D6ACFDC06}"/>
              </a:ext>
            </a:extLst>
          </p:cNvPr>
          <p:cNvGrpSpPr/>
          <p:nvPr/>
        </p:nvGrpSpPr>
        <p:grpSpPr>
          <a:xfrm>
            <a:off x="5468400" y="1807200"/>
            <a:ext cx="625988" cy="1909659"/>
            <a:chOff x="5466137" y="1810951"/>
            <a:chExt cx="625988" cy="1909659"/>
          </a:xfrm>
        </p:grpSpPr>
        <p:grpSp>
          <p:nvGrpSpPr>
            <p:cNvPr id="13" name="그룹 12">
              <a:extLst>
                <a:ext uri="{FF2B5EF4-FFF2-40B4-BE49-F238E27FC236}">
                  <a16:creationId xmlns:a16="http://schemas.microsoft.com/office/drawing/2014/main" id="{47EAA655-F1E2-AA27-ECA6-77657553FDAD}"/>
                </a:ext>
              </a:extLst>
            </p:cNvPr>
            <p:cNvGrpSpPr/>
            <p:nvPr/>
          </p:nvGrpSpPr>
          <p:grpSpPr>
            <a:xfrm>
              <a:off x="5466137" y="3146578"/>
              <a:ext cx="612725" cy="574032"/>
              <a:chOff x="3101989" y="3578789"/>
              <a:chExt cx="612725" cy="574032"/>
            </a:xfrm>
          </p:grpSpPr>
          <p:grpSp>
            <p:nvGrpSpPr>
              <p:cNvPr id="16" name="그룹 15">
                <a:extLst>
                  <a:ext uri="{FF2B5EF4-FFF2-40B4-BE49-F238E27FC236}">
                    <a16:creationId xmlns:a16="http://schemas.microsoft.com/office/drawing/2014/main" id="{AC43CED1-BE53-A149-5DB2-92AE3592B7A6}"/>
                  </a:ext>
                </a:extLst>
              </p:cNvPr>
              <p:cNvGrpSpPr/>
              <p:nvPr/>
            </p:nvGrpSpPr>
            <p:grpSpPr>
              <a:xfrm>
                <a:off x="3155648" y="3578789"/>
                <a:ext cx="552813" cy="540000"/>
                <a:chOff x="3161901" y="3580753"/>
                <a:chExt cx="552813" cy="540000"/>
              </a:xfrm>
            </p:grpSpPr>
            <p:sp>
              <p:nvSpPr>
                <p:cNvPr id="22" name="대각선 방향의 모서리가 둥근 사각형 21">
                  <a:extLst>
                    <a:ext uri="{FF2B5EF4-FFF2-40B4-BE49-F238E27FC236}">
                      <a16:creationId xmlns:a16="http://schemas.microsoft.com/office/drawing/2014/main" id="{84590FDC-2841-274B-06F9-11AF2AD083F1}"/>
                    </a:ext>
                  </a:extLst>
                </p:cNvPr>
                <p:cNvSpPr/>
                <p:nvPr/>
              </p:nvSpPr>
              <p:spPr>
                <a:xfrm>
                  <a:off x="3168308" y="3580753"/>
                  <a:ext cx="540000" cy="540000"/>
                </a:xfrm>
                <a:prstGeom prst="round2Diag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ko-KR" altLang="en-US" dirty="0">
                    <a:latin typeface="GyeonggiTitleOTF Light" panose="02020403020101020101" pitchFamily="18" charset="-127"/>
                    <a:ea typeface="GyeonggiTitleOTF Light" panose="02020403020101020101" pitchFamily="18" charset="-127"/>
                  </a:endParaRPr>
                </a:p>
              </p:txBody>
            </p:sp>
            <p:sp>
              <p:nvSpPr>
                <p:cNvPr id="23" name="대각선 방향의 모서리가 둥근 사각형 22">
                  <a:extLst>
                    <a:ext uri="{FF2B5EF4-FFF2-40B4-BE49-F238E27FC236}">
                      <a16:creationId xmlns:a16="http://schemas.microsoft.com/office/drawing/2014/main" id="{86A96724-77D3-1EC1-A2E8-C01F52A2D86C}"/>
                    </a:ext>
                  </a:extLst>
                </p:cNvPr>
                <p:cNvSpPr/>
                <p:nvPr/>
              </p:nvSpPr>
              <p:spPr>
                <a:xfrm>
                  <a:off x="3161901" y="3965034"/>
                  <a:ext cx="552813" cy="154970"/>
                </a:xfrm>
                <a:prstGeom prst="round2DiagRect">
                  <a:avLst>
                    <a:gd name="adj1" fmla="val 50000"/>
                    <a:gd name="adj2" fmla="val 12510"/>
                  </a:avLst>
                </a:prstGeom>
                <a:solidFill>
                  <a:srgbClr val="C00000">
                    <a:alpha val="53045"/>
                  </a:srgbClr>
                </a:solidFill>
                <a:ln w="19050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ko-KR" altLang="en-US">
                    <a:latin typeface="GyeonggiTitleOTF Light" panose="02020403020101020101" pitchFamily="18" charset="-127"/>
                    <a:ea typeface="GyeonggiTitleOTF Light" panose="02020403020101020101" pitchFamily="18" charset="-127"/>
                  </a:endParaRPr>
                </a:p>
              </p:txBody>
            </p:sp>
          </p:grpSp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8EC11CD3-6681-965E-FE0A-DBE8B8A05A71}"/>
                  </a:ext>
                </a:extLst>
              </p:cNvPr>
              <p:cNvSpPr txBox="1"/>
              <p:nvPr/>
            </p:nvSpPr>
            <p:spPr>
              <a:xfrm>
                <a:off x="3101989" y="3937377"/>
                <a:ext cx="612725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ko-KR" altLang="en-US" sz="800" dirty="0">
                    <a:solidFill>
                      <a:schemeClr val="bg1"/>
                    </a:solidFill>
                    <a:latin typeface="GyeonggiTitleOTF Light" panose="02020403020101020101" pitchFamily="18" charset="-127"/>
                    <a:ea typeface="GyeonggiTitleOTF Light" panose="02020403020101020101" pitchFamily="18" charset="-127"/>
                  </a:rPr>
                  <a:t>기본공격</a:t>
                </a:r>
              </a:p>
            </p:txBody>
          </p:sp>
        </p:grpSp>
        <p:grpSp>
          <p:nvGrpSpPr>
            <p:cNvPr id="24" name="그룹 23">
              <a:extLst>
                <a:ext uri="{FF2B5EF4-FFF2-40B4-BE49-F238E27FC236}">
                  <a16:creationId xmlns:a16="http://schemas.microsoft.com/office/drawing/2014/main" id="{B4EF84C7-946F-13B1-9780-031519873E1C}"/>
                </a:ext>
              </a:extLst>
            </p:cNvPr>
            <p:cNvGrpSpPr/>
            <p:nvPr/>
          </p:nvGrpSpPr>
          <p:grpSpPr>
            <a:xfrm>
              <a:off x="5493269" y="2477987"/>
              <a:ext cx="589892" cy="576293"/>
              <a:chOff x="2066826" y="2300170"/>
              <a:chExt cx="589892" cy="576293"/>
            </a:xfrm>
          </p:grpSpPr>
          <p:sp>
            <p:nvSpPr>
              <p:cNvPr id="25" name="대각선 방향의 모서리가 둥근 사각형 24">
                <a:extLst>
                  <a:ext uri="{FF2B5EF4-FFF2-40B4-BE49-F238E27FC236}">
                    <a16:creationId xmlns:a16="http://schemas.microsoft.com/office/drawing/2014/main" id="{C09CF0F5-75A5-E0A9-B058-CAA0CA17450C}"/>
                  </a:ext>
                </a:extLst>
              </p:cNvPr>
              <p:cNvSpPr/>
              <p:nvPr/>
            </p:nvSpPr>
            <p:spPr>
              <a:xfrm>
                <a:off x="2110312" y="2300170"/>
                <a:ext cx="540000" cy="540000"/>
              </a:xfrm>
              <a:prstGeom prst="round2Diag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R" altLang="en-US" dirty="0">
                  <a:latin typeface="GyeonggiTitleOTF Light" panose="02020403020101020101" pitchFamily="18" charset="-127"/>
                  <a:ea typeface="GyeonggiTitleOTF Light" panose="02020403020101020101" pitchFamily="18" charset="-127"/>
                </a:endParaRPr>
              </a:p>
            </p:txBody>
          </p:sp>
          <p:sp>
            <p:nvSpPr>
              <p:cNvPr id="26" name="대각선 방향의 모서리가 둥근 사각형 25">
                <a:extLst>
                  <a:ext uri="{FF2B5EF4-FFF2-40B4-BE49-F238E27FC236}">
                    <a16:creationId xmlns:a16="http://schemas.microsoft.com/office/drawing/2014/main" id="{58AE3130-68F0-571E-C4E3-3E48D71614C8}"/>
                  </a:ext>
                </a:extLst>
              </p:cNvPr>
              <p:cNvSpPr/>
              <p:nvPr/>
            </p:nvSpPr>
            <p:spPr>
              <a:xfrm>
                <a:off x="2103905" y="2685203"/>
                <a:ext cx="552813" cy="154970"/>
              </a:xfrm>
              <a:prstGeom prst="round2DiagRect">
                <a:avLst>
                  <a:gd name="adj1" fmla="val 50000"/>
                  <a:gd name="adj2" fmla="val 12510"/>
                </a:avLst>
              </a:prstGeom>
              <a:solidFill>
                <a:srgbClr val="C00000">
                  <a:alpha val="53045"/>
                </a:srgbClr>
              </a:solidFill>
              <a:ln w="190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R" altLang="en-US" dirty="0">
                  <a:latin typeface="GyeonggiTitleOTF Light" panose="02020403020101020101" pitchFamily="18" charset="-127"/>
                  <a:ea typeface="GyeonggiTitleOTF Light" panose="02020403020101020101" pitchFamily="18" charset="-127"/>
                </a:endParaRPr>
              </a:p>
            </p:txBody>
          </p:sp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08ADC19B-C156-1352-DE18-3FBC5112D426}"/>
                  </a:ext>
                </a:extLst>
              </p:cNvPr>
              <p:cNvSpPr txBox="1"/>
              <p:nvPr/>
            </p:nvSpPr>
            <p:spPr>
              <a:xfrm>
                <a:off x="2066826" y="2661019"/>
                <a:ext cx="446690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ko-KR" altLang="en-US" sz="800" dirty="0">
                    <a:solidFill>
                      <a:schemeClr val="bg1"/>
                    </a:solidFill>
                    <a:latin typeface="GyeonggiTitleOTF Light" panose="02020403020101020101" pitchFamily="18" charset="-127"/>
                    <a:ea typeface="GyeonggiTitleOTF Light" panose="02020403020101020101" pitchFamily="18" charset="-127"/>
                  </a:rPr>
                  <a:t>스킬</a:t>
                </a:r>
                <a:r>
                  <a:rPr kumimoji="1" lang="en-US" altLang="ko-KR" sz="800" dirty="0">
                    <a:solidFill>
                      <a:schemeClr val="bg1"/>
                    </a:solidFill>
                    <a:latin typeface="GyeonggiTitleOTF Light" panose="02020403020101020101" pitchFamily="18" charset="-127"/>
                    <a:ea typeface="GyeonggiTitleOTF Light" panose="02020403020101020101" pitchFamily="18" charset="-127"/>
                  </a:rPr>
                  <a:t>1</a:t>
                </a:r>
                <a:endParaRPr kumimoji="1" lang="ko-KR" altLang="en-US" sz="800" dirty="0">
                  <a:solidFill>
                    <a:schemeClr val="bg1"/>
                  </a:solidFill>
                  <a:latin typeface="GyeonggiTitleOTF Light" panose="02020403020101020101" pitchFamily="18" charset="-127"/>
                  <a:ea typeface="GyeonggiTitleOTF Light" panose="02020403020101020101" pitchFamily="18" charset="-127"/>
                </a:endParaRPr>
              </a:p>
            </p:txBody>
          </p:sp>
        </p:grpSp>
        <p:grpSp>
          <p:nvGrpSpPr>
            <p:cNvPr id="28" name="그룹 27">
              <a:extLst>
                <a:ext uri="{FF2B5EF4-FFF2-40B4-BE49-F238E27FC236}">
                  <a16:creationId xmlns:a16="http://schemas.microsoft.com/office/drawing/2014/main" id="{73DE84A4-7FC5-6AAF-E557-1FCB876A5468}"/>
                </a:ext>
              </a:extLst>
            </p:cNvPr>
            <p:cNvGrpSpPr/>
            <p:nvPr/>
          </p:nvGrpSpPr>
          <p:grpSpPr>
            <a:xfrm>
              <a:off x="5466137" y="1810951"/>
              <a:ext cx="625988" cy="588965"/>
              <a:chOff x="2025726" y="1669079"/>
              <a:chExt cx="625988" cy="588965"/>
            </a:xfrm>
          </p:grpSpPr>
          <p:sp>
            <p:nvSpPr>
              <p:cNvPr id="29" name="대각선 방향의 모서리가 둥근 사각형 28">
                <a:extLst>
                  <a:ext uri="{FF2B5EF4-FFF2-40B4-BE49-F238E27FC236}">
                    <a16:creationId xmlns:a16="http://schemas.microsoft.com/office/drawing/2014/main" id="{2A1AC40F-55B2-FDBF-94FD-DBCC0EB57DE9}"/>
                  </a:ext>
                </a:extLst>
              </p:cNvPr>
              <p:cNvSpPr/>
              <p:nvPr/>
            </p:nvSpPr>
            <p:spPr>
              <a:xfrm>
                <a:off x="2105308" y="1669079"/>
                <a:ext cx="540000" cy="540000"/>
              </a:xfrm>
              <a:prstGeom prst="round2DiagRect">
                <a:avLst>
                  <a:gd name="adj1" fmla="val 16667"/>
                  <a:gd name="adj2" fmla="val 0"/>
                </a:avLst>
              </a:prstGeom>
              <a:blipFill>
                <a:blip r:embed="rId9"/>
                <a:stretch>
                  <a:fillRect/>
                </a:stretch>
              </a:blip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R" altLang="en-US" dirty="0">
                  <a:latin typeface="GyeonggiTitleOTF Light" panose="02020403020101020101" pitchFamily="18" charset="-127"/>
                  <a:ea typeface="GyeonggiTitleOTF Light" panose="02020403020101020101" pitchFamily="18" charset="-127"/>
                </a:endParaRPr>
              </a:p>
            </p:txBody>
          </p:sp>
          <p:sp>
            <p:nvSpPr>
              <p:cNvPr id="30" name="대각선 방향의 모서리가 둥근 사각형 29">
                <a:extLst>
                  <a:ext uri="{FF2B5EF4-FFF2-40B4-BE49-F238E27FC236}">
                    <a16:creationId xmlns:a16="http://schemas.microsoft.com/office/drawing/2014/main" id="{262A7533-6E24-7908-56DA-ADE6004EE37A}"/>
                  </a:ext>
                </a:extLst>
              </p:cNvPr>
              <p:cNvSpPr/>
              <p:nvPr/>
            </p:nvSpPr>
            <p:spPr>
              <a:xfrm>
                <a:off x="2098901" y="2062919"/>
                <a:ext cx="552813" cy="154970"/>
              </a:xfrm>
              <a:prstGeom prst="round2DiagRect">
                <a:avLst>
                  <a:gd name="adj1" fmla="val 50000"/>
                  <a:gd name="adj2" fmla="val 12510"/>
                </a:avLst>
              </a:prstGeom>
              <a:solidFill>
                <a:srgbClr val="C00000">
                  <a:alpha val="52941"/>
                </a:srgbClr>
              </a:solidFill>
              <a:ln w="190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R" altLang="en-US" dirty="0">
                  <a:latin typeface="GyeonggiTitleOTF Light" panose="02020403020101020101" pitchFamily="18" charset="-127"/>
                  <a:ea typeface="GyeonggiTitleOTF Light" panose="02020403020101020101" pitchFamily="18" charset="-127"/>
                </a:endParaRPr>
              </a:p>
            </p:txBody>
          </p:sp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2124D323-11AB-72CC-69F9-0370591DB275}"/>
                  </a:ext>
                </a:extLst>
              </p:cNvPr>
              <p:cNvSpPr txBox="1"/>
              <p:nvPr/>
            </p:nvSpPr>
            <p:spPr>
              <a:xfrm>
                <a:off x="2025726" y="2042600"/>
                <a:ext cx="523974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ko-KR" altLang="en-US" sz="800" dirty="0">
                    <a:solidFill>
                      <a:schemeClr val="bg1"/>
                    </a:solidFill>
                    <a:latin typeface="GyeonggiTitleOTF Light" panose="02020403020101020101" pitchFamily="18" charset="-127"/>
                    <a:ea typeface="GyeonggiTitleOTF Light" panose="02020403020101020101" pitchFamily="18" charset="-127"/>
                  </a:rPr>
                  <a:t>패시브</a:t>
                </a:r>
              </a:p>
            </p:txBody>
          </p:sp>
        </p:grpSp>
      </p:grpSp>
      <p:grpSp>
        <p:nvGrpSpPr>
          <p:cNvPr id="46" name="그룹 45">
            <a:extLst>
              <a:ext uri="{FF2B5EF4-FFF2-40B4-BE49-F238E27FC236}">
                <a16:creationId xmlns:a16="http://schemas.microsoft.com/office/drawing/2014/main" id="{06F9FD6C-B059-E147-7888-767676311517}"/>
              </a:ext>
            </a:extLst>
          </p:cNvPr>
          <p:cNvGrpSpPr/>
          <p:nvPr/>
        </p:nvGrpSpPr>
        <p:grpSpPr>
          <a:xfrm>
            <a:off x="6178515" y="1804356"/>
            <a:ext cx="5068910" cy="1877722"/>
            <a:chOff x="3842776" y="1905156"/>
            <a:chExt cx="6657581" cy="1877722"/>
          </a:xfrm>
        </p:grpSpPr>
        <p:sp>
          <p:nvSpPr>
            <p:cNvPr id="47" name="대각선 방향의 모서리가 둥근 사각형 46">
              <a:extLst>
                <a:ext uri="{FF2B5EF4-FFF2-40B4-BE49-F238E27FC236}">
                  <a16:creationId xmlns:a16="http://schemas.microsoft.com/office/drawing/2014/main" id="{5812BF15-B7C5-0244-7AE3-D7ABE7A9D48D}"/>
                </a:ext>
              </a:extLst>
            </p:cNvPr>
            <p:cNvSpPr/>
            <p:nvPr/>
          </p:nvSpPr>
          <p:spPr>
            <a:xfrm>
              <a:off x="3857456" y="1905156"/>
              <a:ext cx="6639725" cy="537365"/>
            </a:xfrm>
            <a:prstGeom prst="round2DiagRect">
              <a:avLst>
                <a:gd name="adj1" fmla="val 16667"/>
                <a:gd name="adj2" fmla="val 0"/>
              </a:avLst>
            </a:prstGeom>
            <a:noFill/>
            <a:ln w="19050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>
                <a:latin typeface="GyeonggiTitleOTF Light" panose="02020403020101020101" pitchFamily="18" charset="-127"/>
                <a:ea typeface="GyeonggiTitleOTF Light" panose="02020403020101020101" pitchFamily="18" charset="-127"/>
              </a:endParaRP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2157B9ED-028F-D249-A056-CE3B32A5F390}"/>
                </a:ext>
              </a:extLst>
            </p:cNvPr>
            <p:cNvSpPr txBox="1"/>
            <p:nvPr/>
          </p:nvSpPr>
          <p:spPr>
            <a:xfrm>
              <a:off x="3842776" y="2007333"/>
              <a:ext cx="556629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ko-KR" altLang="en-US" sz="1600" dirty="0">
                  <a:latin typeface="GyeonggiTitleOTF Light" panose="02020403020101020101" pitchFamily="18" charset="-127"/>
                  <a:ea typeface="GyeonggiTitleOTF Light" panose="02020403020101020101" pitchFamily="18" charset="-127"/>
                </a:rPr>
                <a:t>강자주시 </a:t>
              </a:r>
              <a:r>
                <a:rPr kumimoji="1" lang="en-US" altLang="ko-KR" sz="1600" dirty="0">
                  <a:latin typeface="GyeonggiTitleOTF Light" panose="02020403020101020101" pitchFamily="18" charset="-127"/>
                  <a:ea typeface="GyeonggiTitleOTF Light" panose="02020403020101020101" pitchFamily="18" charset="-127"/>
                </a:rPr>
                <a:t>–</a:t>
              </a:r>
              <a:r>
                <a:rPr kumimoji="1" lang="ko-KR" altLang="en-US" sz="1600" dirty="0">
                  <a:latin typeface="GyeonggiTitleOTF Light" panose="02020403020101020101" pitchFamily="18" charset="-127"/>
                  <a:ea typeface="GyeonggiTitleOTF Light" panose="02020403020101020101" pitchFamily="18" charset="-127"/>
                </a:rPr>
                <a:t> 공격력이 가장 높은 적군 우선 공격</a:t>
              </a:r>
            </a:p>
          </p:txBody>
        </p:sp>
        <p:sp>
          <p:nvSpPr>
            <p:cNvPr id="49" name="대각선 방향의 모서리가 둥근 사각형 48">
              <a:extLst>
                <a:ext uri="{FF2B5EF4-FFF2-40B4-BE49-F238E27FC236}">
                  <a16:creationId xmlns:a16="http://schemas.microsoft.com/office/drawing/2014/main" id="{E6585783-5E17-C5DC-4D54-BC47E63747D0}"/>
                </a:ext>
              </a:extLst>
            </p:cNvPr>
            <p:cNvSpPr/>
            <p:nvPr/>
          </p:nvSpPr>
          <p:spPr>
            <a:xfrm>
              <a:off x="3851705" y="2566552"/>
              <a:ext cx="6639725" cy="540000"/>
            </a:xfrm>
            <a:prstGeom prst="round2DiagRect">
              <a:avLst>
                <a:gd name="adj1" fmla="val 16667"/>
                <a:gd name="adj2" fmla="val 0"/>
              </a:avLst>
            </a:prstGeom>
            <a:noFill/>
            <a:ln w="19050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>
                <a:latin typeface="GyeonggiTitleOTF Light" panose="02020403020101020101" pitchFamily="18" charset="-127"/>
                <a:ea typeface="GyeonggiTitleOTF Light" panose="02020403020101020101" pitchFamily="18" charset="-127"/>
              </a:endParaRP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FB671886-9A31-1210-BF36-3733A7484436}"/>
                </a:ext>
              </a:extLst>
            </p:cNvPr>
            <p:cNvSpPr txBox="1"/>
            <p:nvPr/>
          </p:nvSpPr>
          <p:spPr>
            <a:xfrm>
              <a:off x="3860118" y="2675448"/>
              <a:ext cx="6413224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ko-KR" altLang="en-US" sz="1600" dirty="0">
                  <a:latin typeface="GyeonggiTitleOTF Light" panose="02020403020101020101" pitchFamily="18" charset="-127"/>
                  <a:ea typeface="GyeonggiTitleOTF Light" panose="02020403020101020101" pitchFamily="18" charset="-127"/>
                </a:rPr>
                <a:t>방어무시 </a:t>
              </a:r>
              <a:r>
                <a:rPr kumimoji="1" lang="en-US" altLang="ko-KR" sz="1600" dirty="0">
                  <a:latin typeface="GyeonggiTitleOTF Light" panose="02020403020101020101" pitchFamily="18" charset="-127"/>
                  <a:ea typeface="GyeonggiTitleOTF Light" panose="02020403020101020101" pitchFamily="18" charset="-127"/>
                </a:rPr>
                <a:t>40%,</a:t>
              </a:r>
              <a:r>
                <a:rPr kumimoji="1" lang="ko-KR" altLang="en-US" sz="1600" dirty="0">
                  <a:latin typeface="GyeonggiTitleOTF Light" panose="02020403020101020101" pitchFamily="18" charset="-127"/>
                  <a:ea typeface="GyeonggiTitleOTF Light" panose="02020403020101020101" pitchFamily="18" charset="-127"/>
                </a:rPr>
                <a:t> 최대 생명력의 </a:t>
              </a:r>
              <a:r>
                <a:rPr kumimoji="1" lang="en-US" altLang="ko-KR" sz="1600" dirty="0">
                  <a:latin typeface="GyeonggiTitleOTF Light" panose="02020403020101020101" pitchFamily="18" charset="-127"/>
                  <a:ea typeface="GyeonggiTitleOTF Light" panose="02020403020101020101" pitchFamily="18" charset="-127"/>
                </a:rPr>
                <a:t>10%</a:t>
              </a:r>
              <a:r>
                <a:rPr kumimoji="1" lang="ko-KR" altLang="en-US" sz="1600" dirty="0">
                  <a:latin typeface="GyeonggiTitleOTF Light" panose="02020403020101020101" pitchFamily="18" charset="-127"/>
                  <a:ea typeface="GyeonggiTitleOTF Light" panose="02020403020101020101" pitchFamily="18" charset="-127"/>
                </a:rPr>
                <a:t> 만큼 방어무시 피해 등 </a:t>
              </a:r>
            </a:p>
          </p:txBody>
        </p:sp>
        <p:sp>
          <p:nvSpPr>
            <p:cNvPr id="51" name="대각선 방향의 모서리가 둥근 사각형 50">
              <a:extLst>
                <a:ext uri="{FF2B5EF4-FFF2-40B4-BE49-F238E27FC236}">
                  <a16:creationId xmlns:a16="http://schemas.microsoft.com/office/drawing/2014/main" id="{52CFCEC2-D146-0E8C-1738-287AF630D467}"/>
                </a:ext>
              </a:extLst>
            </p:cNvPr>
            <p:cNvSpPr/>
            <p:nvPr/>
          </p:nvSpPr>
          <p:spPr>
            <a:xfrm>
              <a:off x="3842776" y="3242878"/>
              <a:ext cx="6657581" cy="540000"/>
            </a:xfrm>
            <a:prstGeom prst="round2DiagRect">
              <a:avLst>
                <a:gd name="adj1" fmla="val 16667"/>
                <a:gd name="adj2" fmla="val 0"/>
              </a:avLst>
            </a:prstGeom>
            <a:noFill/>
            <a:ln w="19050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>
                <a:latin typeface="GyeonggiTitleOTF Light" panose="02020403020101020101" pitchFamily="18" charset="-127"/>
                <a:ea typeface="GyeonggiTitleOTF Light" panose="02020403020101020101" pitchFamily="18" charset="-127"/>
              </a:endParaRP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33D37B71-FE32-CFEF-9BC1-8C38C51C2C5F}"/>
                </a:ext>
              </a:extLst>
            </p:cNvPr>
            <p:cNvSpPr txBox="1"/>
            <p:nvPr/>
          </p:nvSpPr>
          <p:spPr>
            <a:xfrm>
              <a:off x="3860120" y="3354502"/>
              <a:ext cx="641322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ko-KR" altLang="en-US" sz="1600" dirty="0">
                  <a:latin typeface="GyeonggiTitleOTF Light" panose="02020403020101020101" pitchFamily="18" charset="-127"/>
                  <a:ea typeface="GyeonggiTitleOTF Light" panose="02020403020101020101" pitchFamily="18" charset="-127"/>
                </a:rPr>
                <a:t>기본공격 </a:t>
              </a:r>
              <a:r>
                <a:rPr kumimoji="1" lang="en-US" altLang="ko-KR" sz="1600" dirty="0">
                  <a:latin typeface="GyeonggiTitleOTF Light" panose="02020403020101020101" pitchFamily="18" charset="-127"/>
                  <a:ea typeface="GyeonggiTitleOTF Light" panose="02020403020101020101" pitchFamily="18" charset="-127"/>
                </a:rPr>
                <a:t>2</a:t>
              </a:r>
              <a:r>
                <a:rPr kumimoji="1" lang="ko-KR" altLang="en-US" sz="1600" dirty="0">
                  <a:latin typeface="GyeonggiTitleOTF Light" panose="02020403020101020101" pitchFamily="18" charset="-127"/>
                  <a:ea typeface="GyeonggiTitleOTF Light" panose="02020403020101020101" pitchFamily="18" charset="-127"/>
                </a:rPr>
                <a:t>회 발동 시 공격력 </a:t>
              </a:r>
              <a:r>
                <a:rPr kumimoji="1" lang="en-US" altLang="ko-KR" sz="1600" dirty="0">
                  <a:latin typeface="GyeonggiTitleOTF Light" panose="02020403020101020101" pitchFamily="18" charset="-127"/>
                  <a:ea typeface="GyeonggiTitleOTF Light" panose="02020403020101020101" pitchFamily="18" charset="-127"/>
                </a:rPr>
                <a:t>130%</a:t>
              </a:r>
              <a:r>
                <a:rPr kumimoji="1" lang="ko-KR" altLang="en-US" sz="1600" dirty="0">
                  <a:latin typeface="GyeonggiTitleOTF Light" panose="02020403020101020101" pitchFamily="18" charset="-127"/>
                  <a:ea typeface="GyeonggiTitleOTF Light" panose="02020403020101020101" pitchFamily="18" charset="-127"/>
                </a:rPr>
                <a:t> 만큼 </a:t>
              </a:r>
              <a:r>
                <a:rPr kumimoji="1" lang="en-US" altLang="ko-KR" sz="1600" dirty="0">
                  <a:latin typeface="GyeonggiTitleOTF Light" panose="02020403020101020101" pitchFamily="18" charset="-127"/>
                  <a:ea typeface="GyeonggiTitleOTF Light" panose="02020403020101020101" pitchFamily="18" charset="-127"/>
                </a:rPr>
                <a:t>1</a:t>
              </a:r>
              <a:r>
                <a:rPr kumimoji="1" lang="ko-KR" altLang="en-US" sz="1600" dirty="0">
                  <a:latin typeface="GyeonggiTitleOTF Light" panose="02020403020101020101" pitchFamily="18" charset="-127"/>
                  <a:ea typeface="GyeonggiTitleOTF Light" panose="02020403020101020101" pitchFamily="18" charset="-127"/>
                </a:rPr>
                <a:t>회 추가 공격</a:t>
              </a:r>
            </a:p>
          </p:txBody>
        </p:sp>
      </p:grpSp>
      <p:sp>
        <p:nvSpPr>
          <p:cNvPr id="54" name="모서리가 둥근 직사각형 53">
            <a:extLst>
              <a:ext uri="{FF2B5EF4-FFF2-40B4-BE49-F238E27FC236}">
                <a16:creationId xmlns:a16="http://schemas.microsoft.com/office/drawing/2014/main" id="{6377FD3D-2A48-A54E-A7F3-5B66774B6BC4}"/>
              </a:ext>
            </a:extLst>
          </p:cNvPr>
          <p:cNvSpPr/>
          <p:nvPr/>
        </p:nvSpPr>
        <p:spPr>
          <a:xfrm>
            <a:off x="5588884" y="4075447"/>
            <a:ext cx="5658541" cy="2189535"/>
          </a:xfrm>
          <a:prstGeom prst="roundRect">
            <a:avLst/>
          </a:prstGeom>
          <a:noFill/>
          <a:ln w="38100">
            <a:solidFill>
              <a:srgbClr val="BD3735"/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9268115"/>
                      <a:gd name="connsiteY0" fmla="*/ 300568 h 1803372"/>
                      <a:gd name="connsiteX1" fmla="*/ 300568 w 9268115"/>
                      <a:gd name="connsiteY1" fmla="*/ 0 h 1803372"/>
                      <a:gd name="connsiteX2" fmla="*/ 1140598 w 9268115"/>
                      <a:gd name="connsiteY2" fmla="*/ 0 h 1803372"/>
                      <a:gd name="connsiteX3" fmla="*/ 1720619 w 9268115"/>
                      <a:gd name="connsiteY3" fmla="*/ 0 h 1803372"/>
                      <a:gd name="connsiteX4" fmla="*/ 2213970 w 9268115"/>
                      <a:gd name="connsiteY4" fmla="*/ 0 h 1803372"/>
                      <a:gd name="connsiteX5" fmla="*/ 2967331 w 9268115"/>
                      <a:gd name="connsiteY5" fmla="*/ 0 h 1803372"/>
                      <a:gd name="connsiteX6" fmla="*/ 3547352 w 9268115"/>
                      <a:gd name="connsiteY6" fmla="*/ 0 h 1803372"/>
                      <a:gd name="connsiteX7" fmla="*/ 4387382 w 9268115"/>
                      <a:gd name="connsiteY7" fmla="*/ 0 h 1803372"/>
                      <a:gd name="connsiteX8" fmla="*/ 4880733 w 9268115"/>
                      <a:gd name="connsiteY8" fmla="*/ 0 h 1803372"/>
                      <a:gd name="connsiteX9" fmla="*/ 5720763 w 9268115"/>
                      <a:gd name="connsiteY9" fmla="*/ 0 h 1803372"/>
                      <a:gd name="connsiteX10" fmla="*/ 6127445 w 9268115"/>
                      <a:gd name="connsiteY10" fmla="*/ 0 h 1803372"/>
                      <a:gd name="connsiteX11" fmla="*/ 6794135 w 9268115"/>
                      <a:gd name="connsiteY11" fmla="*/ 0 h 1803372"/>
                      <a:gd name="connsiteX12" fmla="*/ 7460826 w 9268115"/>
                      <a:gd name="connsiteY12" fmla="*/ 0 h 1803372"/>
                      <a:gd name="connsiteX13" fmla="*/ 8040847 w 9268115"/>
                      <a:gd name="connsiteY13" fmla="*/ 0 h 1803372"/>
                      <a:gd name="connsiteX14" fmla="*/ 8967547 w 9268115"/>
                      <a:gd name="connsiteY14" fmla="*/ 0 h 1803372"/>
                      <a:gd name="connsiteX15" fmla="*/ 9268115 w 9268115"/>
                      <a:gd name="connsiteY15" fmla="*/ 300568 h 1803372"/>
                      <a:gd name="connsiteX16" fmla="*/ 9268115 w 9268115"/>
                      <a:gd name="connsiteY16" fmla="*/ 901686 h 1803372"/>
                      <a:gd name="connsiteX17" fmla="*/ 9268115 w 9268115"/>
                      <a:gd name="connsiteY17" fmla="*/ 1502804 h 1803372"/>
                      <a:gd name="connsiteX18" fmla="*/ 8967547 w 9268115"/>
                      <a:gd name="connsiteY18" fmla="*/ 1803372 h 1803372"/>
                      <a:gd name="connsiteX19" fmla="*/ 8560866 w 9268115"/>
                      <a:gd name="connsiteY19" fmla="*/ 1803372 h 1803372"/>
                      <a:gd name="connsiteX20" fmla="*/ 7720835 w 9268115"/>
                      <a:gd name="connsiteY20" fmla="*/ 1803372 h 1803372"/>
                      <a:gd name="connsiteX21" fmla="*/ 7054145 w 9268115"/>
                      <a:gd name="connsiteY21" fmla="*/ 1803372 h 1803372"/>
                      <a:gd name="connsiteX22" fmla="*/ 6560794 w 9268115"/>
                      <a:gd name="connsiteY22" fmla="*/ 1803372 h 1803372"/>
                      <a:gd name="connsiteX23" fmla="*/ 5894103 w 9268115"/>
                      <a:gd name="connsiteY23" fmla="*/ 1803372 h 1803372"/>
                      <a:gd name="connsiteX24" fmla="*/ 5487422 w 9268115"/>
                      <a:gd name="connsiteY24" fmla="*/ 1803372 h 1803372"/>
                      <a:gd name="connsiteX25" fmla="*/ 5080740 w 9268115"/>
                      <a:gd name="connsiteY25" fmla="*/ 1803372 h 1803372"/>
                      <a:gd name="connsiteX26" fmla="*/ 4414050 w 9268115"/>
                      <a:gd name="connsiteY26" fmla="*/ 1803372 h 1803372"/>
                      <a:gd name="connsiteX27" fmla="*/ 3920698 w 9268115"/>
                      <a:gd name="connsiteY27" fmla="*/ 1803372 h 1803372"/>
                      <a:gd name="connsiteX28" fmla="*/ 3167338 w 9268115"/>
                      <a:gd name="connsiteY28" fmla="*/ 1803372 h 1803372"/>
                      <a:gd name="connsiteX29" fmla="*/ 2673987 w 9268115"/>
                      <a:gd name="connsiteY29" fmla="*/ 1803372 h 1803372"/>
                      <a:gd name="connsiteX30" fmla="*/ 1920626 w 9268115"/>
                      <a:gd name="connsiteY30" fmla="*/ 1803372 h 1803372"/>
                      <a:gd name="connsiteX31" fmla="*/ 1513945 w 9268115"/>
                      <a:gd name="connsiteY31" fmla="*/ 1803372 h 1803372"/>
                      <a:gd name="connsiteX32" fmla="*/ 300568 w 9268115"/>
                      <a:gd name="connsiteY32" fmla="*/ 1803372 h 1803372"/>
                      <a:gd name="connsiteX33" fmla="*/ 0 w 9268115"/>
                      <a:gd name="connsiteY33" fmla="*/ 1502804 h 1803372"/>
                      <a:gd name="connsiteX34" fmla="*/ 0 w 9268115"/>
                      <a:gd name="connsiteY34" fmla="*/ 901686 h 1803372"/>
                      <a:gd name="connsiteX35" fmla="*/ 0 w 9268115"/>
                      <a:gd name="connsiteY35" fmla="*/ 300568 h 180337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  <a:cxn ang="0">
                        <a:pos x="connsiteX33" y="connsiteY33"/>
                      </a:cxn>
                      <a:cxn ang="0">
                        <a:pos x="connsiteX34" y="connsiteY34"/>
                      </a:cxn>
                      <a:cxn ang="0">
                        <a:pos x="connsiteX35" y="connsiteY35"/>
                      </a:cxn>
                    </a:cxnLst>
                    <a:rect l="l" t="t" r="r" b="b"/>
                    <a:pathLst>
                      <a:path w="9268115" h="1803372" extrusionOk="0">
                        <a:moveTo>
                          <a:pt x="0" y="300568"/>
                        </a:moveTo>
                        <a:cubicBezTo>
                          <a:pt x="-13663" y="126141"/>
                          <a:pt x="128426" y="2305"/>
                          <a:pt x="300568" y="0"/>
                        </a:cubicBezTo>
                        <a:cubicBezTo>
                          <a:pt x="636996" y="-28771"/>
                          <a:pt x="858322" y="-32844"/>
                          <a:pt x="1140598" y="0"/>
                        </a:cubicBezTo>
                        <a:cubicBezTo>
                          <a:pt x="1422874" y="32844"/>
                          <a:pt x="1508607" y="-23688"/>
                          <a:pt x="1720619" y="0"/>
                        </a:cubicBezTo>
                        <a:cubicBezTo>
                          <a:pt x="1932631" y="23688"/>
                          <a:pt x="2000654" y="-16194"/>
                          <a:pt x="2213970" y="0"/>
                        </a:cubicBezTo>
                        <a:cubicBezTo>
                          <a:pt x="2427286" y="16194"/>
                          <a:pt x="2622592" y="-9473"/>
                          <a:pt x="2967331" y="0"/>
                        </a:cubicBezTo>
                        <a:cubicBezTo>
                          <a:pt x="3312070" y="9473"/>
                          <a:pt x="3313717" y="-15221"/>
                          <a:pt x="3547352" y="0"/>
                        </a:cubicBezTo>
                        <a:cubicBezTo>
                          <a:pt x="3780987" y="15221"/>
                          <a:pt x="4002994" y="-16812"/>
                          <a:pt x="4387382" y="0"/>
                        </a:cubicBezTo>
                        <a:cubicBezTo>
                          <a:pt x="4771770" y="16812"/>
                          <a:pt x="4762707" y="-12058"/>
                          <a:pt x="4880733" y="0"/>
                        </a:cubicBezTo>
                        <a:cubicBezTo>
                          <a:pt x="4998759" y="12058"/>
                          <a:pt x="5302291" y="-15191"/>
                          <a:pt x="5720763" y="0"/>
                        </a:cubicBezTo>
                        <a:cubicBezTo>
                          <a:pt x="6139235" y="15191"/>
                          <a:pt x="5955580" y="15025"/>
                          <a:pt x="6127445" y="0"/>
                        </a:cubicBezTo>
                        <a:cubicBezTo>
                          <a:pt x="6299310" y="-15025"/>
                          <a:pt x="6565867" y="-19062"/>
                          <a:pt x="6794135" y="0"/>
                        </a:cubicBezTo>
                        <a:cubicBezTo>
                          <a:pt x="7022403" y="19062"/>
                          <a:pt x="7185045" y="7264"/>
                          <a:pt x="7460826" y="0"/>
                        </a:cubicBezTo>
                        <a:cubicBezTo>
                          <a:pt x="7736607" y="-7264"/>
                          <a:pt x="7857302" y="-723"/>
                          <a:pt x="8040847" y="0"/>
                        </a:cubicBezTo>
                        <a:cubicBezTo>
                          <a:pt x="8224392" y="723"/>
                          <a:pt x="8705539" y="-23731"/>
                          <a:pt x="8967547" y="0"/>
                        </a:cubicBezTo>
                        <a:cubicBezTo>
                          <a:pt x="9148437" y="-18486"/>
                          <a:pt x="9259629" y="131288"/>
                          <a:pt x="9268115" y="300568"/>
                        </a:cubicBezTo>
                        <a:cubicBezTo>
                          <a:pt x="9258996" y="438564"/>
                          <a:pt x="9247561" y="770285"/>
                          <a:pt x="9268115" y="901686"/>
                        </a:cubicBezTo>
                        <a:cubicBezTo>
                          <a:pt x="9288669" y="1033087"/>
                          <a:pt x="9286881" y="1372533"/>
                          <a:pt x="9268115" y="1502804"/>
                        </a:cubicBezTo>
                        <a:cubicBezTo>
                          <a:pt x="9265518" y="1660991"/>
                          <a:pt x="9159732" y="1798052"/>
                          <a:pt x="8967547" y="1803372"/>
                        </a:cubicBezTo>
                        <a:cubicBezTo>
                          <a:pt x="8783330" y="1794229"/>
                          <a:pt x="8726564" y="1806212"/>
                          <a:pt x="8560866" y="1803372"/>
                        </a:cubicBezTo>
                        <a:cubicBezTo>
                          <a:pt x="8395168" y="1800532"/>
                          <a:pt x="7896604" y="1817160"/>
                          <a:pt x="7720835" y="1803372"/>
                        </a:cubicBezTo>
                        <a:cubicBezTo>
                          <a:pt x="7545066" y="1789584"/>
                          <a:pt x="7218034" y="1806282"/>
                          <a:pt x="7054145" y="1803372"/>
                        </a:cubicBezTo>
                        <a:cubicBezTo>
                          <a:pt x="6890256" y="1800463"/>
                          <a:pt x="6797911" y="1787836"/>
                          <a:pt x="6560794" y="1803372"/>
                        </a:cubicBezTo>
                        <a:cubicBezTo>
                          <a:pt x="6323677" y="1818908"/>
                          <a:pt x="6165026" y="1782771"/>
                          <a:pt x="5894103" y="1803372"/>
                        </a:cubicBezTo>
                        <a:cubicBezTo>
                          <a:pt x="5623180" y="1823973"/>
                          <a:pt x="5579856" y="1815530"/>
                          <a:pt x="5487422" y="1803372"/>
                        </a:cubicBezTo>
                        <a:cubicBezTo>
                          <a:pt x="5394988" y="1791214"/>
                          <a:pt x="5232115" y="1800935"/>
                          <a:pt x="5080740" y="1803372"/>
                        </a:cubicBezTo>
                        <a:cubicBezTo>
                          <a:pt x="4929365" y="1805809"/>
                          <a:pt x="4686436" y="1811959"/>
                          <a:pt x="4414050" y="1803372"/>
                        </a:cubicBezTo>
                        <a:cubicBezTo>
                          <a:pt x="4141664" y="1794786"/>
                          <a:pt x="4162307" y="1803615"/>
                          <a:pt x="3920698" y="1803372"/>
                        </a:cubicBezTo>
                        <a:cubicBezTo>
                          <a:pt x="3679089" y="1803129"/>
                          <a:pt x="3354136" y="1836703"/>
                          <a:pt x="3167338" y="1803372"/>
                        </a:cubicBezTo>
                        <a:cubicBezTo>
                          <a:pt x="2980540" y="1770041"/>
                          <a:pt x="2804134" y="1809706"/>
                          <a:pt x="2673987" y="1803372"/>
                        </a:cubicBezTo>
                        <a:cubicBezTo>
                          <a:pt x="2543840" y="1797038"/>
                          <a:pt x="2242060" y="1830575"/>
                          <a:pt x="1920626" y="1803372"/>
                        </a:cubicBezTo>
                        <a:cubicBezTo>
                          <a:pt x="1599192" y="1776169"/>
                          <a:pt x="1656681" y="1792804"/>
                          <a:pt x="1513945" y="1803372"/>
                        </a:cubicBezTo>
                        <a:cubicBezTo>
                          <a:pt x="1371209" y="1813940"/>
                          <a:pt x="857551" y="1756706"/>
                          <a:pt x="300568" y="1803372"/>
                        </a:cubicBezTo>
                        <a:cubicBezTo>
                          <a:pt x="162988" y="1829725"/>
                          <a:pt x="7543" y="1664293"/>
                          <a:pt x="0" y="1502804"/>
                        </a:cubicBezTo>
                        <a:cubicBezTo>
                          <a:pt x="-10699" y="1242385"/>
                          <a:pt x="19721" y="1029157"/>
                          <a:pt x="0" y="901686"/>
                        </a:cubicBezTo>
                        <a:cubicBezTo>
                          <a:pt x="-19721" y="774215"/>
                          <a:pt x="-5310" y="546836"/>
                          <a:pt x="0" y="300568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>
              <a:latin typeface="GyeonggiTitleOTF Light" panose="02020403020101020101" pitchFamily="18" charset="-127"/>
              <a:ea typeface="GyeonggiTitleOTF Light" panose="02020403020101020101" pitchFamily="18" charset="-127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2C5D337A-F537-5347-23BC-471CE54C7115}"/>
              </a:ext>
            </a:extLst>
          </p:cNvPr>
          <p:cNvSpPr txBox="1"/>
          <p:nvPr/>
        </p:nvSpPr>
        <p:spPr>
          <a:xfrm>
            <a:off x="5676550" y="4442142"/>
            <a:ext cx="548320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R" altLang="en-US" sz="1600" b="1" dirty="0" err="1">
                <a:latin typeface="GYEONGGITITLEOTF LIGHT" panose="02020403020101020101" pitchFamily="18" charset="-127"/>
                <a:ea typeface="GYEONGGITITLEOTF LIGHT" panose="02020403020101020101" pitchFamily="18" charset="-127"/>
              </a:rPr>
              <a:t>공덱</a:t>
            </a:r>
            <a:r>
              <a:rPr kumimoji="1" lang="ko-KR" altLang="en-US" sz="1600" dirty="0" err="1">
                <a:latin typeface="GyeonggiTitleOTF Light" panose="02020403020101020101" pitchFamily="18" charset="-127"/>
                <a:ea typeface="GyeonggiTitleOTF Light" panose="02020403020101020101" pitchFamily="18" charset="-127"/>
              </a:rPr>
              <a:t>은</a:t>
            </a:r>
            <a:r>
              <a:rPr kumimoji="1" lang="ko-KR" altLang="en-US" sz="1600" dirty="0">
                <a:latin typeface="GyeonggiTitleOTF Light" panose="02020403020101020101" pitchFamily="18" charset="-127"/>
                <a:ea typeface="GyeonggiTitleOTF Light" panose="02020403020101020101" pitchFamily="18" charset="-127"/>
              </a:rPr>
              <a:t> 카일을 중심으로 강력한 광역 </a:t>
            </a:r>
            <a:r>
              <a:rPr kumimoji="1" lang="ko-KR" altLang="en-US" sz="1600" dirty="0" err="1">
                <a:latin typeface="GyeonggiTitleOTF Light" panose="02020403020101020101" pitchFamily="18" charset="-127"/>
                <a:ea typeface="GyeonggiTitleOTF Light" panose="02020403020101020101" pitchFamily="18" charset="-127"/>
              </a:rPr>
              <a:t>폭딜로</a:t>
            </a:r>
            <a:r>
              <a:rPr kumimoji="1" lang="ko-KR" altLang="en-US" sz="1600" dirty="0">
                <a:latin typeface="GyeonggiTitleOTF Light" panose="02020403020101020101" pitchFamily="18" charset="-127"/>
                <a:ea typeface="GyeonggiTitleOTF Light" panose="02020403020101020101" pitchFamily="18" charset="-127"/>
              </a:rPr>
              <a:t> 빠른 전투종결을 목표</a:t>
            </a:r>
            <a:endParaRPr kumimoji="1" lang="en-US" altLang="ko-KR" sz="1600" dirty="0">
              <a:latin typeface="GyeonggiTitleOTF Light" panose="02020403020101020101" pitchFamily="18" charset="-127"/>
              <a:ea typeface="GyeonggiTitleOTF Light" panose="02020403020101020101" pitchFamily="18" charset="-127"/>
            </a:endParaRPr>
          </a:p>
          <a:p>
            <a:endParaRPr kumimoji="1" lang="en-US" altLang="ko-KR" sz="1600" dirty="0">
              <a:latin typeface="GyeonggiTitleOTF Light" panose="02020403020101020101" pitchFamily="18" charset="-127"/>
              <a:ea typeface="GyeonggiTitleOTF Light" panose="02020403020101020101" pitchFamily="18" charset="-127"/>
            </a:endParaRPr>
          </a:p>
          <a:p>
            <a:r>
              <a:rPr kumimoji="1" lang="ko-KR" altLang="en-US" sz="1600" b="1" dirty="0">
                <a:latin typeface="GYEONGGITITLEOTF LIGHT" panose="02020403020101020101" pitchFamily="18" charset="-127"/>
                <a:ea typeface="GYEONGGITITLEOTF LIGHT" panose="02020403020101020101" pitchFamily="18" charset="-127"/>
              </a:rPr>
              <a:t>카일</a:t>
            </a:r>
            <a:r>
              <a:rPr kumimoji="1" lang="ko-KR" altLang="en-US" sz="1600" dirty="0">
                <a:latin typeface="GyeonggiTitleOTF Light" panose="02020403020101020101" pitchFamily="18" charset="-127"/>
                <a:ea typeface="GyeonggiTitleOTF Light" panose="02020403020101020101" pitchFamily="18" charset="-127"/>
              </a:rPr>
              <a:t>의 </a:t>
            </a:r>
            <a:r>
              <a:rPr kumimoji="1" lang="ko-KR" altLang="en-US" sz="1600" b="1" dirty="0">
                <a:latin typeface="GYEONGGITITLEOTF LIGHT" panose="02020403020101020101" pitchFamily="18" charset="-127"/>
                <a:ea typeface="GYEONGGITITLEOTF LIGHT" panose="02020403020101020101" pitchFamily="18" charset="-127"/>
              </a:rPr>
              <a:t>버프 해제</a:t>
            </a:r>
            <a:r>
              <a:rPr kumimoji="1" lang="ko-KR" altLang="en-US" sz="1600" dirty="0">
                <a:latin typeface="GyeonggiTitleOTF Light" panose="02020403020101020101" pitchFamily="18" charset="-127"/>
                <a:ea typeface="GyeonggiTitleOTF Light" panose="02020403020101020101" pitchFamily="18" charset="-127"/>
              </a:rPr>
              <a:t>와 </a:t>
            </a:r>
            <a:r>
              <a:rPr kumimoji="1" lang="ko-KR" altLang="en-US" sz="1600" b="1" dirty="0">
                <a:latin typeface="GYEONGGITITLEOTF LIGHT" panose="02020403020101020101" pitchFamily="18" charset="-127"/>
                <a:ea typeface="GYEONGGITITLEOTF LIGHT" panose="02020403020101020101" pitchFamily="18" charset="-127"/>
              </a:rPr>
              <a:t>방어 무시 효과</a:t>
            </a:r>
            <a:r>
              <a:rPr kumimoji="1" lang="ko-KR" altLang="en-US" sz="1600" dirty="0">
                <a:latin typeface="GyeonggiTitleOTF Light" panose="02020403020101020101" pitchFamily="18" charset="-127"/>
                <a:ea typeface="GyeonggiTitleOTF Light" panose="02020403020101020101" pitchFamily="18" charset="-127"/>
              </a:rPr>
              <a:t>는 </a:t>
            </a:r>
            <a:r>
              <a:rPr kumimoji="1" lang="ko-KR" altLang="en-US" sz="1600" dirty="0" err="1">
                <a:latin typeface="GyeonggiTitleOTF Light" panose="02020403020101020101" pitchFamily="18" charset="-127"/>
                <a:ea typeface="GyeonggiTitleOTF Light" panose="02020403020101020101" pitchFamily="18" charset="-127"/>
              </a:rPr>
              <a:t>덱에</a:t>
            </a:r>
            <a:r>
              <a:rPr kumimoji="1" lang="ko-KR" altLang="en-US" sz="1600" dirty="0">
                <a:latin typeface="GyeonggiTitleOTF Light" panose="02020403020101020101" pitchFamily="18" charset="-127"/>
                <a:ea typeface="GyeonggiTitleOTF Light" panose="02020403020101020101" pitchFamily="18" charset="-127"/>
              </a:rPr>
              <a:t> 상관없이 </a:t>
            </a:r>
            <a:r>
              <a:rPr lang="ko-KR" altLang="en-US" sz="1600" dirty="0">
                <a:latin typeface="GyeonggiTitleOTF Light" panose="02020403020101020101" pitchFamily="18" charset="-127"/>
                <a:ea typeface="GyeonggiTitleOTF Light" panose="02020403020101020101" pitchFamily="18" charset="-127"/>
              </a:rPr>
              <a:t> 상대의 </a:t>
            </a:r>
            <a:r>
              <a:rPr lang="ko-KR" altLang="en-US" sz="1600" dirty="0" err="1">
                <a:latin typeface="GyeonggiTitleOTF Light" panose="02020403020101020101" pitchFamily="18" charset="-127"/>
                <a:ea typeface="GyeonggiTitleOTF Light" panose="02020403020101020101" pitchFamily="18" charset="-127"/>
              </a:rPr>
              <a:t>생존력과</a:t>
            </a:r>
            <a:r>
              <a:rPr lang="ko-KR" altLang="en-US" sz="1600" dirty="0">
                <a:latin typeface="GyeonggiTitleOTF Light" panose="02020403020101020101" pitchFamily="18" charset="-127"/>
                <a:ea typeface="GyeonggiTitleOTF Light" panose="02020403020101020101" pitchFamily="18" charset="-127"/>
              </a:rPr>
              <a:t> </a:t>
            </a:r>
            <a:r>
              <a:rPr lang="ko-KR" altLang="en-US" sz="1600" dirty="0" err="1">
                <a:latin typeface="GyeonggiTitleOTF Light" panose="02020403020101020101" pitchFamily="18" charset="-127"/>
                <a:ea typeface="GyeonggiTitleOTF Light" panose="02020403020101020101" pitchFamily="18" charset="-127"/>
              </a:rPr>
              <a:t>딜링을</a:t>
            </a:r>
            <a:r>
              <a:rPr lang="ko-KR" altLang="en-US" sz="1600" dirty="0">
                <a:latin typeface="GyeonggiTitleOTF Light" panose="02020403020101020101" pitchFamily="18" charset="-127"/>
                <a:ea typeface="GyeonggiTitleOTF Light" panose="02020403020101020101" pitchFamily="18" charset="-127"/>
              </a:rPr>
              <a:t> 동시에 약화</a:t>
            </a:r>
            <a:r>
              <a:rPr lang="en-US" altLang="ko-KR" sz="1600" dirty="0">
                <a:latin typeface="GyeonggiTitleOTF Light" panose="02020403020101020101" pitchFamily="18" charset="-127"/>
                <a:ea typeface="GyeonggiTitleOTF Light" panose="02020403020101020101" pitchFamily="18" charset="-127"/>
              </a:rPr>
              <a:t>.</a:t>
            </a:r>
            <a:endParaRPr kumimoji="1" lang="en-US" altLang="ko-KR" sz="1600" dirty="0">
              <a:latin typeface="GyeonggiTitleOTF Light" panose="02020403020101020101" pitchFamily="18" charset="-127"/>
              <a:ea typeface="GyeonggiTitleOTF Light" panose="02020403020101020101" pitchFamily="18" charset="-127"/>
            </a:endParaRPr>
          </a:p>
          <a:p>
            <a:endParaRPr kumimoji="1" lang="en-US" altLang="ko-KR" sz="1600" dirty="0">
              <a:latin typeface="GyeonggiTitleOTF Light" panose="02020403020101020101" pitchFamily="18" charset="-127"/>
              <a:ea typeface="GyeonggiTitleOTF Light" panose="02020403020101020101" pitchFamily="18" charset="-127"/>
            </a:endParaRPr>
          </a:p>
          <a:p>
            <a:r>
              <a:rPr kumimoji="1" lang="en-US" altLang="ko-KR" sz="1600" dirty="0">
                <a:latin typeface="GyeonggiTitleOTF Light" panose="02020403020101020101" pitchFamily="18" charset="-127"/>
                <a:ea typeface="GyeonggiTitleOTF Light" panose="02020403020101020101" pitchFamily="18" charset="-127"/>
              </a:rPr>
              <a:t>-</a:t>
            </a:r>
            <a:r>
              <a:rPr kumimoji="1" lang="ko-KR" altLang="en-US" sz="1600" dirty="0">
                <a:latin typeface="GyeonggiTitleOTF Light" panose="02020403020101020101" pitchFamily="18" charset="-127"/>
                <a:ea typeface="GyeonggiTitleOTF Light" panose="02020403020101020101" pitchFamily="18" charset="-127"/>
              </a:rPr>
              <a:t> 전투를 빠른 시간 내에 끝내지 못하면 </a:t>
            </a:r>
            <a:r>
              <a:rPr kumimoji="1" lang="ko-KR" altLang="en-US" sz="1600" dirty="0" err="1">
                <a:latin typeface="GyeonggiTitleOTF Light" panose="02020403020101020101" pitchFamily="18" charset="-127"/>
                <a:ea typeface="GyeonggiTitleOTF Light" panose="02020403020101020101" pitchFamily="18" charset="-127"/>
              </a:rPr>
              <a:t>방덱에</a:t>
            </a:r>
            <a:r>
              <a:rPr kumimoji="1" lang="ko-KR" altLang="en-US" sz="1600" dirty="0">
                <a:latin typeface="GyeonggiTitleOTF Light" panose="02020403020101020101" pitchFamily="18" charset="-127"/>
                <a:ea typeface="GyeonggiTitleOTF Light" panose="02020403020101020101" pitchFamily="18" charset="-127"/>
              </a:rPr>
              <a:t> 불리</a:t>
            </a:r>
            <a:endParaRPr lang="ko-KR" altLang="ko-KR" sz="1600" dirty="0">
              <a:latin typeface="GyeonggiTitleOTF Light" panose="02020403020101020101" pitchFamily="18" charset="-127"/>
              <a:ea typeface="GyeonggiTitleOTF Light" panose="02020403020101020101" pitchFamily="18" charset="-127"/>
            </a:endParaRPr>
          </a:p>
        </p:txBody>
      </p:sp>
      <p:pic>
        <p:nvPicPr>
          <p:cNvPr id="55" name="그림 54">
            <a:extLst>
              <a:ext uri="{FF2B5EF4-FFF2-40B4-BE49-F238E27FC236}">
                <a16:creationId xmlns:a16="http://schemas.microsoft.com/office/drawing/2014/main" id="{8B20608C-4DC8-B646-8404-3E9330BC358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5532" y="3916370"/>
            <a:ext cx="520806" cy="540000"/>
          </a:xfrm>
          <a:prstGeom prst="rect">
            <a:avLst/>
          </a:prstGeom>
        </p:spPr>
      </p:pic>
      <p:sp>
        <p:nvSpPr>
          <p:cNvPr id="80" name="TextBox 79">
            <a:extLst>
              <a:ext uri="{FF2B5EF4-FFF2-40B4-BE49-F238E27FC236}">
                <a16:creationId xmlns:a16="http://schemas.microsoft.com/office/drawing/2014/main" id="{B83FAA4B-5512-4CB5-B67B-1304E1880658}"/>
              </a:ext>
            </a:extLst>
          </p:cNvPr>
          <p:cNvSpPr txBox="1"/>
          <p:nvPr/>
        </p:nvSpPr>
        <p:spPr>
          <a:xfrm>
            <a:off x="5848109" y="6412606"/>
            <a:ext cx="55328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ko-KR" sz="1000" dirty="0">
                <a:latin typeface="GyeonggiTitle Bold" panose="02020803020101020101" pitchFamily="18" charset="-127"/>
                <a:ea typeface="GyeonggiTitle Bold" panose="02020803020101020101" pitchFamily="18" charset="-127"/>
              </a:rPr>
              <a:t>- 12 - </a:t>
            </a:r>
            <a:endParaRPr kumimoji="1" lang="ko-KR" altLang="en-US" sz="1000" dirty="0">
              <a:latin typeface="GyeonggiTitle Bold" panose="02020803020101020101" pitchFamily="18" charset="-127"/>
              <a:ea typeface="GyeonggiTitle Bold" panose="02020803020101020101" pitchFamily="18" charset="-127"/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133D2050-AF10-5454-AC5E-B0AD66D2DF82}"/>
              </a:ext>
            </a:extLst>
          </p:cNvPr>
          <p:cNvSpPr txBox="1"/>
          <p:nvPr/>
        </p:nvSpPr>
        <p:spPr>
          <a:xfrm>
            <a:off x="1072800" y="590400"/>
            <a:ext cx="4076285" cy="9079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500" dirty="0">
                <a:latin typeface="GyeonggiTitle Bold" panose="02020803020101020101" pitchFamily="18" charset="-127"/>
                <a:ea typeface="GyeonggiTitle Bold" panose="02020803020101020101" pitchFamily="18" charset="-127"/>
              </a:rPr>
              <a:t>카일</a:t>
            </a:r>
            <a:endParaRPr lang="en-US" altLang="ko-KR" sz="3500" dirty="0">
              <a:latin typeface="GyeonggiTitle Bold" panose="02020803020101020101" pitchFamily="18" charset="-127"/>
              <a:ea typeface="GyeonggiTitle Bold" panose="02020803020101020101" pitchFamily="18" charset="-127"/>
            </a:endParaRPr>
          </a:p>
          <a:p>
            <a:r>
              <a:rPr lang="ko-KR" altLang="en-US" dirty="0">
                <a:latin typeface="GyeonggiTitle Bold" panose="02020803020101020101" pitchFamily="18" charset="-127"/>
                <a:ea typeface="GyeonggiTitle Bold" panose="02020803020101020101" pitchFamily="18" charset="-127"/>
              </a:rPr>
              <a:t>스킬 설명 및 활용 방법</a:t>
            </a:r>
            <a:endParaRPr lang="en-US" altLang="ko-KR" sz="3500" dirty="0">
              <a:latin typeface="GyeonggiTitle Bold" panose="02020803020101020101" pitchFamily="18" charset="-127"/>
              <a:ea typeface="GyeonggiTitle Bold" panose="020208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250788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1CDC474-D61E-F7FD-E3F1-71F2F821D7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3" name="직선 연결선[R] 92">
            <a:extLst>
              <a:ext uri="{FF2B5EF4-FFF2-40B4-BE49-F238E27FC236}">
                <a16:creationId xmlns:a16="http://schemas.microsoft.com/office/drawing/2014/main" id="{E32A70D0-F24E-DF8B-CE2E-B94F088546C2}"/>
              </a:ext>
            </a:extLst>
          </p:cNvPr>
          <p:cNvCxnSpPr>
            <a:cxnSpLocks/>
          </p:cNvCxnSpPr>
          <p:nvPr/>
        </p:nvCxnSpPr>
        <p:spPr>
          <a:xfrm flipV="1">
            <a:off x="8592296" y="2240105"/>
            <a:ext cx="1187973" cy="417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직선 연결선[R] 93">
            <a:extLst>
              <a:ext uri="{FF2B5EF4-FFF2-40B4-BE49-F238E27FC236}">
                <a16:creationId xmlns:a16="http://schemas.microsoft.com/office/drawing/2014/main" id="{77659206-E3CA-F2AF-963B-DA620E2DB6F3}"/>
              </a:ext>
            </a:extLst>
          </p:cNvPr>
          <p:cNvCxnSpPr>
            <a:cxnSpLocks/>
          </p:cNvCxnSpPr>
          <p:nvPr/>
        </p:nvCxnSpPr>
        <p:spPr>
          <a:xfrm>
            <a:off x="4237331" y="3673959"/>
            <a:ext cx="1194024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직선 연결선[R] 94">
            <a:extLst>
              <a:ext uri="{FF2B5EF4-FFF2-40B4-BE49-F238E27FC236}">
                <a16:creationId xmlns:a16="http://schemas.microsoft.com/office/drawing/2014/main" id="{D276F10D-E9ED-5447-2A6A-39C93F394ACD}"/>
              </a:ext>
            </a:extLst>
          </p:cNvPr>
          <p:cNvCxnSpPr>
            <a:cxnSpLocks/>
          </p:cNvCxnSpPr>
          <p:nvPr/>
        </p:nvCxnSpPr>
        <p:spPr>
          <a:xfrm>
            <a:off x="6760644" y="3673959"/>
            <a:ext cx="1108164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21587B4E-2571-2CD2-C353-72BDDD56B5B4}"/>
              </a:ext>
            </a:extLst>
          </p:cNvPr>
          <p:cNvGrpSpPr/>
          <p:nvPr/>
        </p:nvGrpSpPr>
        <p:grpSpPr>
          <a:xfrm>
            <a:off x="5431355" y="2556897"/>
            <a:ext cx="1329289" cy="1968207"/>
            <a:chOff x="5421444" y="1494573"/>
            <a:chExt cx="1329289" cy="1968207"/>
          </a:xfrm>
          <a:effectLst>
            <a:outerShdw blurRad="50800" dist="63500" dir="2700000" algn="ctr" rotWithShape="0">
              <a:srgbClr val="000000">
                <a:alpha val="60284"/>
              </a:srgbClr>
            </a:outerShdw>
          </a:effectLst>
        </p:grpSpPr>
        <p:grpSp>
          <p:nvGrpSpPr>
            <p:cNvPr id="81" name="그룹 80">
              <a:extLst>
                <a:ext uri="{FF2B5EF4-FFF2-40B4-BE49-F238E27FC236}">
                  <a16:creationId xmlns:a16="http://schemas.microsoft.com/office/drawing/2014/main" id="{574907D3-05AF-3AAF-3DBA-423E742349E7}"/>
                </a:ext>
              </a:extLst>
            </p:cNvPr>
            <p:cNvGrpSpPr/>
            <p:nvPr/>
          </p:nvGrpSpPr>
          <p:grpSpPr>
            <a:xfrm>
              <a:off x="5421444" y="1494573"/>
              <a:ext cx="1329289" cy="1968207"/>
              <a:chOff x="834753" y="3940872"/>
              <a:chExt cx="1329289" cy="1968207"/>
            </a:xfrm>
          </p:grpSpPr>
          <p:grpSp>
            <p:nvGrpSpPr>
              <p:cNvPr id="83" name="그룹 82">
                <a:extLst>
                  <a:ext uri="{FF2B5EF4-FFF2-40B4-BE49-F238E27FC236}">
                    <a16:creationId xmlns:a16="http://schemas.microsoft.com/office/drawing/2014/main" id="{FE7E871F-A233-48C1-EA9E-95E5B18FEA9A}"/>
                  </a:ext>
                </a:extLst>
              </p:cNvPr>
              <p:cNvGrpSpPr/>
              <p:nvPr/>
            </p:nvGrpSpPr>
            <p:grpSpPr>
              <a:xfrm>
                <a:off x="834753" y="3940872"/>
                <a:ext cx="1329289" cy="1968207"/>
                <a:chOff x="2050463" y="2359341"/>
                <a:chExt cx="1664465" cy="2118360"/>
              </a:xfrm>
            </p:grpSpPr>
            <p:sp>
              <p:nvSpPr>
                <p:cNvPr id="85" name="대각선 방향의 모서리가 둥근 사각형 84">
                  <a:extLst>
                    <a:ext uri="{FF2B5EF4-FFF2-40B4-BE49-F238E27FC236}">
                      <a16:creationId xmlns:a16="http://schemas.microsoft.com/office/drawing/2014/main" id="{F2A7C697-98B6-4D49-911D-A932A8B52DFF}"/>
                    </a:ext>
                  </a:extLst>
                </p:cNvPr>
                <p:cNvSpPr/>
                <p:nvPr/>
              </p:nvSpPr>
              <p:spPr>
                <a:xfrm>
                  <a:off x="2072640" y="2407919"/>
                  <a:ext cx="1600200" cy="2042160"/>
                </a:xfrm>
                <a:prstGeom prst="round2DiagRect">
                  <a:avLst/>
                </a:prstGeom>
                <a:solidFill>
                  <a:srgbClr val="DE9B35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ko-KR" altLang="en-US" dirty="0">
                    <a:latin typeface="GyeonggiTitle Bold" panose="02020803020101020101" pitchFamily="18" charset="-127"/>
                    <a:ea typeface="GyeonggiTitle Bold" panose="02020803020101020101" pitchFamily="18" charset="-127"/>
                  </a:endParaRPr>
                </a:p>
              </p:txBody>
            </p:sp>
            <p:grpSp>
              <p:nvGrpSpPr>
                <p:cNvPr id="86" name="그룹 85">
                  <a:extLst>
                    <a:ext uri="{FF2B5EF4-FFF2-40B4-BE49-F238E27FC236}">
                      <a16:creationId xmlns:a16="http://schemas.microsoft.com/office/drawing/2014/main" id="{FCEC3D03-FA99-7213-82D3-89B05537E5AF}"/>
                    </a:ext>
                  </a:extLst>
                </p:cNvPr>
                <p:cNvGrpSpPr/>
                <p:nvPr/>
              </p:nvGrpSpPr>
              <p:grpSpPr>
                <a:xfrm>
                  <a:off x="2072640" y="4012083"/>
                  <a:ext cx="1600200" cy="438000"/>
                  <a:chOff x="2072640" y="4035642"/>
                  <a:chExt cx="1600200" cy="414442"/>
                </a:xfrm>
              </p:grpSpPr>
              <p:sp>
                <p:nvSpPr>
                  <p:cNvPr id="89" name="대각선 방향의 모서리가 둥근 사각형 88">
                    <a:extLst>
                      <a:ext uri="{FF2B5EF4-FFF2-40B4-BE49-F238E27FC236}">
                        <a16:creationId xmlns:a16="http://schemas.microsoft.com/office/drawing/2014/main" id="{8831569D-1842-771E-BF01-88423D561789}"/>
                      </a:ext>
                    </a:extLst>
                  </p:cNvPr>
                  <p:cNvSpPr/>
                  <p:nvPr/>
                </p:nvSpPr>
                <p:spPr>
                  <a:xfrm>
                    <a:off x="2072640" y="4035647"/>
                    <a:ext cx="1600200" cy="414437"/>
                  </a:xfrm>
                  <a:prstGeom prst="round2DiagRect">
                    <a:avLst>
                      <a:gd name="adj1" fmla="val 50000"/>
                      <a:gd name="adj2" fmla="val 0"/>
                    </a:avLst>
                  </a:prstGeom>
                  <a:solidFill>
                    <a:schemeClr val="tx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ko-KR" altLang="en-US" dirty="0">
                      <a:latin typeface="GyeonggiTitle Bold" panose="02020803020101020101" pitchFamily="18" charset="-127"/>
                      <a:ea typeface="GyeonggiTitle Bold" panose="02020803020101020101" pitchFamily="18" charset="-127"/>
                    </a:endParaRPr>
                  </a:p>
                </p:txBody>
              </p:sp>
              <p:sp>
                <p:nvSpPr>
                  <p:cNvPr id="90" name="대각선 방향의 모서리가 둥근 사각형 89">
                    <a:extLst>
                      <a:ext uri="{FF2B5EF4-FFF2-40B4-BE49-F238E27FC236}">
                        <a16:creationId xmlns:a16="http://schemas.microsoft.com/office/drawing/2014/main" id="{699F3B90-A722-0A49-11C8-BFCC2C2A4086}"/>
                      </a:ext>
                    </a:extLst>
                  </p:cNvPr>
                  <p:cNvSpPr/>
                  <p:nvPr/>
                </p:nvSpPr>
                <p:spPr>
                  <a:xfrm>
                    <a:off x="2072640" y="4035642"/>
                    <a:ext cx="630808" cy="405737"/>
                  </a:xfrm>
                  <a:prstGeom prst="round2DiagRect">
                    <a:avLst>
                      <a:gd name="adj1" fmla="val 0"/>
                      <a:gd name="adj2" fmla="val 0"/>
                    </a:avLst>
                  </a:prstGeom>
                  <a:solidFill>
                    <a:schemeClr val="tx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ko-KR" altLang="en-US" dirty="0">
                      <a:latin typeface="GyeonggiTitle Bold" panose="02020803020101020101" pitchFamily="18" charset="-127"/>
                      <a:ea typeface="GyeonggiTitle Bold" panose="02020803020101020101" pitchFamily="18" charset="-127"/>
                    </a:endParaRPr>
                  </a:p>
                </p:txBody>
              </p:sp>
            </p:grpSp>
            <p:sp>
              <p:nvSpPr>
                <p:cNvPr id="87" name="대각선 방향의 모서리가 둥근 사각형 86">
                  <a:extLst>
                    <a:ext uri="{FF2B5EF4-FFF2-40B4-BE49-F238E27FC236}">
                      <a16:creationId xmlns:a16="http://schemas.microsoft.com/office/drawing/2014/main" id="{DBFE33DF-3698-7614-65E2-03D7EE317ED4}"/>
                    </a:ext>
                  </a:extLst>
                </p:cNvPr>
                <p:cNvSpPr/>
                <p:nvPr/>
              </p:nvSpPr>
              <p:spPr>
                <a:xfrm>
                  <a:off x="2050463" y="2380297"/>
                  <a:ext cx="1652055" cy="2097404"/>
                </a:xfrm>
                <a:prstGeom prst="round2DiagRect">
                  <a:avLst>
                    <a:gd name="adj1" fmla="val 16667"/>
                    <a:gd name="adj2" fmla="val 0"/>
                  </a:avLst>
                </a:prstGeom>
                <a:noFill/>
                <a:ln>
                  <a:solidFill>
                    <a:srgbClr val="FFFFED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ko-KR" altLang="en-US" dirty="0">
                    <a:latin typeface="GyeonggiTitle Bold" panose="02020803020101020101" pitchFamily="18" charset="-127"/>
                    <a:ea typeface="GyeonggiTitle Bold" panose="02020803020101020101" pitchFamily="18" charset="-127"/>
                  </a:endParaRPr>
                </a:p>
              </p:txBody>
            </p:sp>
            <p:pic>
              <p:nvPicPr>
                <p:cNvPr id="88" name="그림 87" descr="스크린샷, 예술, 마룬, 어둠이(가) 표시된 사진&#10;&#10;AI 생성 콘텐츠는 정확하지 않을 수 있습니다.">
                  <a:extLst>
                    <a:ext uri="{FF2B5EF4-FFF2-40B4-BE49-F238E27FC236}">
                      <a16:creationId xmlns:a16="http://schemas.microsoft.com/office/drawing/2014/main" id="{0ACD00BC-6A27-03BD-6A91-6B47EE56DC8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2800528" y="2359341"/>
                  <a:ext cx="914400" cy="812800"/>
                </a:xfrm>
                <a:prstGeom prst="rect">
                  <a:avLst/>
                </a:prstGeom>
              </p:spPr>
            </p:pic>
          </p:grpSp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CAB7FD51-A135-718E-D48C-25C8A358A72C}"/>
                  </a:ext>
                </a:extLst>
              </p:cNvPr>
              <p:cNvSpPr txBox="1"/>
              <p:nvPr/>
            </p:nvSpPr>
            <p:spPr>
              <a:xfrm>
                <a:off x="1060855" y="5506899"/>
                <a:ext cx="81135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ko-KR" altLang="en-US" sz="1400" dirty="0">
                    <a:solidFill>
                      <a:schemeClr val="bg1"/>
                    </a:solidFill>
                    <a:latin typeface="GyeonggiTitle Bold" panose="02020803020101020101" pitchFamily="18" charset="-127"/>
                    <a:ea typeface="GyeonggiTitle Bold" panose="02020803020101020101" pitchFamily="18" charset="-127"/>
                  </a:rPr>
                  <a:t>카일</a:t>
                </a:r>
                <a:endParaRPr kumimoji="1" lang="en-US" altLang="ko-KR" sz="1400" dirty="0">
                  <a:solidFill>
                    <a:schemeClr val="bg1"/>
                  </a:solidFill>
                  <a:latin typeface="GyeonggiTitle Bold" panose="02020803020101020101" pitchFamily="18" charset="-127"/>
                  <a:ea typeface="GyeonggiTitle Bold" panose="02020803020101020101" pitchFamily="18" charset="-127"/>
                </a:endParaRPr>
              </a:p>
            </p:txBody>
          </p:sp>
        </p:grpSp>
        <p:pic>
          <p:nvPicPr>
            <p:cNvPr id="1026" name="Picture 2">
              <a:extLst>
                <a:ext uri="{FF2B5EF4-FFF2-40B4-BE49-F238E27FC236}">
                  <a16:creationId xmlns:a16="http://schemas.microsoft.com/office/drawing/2014/main" id="{F176B453-09BF-2AB0-E529-E085F3322040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004" r="7773"/>
            <a:stretch>
              <a:fillRect/>
            </a:stretch>
          </p:blipFill>
          <p:spPr bwMode="auto">
            <a:xfrm>
              <a:off x="5438733" y="1536594"/>
              <a:ext cx="1277965" cy="149959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8" name="그림 27">
              <a:extLst>
                <a:ext uri="{FF2B5EF4-FFF2-40B4-BE49-F238E27FC236}">
                  <a16:creationId xmlns:a16="http://schemas.microsoft.com/office/drawing/2014/main" id="{9B6AA69D-7372-BBB6-0FC0-6AA6438AF67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438311" y="2756167"/>
              <a:ext cx="288000" cy="288000"/>
            </a:xfrm>
            <a:prstGeom prst="rect">
              <a:avLst/>
            </a:prstGeom>
          </p:spPr>
        </p:pic>
      </p:grpSp>
      <p:cxnSp>
        <p:nvCxnSpPr>
          <p:cNvPr id="91" name="직선 연결선[R] 90">
            <a:extLst>
              <a:ext uri="{FF2B5EF4-FFF2-40B4-BE49-F238E27FC236}">
                <a16:creationId xmlns:a16="http://schemas.microsoft.com/office/drawing/2014/main" id="{C5C2BD70-9E1D-689D-495C-CB2E4B8BA3CE}"/>
              </a:ext>
            </a:extLst>
          </p:cNvPr>
          <p:cNvCxnSpPr/>
          <p:nvPr/>
        </p:nvCxnSpPr>
        <p:spPr>
          <a:xfrm>
            <a:off x="2421089" y="2234794"/>
            <a:ext cx="122158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직선 연결선[R] 91">
            <a:extLst>
              <a:ext uri="{FF2B5EF4-FFF2-40B4-BE49-F238E27FC236}">
                <a16:creationId xmlns:a16="http://schemas.microsoft.com/office/drawing/2014/main" id="{211C990B-3A55-E603-4108-0CC1970594D3}"/>
              </a:ext>
            </a:extLst>
          </p:cNvPr>
          <p:cNvCxnSpPr>
            <a:cxnSpLocks/>
          </p:cNvCxnSpPr>
          <p:nvPr/>
        </p:nvCxnSpPr>
        <p:spPr>
          <a:xfrm>
            <a:off x="4968784" y="2244278"/>
            <a:ext cx="229041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C86950D9-5BFE-8ADE-CEAA-590F0ED295D5}"/>
              </a:ext>
            </a:extLst>
          </p:cNvPr>
          <p:cNvGrpSpPr/>
          <p:nvPr/>
        </p:nvGrpSpPr>
        <p:grpSpPr>
          <a:xfrm>
            <a:off x="3642676" y="1479607"/>
            <a:ext cx="1326108" cy="1948736"/>
            <a:chOff x="3627500" y="2599000"/>
            <a:chExt cx="1326108" cy="1948736"/>
          </a:xfrm>
          <a:effectLst>
            <a:outerShdw blurRad="50800" dist="63500" dir="2700000" algn="ctr" rotWithShape="0">
              <a:srgbClr val="000000">
                <a:alpha val="60284"/>
              </a:srgbClr>
            </a:outerShdw>
          </a:effectLst>
        </p:grpSpPr>
        <p:sp>
          <p:nvSpPr>
            <p:cNvPr id="11" name="대각선 방향의 모서리가 둥근 사각형 10">
              <a:extLst>
                <a:ext uri="{FF2B5EF4-FFF2-40B4-BE49-F238E27FC236}">
                  <a16:creationId xmlns:a16="http://schemas.microsoft.com/office/drawing/2014/main" id="{D8B147DD-44F7-F16C-729C-0403C0831501}"/>
                </a:ext>
              </a:extLst>
            </p:cNvPr>
            <p:cNvSpPr/>
            <p:nvPr/>
          </p:nvSpPr>
          <p:spPr>
            <a:xfrm>
              <a:off x="3642029" y="2599000"/>
              <a:ext cx="1277965" cy="1897408"/>
            </a:xfrm>
            <a:prstGeom prst="round2DiagRect">
              <a:avLst/>
            </a:prstGeom>
            <a:solidFill>
              <a:srgbClr val="DE9B3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dirty="0">
                <a:latin typeface="GyeonggiTitle Bold" panose="02020803020101020101" pitchFamily="18" charset="-127"/>
                <a:ea typeface="GyeonggiTitle Bold" panose="02020803020101020101" pitchFamily="18" charset="-127"/>
              </a:endParaRPr>
            </a:p>
          </p:txBody>
        </p:sp>
        <p:sp>
          <p:nvSpPr>
            <p:cNvPr id="12" name="대각선 방향의 모서리가 둥근 사각형 11">
              <a:extLst>
                <a:ext uri="{FF2B5EF4-FFF2-40B4-BE49-F238E27FC236}">
                  <a16:creationId xmlns:a16="http://schemas.microsoft.com/office/drawing/2014/main" id="{CBFB13A2-42E3-8651-96B8-CB530A891F51}"/>
                </a:ext>
              </a:extLst>
            </p:cNvPr>
            <p:cNvSpPr/>
            <p:nvPr/>
          </p:nvSpPr>
          <p:spPr>
            <a:xfrm>
              <a:off x="3642030" y="4134597"/>
              <a:ext cx="1277965" cy="406948"/>
            </a:xfrm>
            <a:prstGeom prst="round2DiagRect">
              <a:avLst>
                <a:gd name="adj1" fmla="val 50000"/>
                <a:gd name="adj2" fmla="val 0"/>
              </a:avLst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dirty="0">
                <a:latin typeface="GyeonggiTitle Bold" panose="02020803020101020101" pitchFamily="18" charset="-127"/>
                <a:ea typeface="GyeonggiTitle Bold" panose="02020803020101020101" pitchFamily="18" charset="-127"/>
              </a:endParaRPr>
            </a:p>
          </p:txBody>
        </p:sp>
        <p:sp>
          <p:nvSpPr>
            <p:cNvPr id="13" name="대각선 방향의 모서리가 둥근 사각형 12">
              <a:extLst>
                <a:ext uri="{FF2B5EF4-FFF2-40B4-BE49-F238E27FC236}">
                  <a16:creationId xmlns:a16="http://schemas.microsoft.com/office/drawing/2014/main" id="{DDAEF83A-92E2-C4E1-98BD-70186F7CC23D}"/>
                </a:ext>
              </a:extLst>
            </p:cNvPr>
            <p:cNvSpPr/>
            <p:nvPr/>
          </p:nvSpPr>
          <p:spPr>
            <a:xfrm>
              <a:off x="3642030" y="4134596"/>
              <a:ext cx="503781" cy="398406"/>
            </a:xfrm>
            <a:prstGeom prst="round2DiagRect">
              <a:avLst>
                <a:gd name="adj1" fmla="val 0"/>
                <a:gd name="adj2" fmla="val 0"/>
              </a:avLst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dirty="0">
                <a:latin typeface="GyeonggiTitle Bold" panose="02020803020101020101" pitchFamily="18" charset="-127"/>
                <a:ea typeface="GyeonggiTitle Bold" panose="02020803020101020101" pitchFamily="18" charset="-127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5340A688-BFE6-737D-997D-F94D25F47D30}"/>
                </a:ext>
              </a:extLst>
            </p:cNvPr>
            <p:cNvSpPr txBox="1"/>
            <p:nvPr/>
          </p:nvSpPr>
          <p:spPr>
            <a:xfrm>
              <a:off x="3850421" y="4165027"/>
              <a:ext cx="81135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ko-KR" altLang="en-US" sz="1400" dirty="0">
                  <a:solidFill>
                    <a:schemeClr val="bg1"/>
                  </a:solidFill>
                  <a:latin typeface="GyeonggiTitle Bold" panose="02020803020101020101" pitchFamily="18" charset="-127"/>
                  <a:ea typeface="GyeonggiTitle Bold" panose="02020803020101020101" pitchFamily="18" charset="-127"/>
                </a:rPr>
                <a:t>카구라</a:t>
              </a:r>
              <a:endParaRPr kumimoji="1" lang="en-US" altLang="ko-KR" sz="1400" dirty="0">
                <a:solidFill>
                  <a:schemeClr val="bg1"/>
                </a:solidFill>
                <a:latin typeface="GyeonggiTitle Bold" panose="02020803020101020101" pitchFamily="18" charset="-127"/>
                <a:ea typeface="GyeonggiTitle Bold" panose="02020803020101020101" pitchFamily="18" charset="-127"/>
              </a:endParaRPr>
            </a:p>
          </p:txBody>
        </p:sp>
        <p:sp>
          <p:nvSpPr>
            <p:cNvPr id="10" name="대각선 방향의 모서리가 둥근 사각형 9">
              <a:extLst>
                <a:ext uri="{FF2B5EF4-FFF2-40B4-BE49-F238E27FC236}">
                  <a16:creationId xmlns:a16="http://schemas.microsoft.com/office/drawing/2014/main" id="{C1771CDB-00BE-440A-3281-0BCB41BE7B03}"/>
                </a:ext>
              </a:extLst>
            </p:cNvPr>
            <p:cNvSpPr/>
            <p:nvPr/>
          </p:nvSpPr>
          <p:spPr>
            <a:xfrm>
              <a:off x="3627500" y="2599000"/>
              <a:ext cx="1319378" cy="1948736"/>
            </a:xfrm>
            <a:prstGeom prst="round2DiagRect">
              <a:avLst>
                <a:gd name="adj1" fmla="val 16667"/>
                <a:gd name="adj2" fmla="val 0"/>
              </a:avLst>
            </a:prstGeom>
            <a:noFill/>
            <a:ln>
              <a:solidFill>
                <a:srgbClr val="FFFFE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dirty="0">
                <a:latin typeface="GyeonggiTitle Bold" panose="02020803020101020101" pitchFamily="18" charset="-127"/>
                <a:ea typeface="GyeonggiTitle Bold" panose="02020803020101020101" pitchFamily="18" charset="-127"/>
              </a:endParaRPr>
            </a:p>
          </p:txBody>
        </p:sp>
        <p:sp>
          <p:nvSpPr>
            <p:cNvPr id="3" name="한쪽 모서리가 둥근 사각형 2">
              <a:extLst>
                <a:ext uri="{FF2B5EF4-FFF2-40B4-BE49-F238E27FC236}">
                  <a16:creationId xmlns:a16="http://schemas.microsoft.com/office/drawing/2014/main" id="{72E6C722-88BC-5469-C274-A897B7E05BEF}"/>
                </a:ext>
              </a:extLst>
            </p:cNvPr>
            <p:cNvSpPr/>
            <p:nvPr/>
          </p:nvSpPr>
          <p:spPr>
            <a:xfrm flipH="1">
              <a:off x="3641890" y="2622553"/>
              <a:ext cx="1276092" cy="1514909"/>
            </a:xfrm>
            <a:prstGeom prst="round1Rect">
              <a:avLst/>
            </a:prstGeom>
            <a:blipFill dpi="0" rotWithShape="0">
              <a:blip r:embed="rId6"/>
              <a:srcRect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dirty="0">
                <a:latin typeface="GyeonggiTitle Bold" panose="02020803020101020101" pitchFamily="18" charset="-127"/>
                <a:ea typeface="GyeonggiTitle Bold" panose="02020803020101020101" pitchFamily="18" charset="-127"/>
              </a:endParaRPr>
            </a:p>
          </p:txBody>
        </p:sp>
        <p:pic>
          <p:nvPicPr>
            <p:cNvPr id="14" name="그림 13" descr="스크린샷, 예술, 마룬, 어둠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9469F7B9-77A2-8746-7A72-CC173974A39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223342" y="2599000"/>
              <a:ext cx="730266" cy="755187"/>
            </a:xfrm>
            <a:prstGeom prst="rect">
              <a:avLst/>
            </a:prstGeom>
          </p:spPr>
        </p:pic>
        <p:pic>
          <p:nvPicPr>
            <p:cNvPr id="29" name="그림 28">
              <a:extLst>
                <a:ext uri="{FF2B5EF4-FFF2-40B4-BE49-F238E27FC236}">
                  <a16:creationId xmlns:a16="http://schemas.microsoft.com/office/drawing/2014/main" id="{3600BD1D-F740-1EEB-5F57-4E9595E5195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641469" y="3861264"/>
              <a:ext cx="288000" cy="288000"/>
            </a:xfrm>
            <a:prstGeom prst="rect">
              <a:avLst/>
            </a:prstGeom>
          </p:spPr>
        </p:pic>
      </p:grpSp>
      <p:grpSp>
        <p:nvGrpSpPr>
          <p:cNvPr id="35" name="그룹 34">
            <a:extLst>
              <a:ext uri="{FF2B5EF4-FFF2-40B4-BE49-F238E27FC236}">
                <a16:creationId xmlns:a16="http://schemas.microsoft.com/office/drawing/2014/main" id="{2E53D087-9A0B-8492-BBFC-4AE33575233A}"/>
              </a:ext>
            </a:extLst>
          </p:cNvPr>
          <p:cNvGrpSpPr/>
          <p:nvPr/>
        </p:nvGrpSpPr>
        <p:grpSpPr>
          <a:xfrm>
            <a:off x="7259202" y="1466580"/>
            <a:ext cx="1333094" cy="1962420"/>
            <a:chOff x="7236648" y="2522574"/>
            <a:chExt cx="1333094" cy="1962420"/>
          </a:xfrm>
          <a:effectLst>
            <a:outerShdw blurRad="50800" dist="63500" dir="2700000" algn="ctr" rotWithShape="0">
              <a:srgbClr val="000000">
                <a:alpha val="60284"/>
              </a:srgbClr>
            </a:outerShdw>
          </a:effectLst>
        </p:grpSpPr>
        <p:sp>
          <p:nvSpPr>
            <p:cNvPr id="17" name="대각선 방향의 모서리가 둥근 사각형 16">
              <a:extLst>
                <a:ext uri="{FF2B5EF4-FFF2-40B4-BE49-F238E27FC236}">
                  <a16:creationId xmlns:a16="http://schemas.microsoft.com/office/drawing/2014/main" id="{BE1B147B-DBD1-C811-F812-CEAF5D34756B}"/>
                </a:ext>
              </a:extLst>
            </p:cNvPr>
            <p:cNvSpPr/>
            <p:nvPr/>
          </p:nvSpPr>
          <p:spPr>
            <a:xfrm>
              <a:off x="7258163" y="2522574"/>
              <a:ext cx="1277965" cy="1962419"/>
            </a:xfrm>
            <a:prstGeom prst="round2DiagRect">
              <a:avLst/>
            </a:prstGeom>
            <a:solidFill>
              <a:srgbClr val="DE9B3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dirty="0">
                <a:latin typeface="GyeonggiTitle Bold" panose="02020803020101020101" pitchFamily="18" charset="-127"/>
                <a:ea typeface="GyeonggiTitle Bold" panose="02020803020101020101" pitchFamily="18" charset="-127"/>
              </a:endParaRPr>
            </a:p>
          </p:txBody>
        </p:sp>
        <p:sp>
          <p:nvSpPr>
            <p:cNvPr id="22" name="대각선 방향의 모서리가 둥근 사각형 21">
              <a:extLst>
                <a:ext uri="{FF2B5EF4-FFF2-40B4-BE49-F238E27FC236}">
                  <a16:creationId xmlns:a16="http://schemas.microsoft.com/office/drawing/2014/main" id="{A1AEDF03-BA57-36DF-2E99-990AC2AC0E71}"/>
                </a:ext>
              </a:extLst>
            </p:cNvPr>
            <p:cNvSpPr/>
            <p:nvPr/>
          </p:nvSpPr>
          <p:spPr>
            <a:xfrm>
              <a:off x="7258164" y="4078045"/>
              <a:ext cx="1277965" cy="406948"/>
            </a:xfrm>
            <a:prstGeom prst="round2DiagRect">
              <a:avLst>
                <a:gd name="adj1" fmla="val 50000"/>
                <a:gd name="adj2" fmla="val 0"/>
              </a:avLst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dirty="0">
                <a:latin typeface="GyeonggiTitle Bold" panose="02020803020101020101" pitchFamily="18" charset="-127"/>
                <a:ea typeface="GyeonggiTitle Bold" panose="02020803020101020101" pitchFamily="18" charset="-127"/>
              </a:endParaRPr>
            </a:p>
          </p:txBody>
        </p:sp>
        <p:sp>
          <p:nvSpPr>
            <p:cNvPr id="23" name="대각선 방향의 모서리가 둥근 사각형 22">
              <a:extLst>
                <a:ext uri="{FF2B5EF4-FFF2-40B4-BE49-F238E27FC236}">
                  <a16:creationId xmlns:a16="http://schemas.microsoft.com/office/drawing/2014/main" id="{0F831D9A-CCA8-DA4A-2B3A-86CEA6F3CB1D}"/>
                </a:ext>
              </a:extLst>
            </p:cNvPr>
            <p:cNvSpPr/>
            <p:nvPr/>
          </p:nvSpPr>
          <p:spPr>
            <a:xfrm>
              <a:off x="7258164" y="4078044"/>
              <a:ext cx="503781" cy="398406"/>
            </a:xfrm>
            <a:prstGeom prst="round2DiagRect">
              <a:avLst>
                <a:gd name="adj1" fmla="val 0"/>
                <a:gd name="adj2" fmla="val 0"/>
              </a:avLst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dirty="0">
                <a:latin typeface="GyeonggiTitle Bold" panose="02020803020101020101" pitchFamily="18" charset="-127"/>
                <a:ea typeface="GyeonggiTitle Bold" panose="02020803020101020101" pitchFamily="18" charset="-127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36F6D084-C0CF-5957-9856-88E876B84A00}"/>
                </a:ext>
              </a:extLst>
            </p:cNvPr>
            <p:cNvSpPr txBox="1"/>
            <p:nvPr/>
          </p:nvSpPr>
          <p:spPr>
            <a:xfrm>
              <a:off x="7466555" y="4108475"/>
              <a:ext cx="81135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ko-KR" altLang="en-US" sz="1400" dirty="0">
                  <a:solidFill>
                    <a:schemeClr val="bg1"/>
                  </a:solidFill>
                  <a:latin typeface="GyeonggiTitle Bold" panose="02020803020101020101" pitchFamily="18" charset="-127"/>
                  <a:ea typeface="GyeonggiTitle Bold" panose="02020803020101020101" pitchFamily="18" charset="-127"/>
                </a:rPr>
                <a:t>콜트</a:t>
              </a:r>
              <a:endParaRPr kumimoji="1" lang="en-US" altLang="ko-KR" sz="1400" dirty="0">
                <a:solidFill>
                  <a:schemeClr val="bg1"/>
                </a:solidFill>
                <a:latin typeface="GyeonggiTitle Bold" panose="02020803020101020101" pitchFamily="18" charset="-127"/>
                <a:ea typeface="GyeonggiTitle Bold" panose="02020803020101020101" pitchFamily="18" charset="-127"/>
              </a:endParaRPr>
            </a:p>
          </p:txBody>
        </p:sp>
        <p:sp>
          <p:nvSpPr>
            <p:cNvPr id="102" name="대각선 방향의 모서리가 둥근 사각형 101">
              <a:extLst>
                <a:ext uri="{FF2B5EF4-FFF2-40B4-BE49-F238E27FC236}">
                  <a16:creationId xmlns:a16="http://schemas.microsoft.com/office/drawing/2014/main" id="{4483FA74-01FA-009D-8EE9-07BAC18FAD33}"/>
                </a:ext>
              </a:extLst>
            </p:cNvPr>
            <p:cNvSpPr/>
            <p:nvPr/>
          </p:nvSpPr>
          <p:spPr>
            <a:xfrm>
              <a:off x="7236648" y="2522574"/>
              <a:ext cx="1319378" cy="1962420"/>
            </a:xfrm>
            <a:prstGeom prst="round2DiagRect">
              <a:avLst>
                <a:gd name="adj1" fmla="val 16667"/>
                <a:gd name="adj2" fmla="val 0"/>
              </a:avLst>
            </a:prstGeom>
            <a:noFill/>
            <a:ln>
              <a:solidFill>
                <a:srgbClr val="FFFFE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dirty="0">
                <a:latin typeface="GyeonggiTitle Bold" panose="02020803020101020101" pitchFamily="18" charset="-127"/>
                <a:ea typeface="GyeonggiTitle Bold" panose="02020803020101020101" pitchFamily="18" charset="-127"/>
              </a:endParaRPr>
            </a:p>
          </p:txBody>
        </p:sp>
        <p:sp>
          <p:nvSpPr>
            <p:cNvPr id="26" name="한쪽 모서리가 둥근 사각형 25">
              <a:extLst>
                <a:ext uri="{FF2B5EF4-FFF2-40B4-BE49-F238E27FC236}">
                  <a16:creationId xmlns:a16="http://schemas.microsoft.com/office/drawing/2014/main" id="{60356410-EC52-623C-E556-0CA49247DBAE}"/>
                </a:ext>
              </a:extLst>
            </p:cNvPr>
            <p:cNvSpPr/>
            <p:nvPr/>
          </p:nvSpPr>
          <p:spPr>
            <a:xfrm flipH="1">
              <a:off x="7253937" y="2527535"/>
              <a:ext cx="1282191" cy="1561312"/>
            </a:xfrm>
            <a:prstGeom prst="round1Rect">
              <a:avLst/>
            </a:prstGeom>
            <a:blipFill dpi="0" rotWithShape="0">
              <a:blip r:embed="rId7"/>
              <a:srcRect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dirty="0">
                <a:latin typeface="GyeonggiTitle Bold" panose="02020803020101020101" pitchFamily="18" charset="-127"/>
                <a:ea typeface="GyeonggiTitle Bold" panose="02020803020101020101" pitchFamily="18" charset="-127"/>
              </a:endParaRPr>
            </a:p>
          </p:txBody>
        </p:sp>
        <p:pic>
          <p:nvPicPr>
            <p:cNvPr id="25" name="그림 24" descr="스크린샷, 예술, 마룬, 어둠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9F33DD53-A267-6CD8-2074-130D1D69D7B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839476" y="2522574"/>
              <a:ext cx="730266" cy="755187"/>
            </a:xfrm>
            <a:prstGeom prst="rect">
              <a:avLst/>
            </a:prstGeom>
          </p:spPr>
        </p:pic>
        <p:pic>
          <p:nvPicPr>
            <p:cNvPr id="30" name="그림 29">
              <a:extLst>
                <a:ext uri="{FF2B5EF4-FFF2-40B4-BE49-F238E27FC236}">
                  <a16:creationId xmlns:a16="http://schemas.microsoft.com/office/drawing/2014/main" id="{891C0859-A94F-1ECE-51F6-487CEDE8B98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257742" y="3800848"/>
              <a:ext cx="288000" cy="288000"/>
            </a:xfrm>
            <a:prstGeom prst="rect">
              <a:avLst/>
            </a:prstGeom>
          </p:spPr>
        </p:pic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A3142404-C1B2-9BE2-95EA-8ABF670BE928}"/>
              </a:ext>
            </a:extLst>
          </p:cNvPr>
          <p:cNvSpPr txBox="1"/>
          <p:nvPr/>
        </p:nvSpPr>
        <p:spPr>
          <a:xfrm>
            <a:off x="1072526" y="586716"/>
            <a:ext cx="7646931" cy="9079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500" dirty="0">
                <a:solidFill>
                  <a:srgbClr val="FF0000"/>
                </a:solidFill>
                <a:latin typeface="GyeonggiTitle Bold" panose="02020803020101020101" pitchFamily="18" charset="-127"/>
                <a:ea typeface="GyeonggiTitle Bold" panose="02020803020101020101" pitchFamily="18" charset="-127"/>
              </a:rPr>
              <a:t>공덱</a:t>
            </a:r>
            <a:r>
              <a:rPr lang="ko-KR" altLang="en-US" sz="3500" dirty="0">
                <a:latin typeface="GyeonggiTitle Bold" panose="02020803020101020101" pitchFamily="18" charset="-127"/>
                <a:ea typeface="GyeonggiTitle Bold" panose="02020803020101020101" pitchFamily="18" charset="-127"/>
              </a:rPr>
              <a:t>의 핵심 조합</a:t>
            </a:r>
            <a:endParaRPr lang="en-US" altLang="ko-KR" sz="3500" dirty="0">
              <a:latin typeface="GyeonggiTitle Bold" panose="02020803020101020101" pitchFamily="18" charset="-127"/>
              <a:ea typeface="GyeonggiTitle Bold" panose="02020803020101020101" pitchFamily="18" charset="-127"/>
            </a:endParaRPr>
          </a:p>
          <a:p>
            <a:r>
              <a:rPr lang="ko-KR" altLang="en-US" dirty="0">
                <a:latin typeface="GyeonggiTitle Bold" panose="02020803020101020101" pitchFamily="18" charset="-127"/>
                <a:ea typeface="GyeonggiTitle Bold" panose="02020803020101020101" pitchFamily="18" charset="-127"/>
              </a:rPr>
              <a:t>핵심 영웅들의 시너지</a:t>
            </a:r>
            <a:endParaRPr lang="en-US" altLang="ko-KR" sz="3500" dirty="0">
              <a:latin typeface="GyeonggiTitle Bold" panose="02020803020101020101" pitchFamily="18" charset="-127"/>
              <a:ea typeface="GyeonggiTitle Bold" panose="02020803020101020101" pitchFamily="18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72089B0-73BB-94A3-DBF9-E527397CD1C3}"/>
              </a:ext>
            </a:extLst>
          </p:cNvPr>
          <p:cNvSpPr txBox="1"/>
          <p:nvPr/>
        </p:nvSpPr>
        <p:spPr>
          <a:xfrm>
            <a:off x="9666963" y="2050128"/>
            <a:ext cx="11879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R" altLang="en-US" dirty="0">
                <a:solidFill>
                  <a:srgbClr val="4472C4"/>
                </a:solidFill>
                <a:latin typeface="GyeonggiTitle Bold" panose="02020803020101020101" pitchFamily="18" charset="-127"/>
                <a:ea typeface="GyeonggiTitle Bold" panose="02020803020101020101" pitchFamily="18" charset="-127"/>
              </a:rPr>
              <a:t>전열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CB5F854-8950-BD19-AD93-BCD7FE3B24A5}"/>
              </a:ext>
            </a:extLst>
          </p:cNvPr>
          <p:cNvSpPr txBox="1"/>
          <p:nvPr/>
        </p:nvSpPr>
        <p:spPr>
          <a:xfrm>
            <a:off x="7784499" y="3459233"/>
            <a:ext cx="7206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R" altLang="en-US" dirty="0">
                <a:solidFill>
                  <a:srgbClr val="FF0000"/>
                </a:solidFill>
                <a:latin typeface="GyeonggiTitle Bold" panose="02020803020101020101" pitchFamily="18" charset="-127"/>
                <a:ea typeface="GyeonggiTitle Bold" panose="02020803020101020101" pitchFamily="18" charset="-127"/>
              </a:rPr>
              <a:t>후열</a:t>
            </a:r>
          </a:p>
        </p:txBody>
      </p:sp>
      <p:grpSp>
        <p:nvGrpSpPr>
          <p:cNvPr id="121" name="그룹 120">
            <a:extLst>
              <a:ext uri="{FF2B5EF4-FFF2-40B4-BE49-F238E27FC236}">
                <a16:creationId xmlns:a16="http://schemas.microsoft.com/office/drawing/2014/main" id="{71D14097-288F-724F-BA2D-998520AE20ED}"/>
              </a:ext>
            </a:extLst>
          </p:cNvPr>
          <p:cNvGrpSpPr/>
          <p:nvPr/>
        </p:nvGrpSpPr>
        <p:grpSpPr>
          <a:xfrm>
            <a:off x="828000" y="4608000"/>
            <a:ext cx="10541032" cy="1785508"/>
            <a:chOff x="825483" y="2473195"/>
            <a:chExt cx="10541032" cy="1785508"/>
          </a:xfrm>
        </p:grpSpPr>
        <p:grpSp>
          <p:nvGrpSpPr>
            <p:cNvPr id="5" name="그룹 4">
              <a:extLst>
                <a:ext uri="{FF2B5EF4-FFF2-40B4-BE49-F238E27FC236}">
                  <a16:creationId xmlns:a16="http://schemas.microsoft.com/office/drawing/2014/main" id="{70D6169C-5C36-F904-D66B-87DDCA3DB58E}"/>
                </a:ext>
              </a:extLst>
            </p:cNvPr>
            <p:cNvGrpSpPr/>
            <p:nvPr/>
          </p:nvGrpSpPr>
          <p:grpSpPr>
            <a:xfrm>
              <a:off x="825483" y="2473195"/>
              <a:ext cx="10541032" cy="1785508"/>
              <a:chOff x="900000" y="3940820"/>
              <a:chExt cx="10541032" cy="2471785"/>
            </a:xfrm>
          </p:grpSpPr>
          <p:grpSp>
            <p:nvGrpSpPr>
              <p:cNvPr id="7" name="그룹 6">
                <a:extLst>
                  <a:ext uri="{FF2B5EF4-FFF2-40B4-BE49-F238E27FC236}">
                    <a16:creationId xmlns:a16="http://schemas.microsoft.com/office/drawing/2014/main" id="{B8ADB31F-E2E0-FC2F-6363-E6D5EBDA7EB4}"/>
                  </a:ext>
                </a:extLst>
              </p:cNvPr>
              <p:cNvGrpSpPr/>
              <p:nvPr/>
            </p:nvGrpSpPr>
            <p:grpSpPr>
              <a:xfrm>
                <a:off x="900000" y="3940820"/>
                <a:ext cx="10541032" cy="2471785"/>
                <a:chOff x="807688" y="1546884"/>
                <a:chExt cx="10541032" cy="4864076"/>
              </a:xfrm>
            </p:grpSpPr>
            <p:grpSp>
              <p:nvGrpSpPr>
                <p:cNvPr id="19" name="그룹 18">
                  <a:extLst>
                    <a:ext uri="{FF2B5EF4-FFF2-40B4-BE49-F238E27FC236}">
                      <a16:creationId xmlns:a16="http://schemas.microsoft.com/office/drawing/2014/main" id="{603C7E2D-168F-DB25-D713-A8C99E5CB604}"/>
                    </a:ext>
                  </a:extLst>
                </p:cNvPr>
                <p:cNvGrpSpPr/>
                <p:nvPr/>
              </p:nvGrpSpPr>
              <p:grpSpPr>
                <a:xfrm>
                  <a:off x="807688" y="1546884"/>
                  <a:ext cx="10541032" cy="4864076"/>
                  <a:chOff x="807688" y="1546884"/>
                  <a:chExt cx="10541032" cy="4864076"/>
                </a:xfrm>
              </p:grpSpPr>
              <p:sp>
                <p:nvSpPr>
                  <p:cNvPr id="38" name="대각선 방향의 모서리가 둥근 사각형 37">
                    <a:extLst>
                      <a:ext uri="{FF2B5EF4-FFF2-40B4-BE49-F238E27FC236}">
                        <a16:creationId xmlns:a16="http://schemas.microsoft.com/office/drawing/2014/main" id="{AAB70C64-D1D5-07B6-17A5-1464330A4D36}"/>
                      </a:ext>
                    </a:extLst>
                  </p:cNvPr>
                  <p:cNvSpPr/>
                  <p:nvPr/>
                </p:nvSpPr>
                <p:spPr>
                  <a:xfrm>
                    <a:off x="807688" y="1546884"/>
                    <a:ext cx="10541032" cy="4864076"/>
                  </a:xfrm>
                  <a:prstGeom prst="round2DiagRect">
                    <a:avLst>
                      <a:gd name="adj1" fmla="val 8177"/>
                      <a:gd name="adj2" fmla="val 0"/>
                    </a:avLst>
                  </a:prstGeom>
                  <a:solidFill>
                    <a:srgbClr val="B4B4B3">
                      <a:alpha val="36515"/>
                    </a:srgb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lvl="0" eaLnBrk="0" fontAlgn="base" latinLnBrk="0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en-US" altLang="ko-KR" sz="1600" dirty="0">
                      <a:solidFill>
                        <a:schemeClr val="tx1"/>
                      </a:solidFill>
                      <a:latin typeface="GyeonggiTitle Bold" panose="02020803020101020101" pitchFamily="18" charset="-127"/>
                      <a:ea typeface="GyeonggiTitle Bold" panose="02020803020101020101" pitchFamily="18" charset="-127"/>
                    </a:endParaRPr>
                  </a:p>
                </p:txBody>
              </p:sp>
              <p:grpSp>
                <p:nvGrpSpPr>
                  <p:cNvPr id="39" name="그룹 38">
                    <a:extLst>
                      <a:ext uri="{FF2B5EF4-FFF2-40B4-BE49-F238E27FC236}">
                        <a16:creationId xmlns:a16="http://schemas.microsoft.com/office/drawing/2014/main" id="{B18792A1-C9E5-8D6E-54B2-83425DBB63F4}"/>
                      </a:ext>
                    </a:extLst>
                  </p:cNvPr>
                  <p:cNvGrpSpPr/>
                  <p:nvPr/>
                </p:nvGrpSpPr>
                <p:grpSpPr>
                  <a:xfrm>
                    <a:off x="861887" y="1708925"/>
                    <a:ext cx="3271596" cy="4430274"/>
                    <a:chOff x="3850944" y="905654"/>
                    <a:chExt cx="3271596" cy="4994694"/>
                  </a:xfrm>
                  <a:effectLst>
                    <a:outerShdw blurRad="50800" dist="131726" dir="2700000" algn="ctr" rotWithShape="0">
                      <a:srgbClr val="000000">
                        <a:alpha val="50000"/>
                      </a:srgbClr>
                    </a:outerShdw>
                  </a:effectLst>
                </p:grpSpPr>
                <p:grpSp>
                  <p:nvGrpSpPr>
                    <p:cNvPr id="47" name="그룹 46">
                      <a:extLst>
                        <a:ext uri="{FF2B5EF4-FFF2-40B4-BE49-F238E27FC236}">
                          <a16:creationId xmlns:a16="http://schemas.microsoft.com/office/drawing/2014/main" id="{2B276BA8-23F9-F78E-DD01-3F5B8515A781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3930766" y="905654"/>
                      <a:ext cx="3191774" cy="4994694"/>
                      <a:chOff x="3907766" y="931653"/>
                      <a:chExt cx="3191774" cy="4994694"/>
                    </a:xfrm>
                  </p:grpSpPr>
                  <p:sp>
                    <p:nvSpPr>
                      <p:cNvPr id="49" name="대각선 방향의 모서리가 둥근 사각형 48">
                        <a:extLst>
                          <a:ext uri="{FF2B5EF4-FFF2-40B4-BE49-F238E27FC236}">
                            <a16:creationId xmlns:a16="http://schemas.microsoft.com/office/drawing/2014/main" id="{47A578C9-B99E-66BA-BB44-D5B49F2880C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3907766" y="931653"/>
                        <a:ext cx="3191774" cy="4994694"/>
                      </a:xfrm>
                      <a:prstGeom prst="round2DiagRect">
                        <a:avLst>
                          <a:gd name="adj1" fmla="val 10451"/>
                          <a:gd name="adj2" fmla="val 0"/>
                        </a:avLst>
                      </a:prstGeom>
                      <a:solidFill>
                        <a:srgbClr val="DEDCDA"/>
                      </a:solidFill>
                      <a:ln>
                        <a:solidFill>
                          <a:srgbClr val="DEDCDA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kumimoji="1" lang="ko-KR" altLang="en-US">
                          <a:latin typeface="GyeonggiTitle Bold" panose="02020803020101020101" pitchFamily="18" charset="-127"/>
                          <a:ea typeface="GyeonggiTitle Bold" panose="02020803020101020101" pitchFamily="18" charset="-127"/>
                        </a:endParaRPr>
                      </a:p>
                    </p:txBody>
                  </p:sp>
                  <p:sp>
                    <p:nvSpPr>
                      <p:cNvPr id="50" name="대각선 방향의 모서리가 둥근 사각형 49">
                        <a:extLst>
                          <a:ext uri="{FF2B5EF4-FFF2-40B4-BE49-F238E27FC236}">
                            <a16:creationId xmlns:a16="http://schemas.microsoft.com/office/drawing/2014/main" id="{14CA016F-A4B6-16BB-66B2-36C3AD03DD3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3907766" y="931653"/>
                        <a:ext cx="3191774" cy="973234"/>
                      </a:xfrm>
                      <a:prstGeom prst="round2DiagRect">
                        <a:avLst>
                          <a:gd name="adj1" fmla="val 48374"/>
                          <a:gd name="adj2" fmla="val 0"/>
                        </a:avLst>
                      </a:prstGeom>
                      <a:solidFill>
                        <a:srgbClr val="393833"/>
                      </a:solidFill>
                      <a:ln>
                        <a:solidFill>
                          <a:srgbClr val="DFDCDA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kumimoji="1" lang="ko-KR" altLang="en-US" b="1" dirty="0" err="1">
                            <a:latin typeface="GyeonggiTitle Bold" panose="02020803020101020101" pitchFamily="18" charset="-127"/>
                            <a:ea typeface="GyeonggiTitle Bold" panose="02020803020101020101" pitchFamily="18" charset="-127"/>
                          </a:rPr>
                          <a:t>카구라</a:t>
                        </a:r>
                        <a:endParaRPr kumimoji="1" lang="ko-KR" altLang="en-US" b="1" dirty="0">
                          <a:latin typeface="GyeonggiTitle Bold" panose="02020803020101020101" pitchFamily="18" charset="-127"/>
                          <a:ea typeface="GyeonggiTitle Bold" panose="02020803020101020101" pitchFamily="18" charset="-127"/>
                        </a:endParaRPr>
                      </a:p>
                    </p:txBody>
                  </p:sp>
                </p:grpSp>
                <p:sp>
                  <p:nvSpPr>
                    <p:cNvPr id="48" name="TextBox 47">
                      <a:extLst>
                        <a:ext uri="{FF2B5EF4-FFF2-40B4-BE49-F238E27FC236}">
                          <a16:creationId xmlns:a16="http://schemas.microsoft.com/office/drawing/2014/main" id="{75031E23-CA66-BC95-82B1-7AC342B64FE7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850944" y="2368648"/>
                      <a:ext cx="3191771" cy="369770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lvl="0" eaLnBrk="0" fontAlgn="base" latinLnBrk="0" hangingPunc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lang="en-US" altLang="ko-KR" sz="1500" dirty="0">
                        <a:latin typeface="GyeonggiTitleOTF Light" panose="02020403020101020101" pitchFamily="18" charset="-127"/>
                        <a:ea typeface="GyeonggiTitleOTF Light" panose="02020403020101020101" pitchFamily="18" charset="-127"/>
                      </a:endParaRPr>
                    </a:p>
                  </p:txBody>
                </p:sp>
              </p:grpSp>
              <p:grpSp>
                <p:nvGrpSpPr>
                  <p:cNvPr id="42" name="그룹 41">
                    <a:extLst>
                      <a:ext uri="{FF2B5EF4-FFF2-40B4-BE49-F238E27FC236}">
                        <a16:creationId xmlns:a16="http://schemas.microsoft.com/office/drawing/2014/main" id="{8D5EBBA8-76C3-EB25-76DE-F05D3A6971B6}"/>
                      </a:ext>
                    </a:extLst>
                  </p:cNvPr>
                  <p:cNvGrpSpPr/>
                  <p:nvPr/>
                </p:nvGrpSpPr>
                <p:grpSpPr>
                  <a:xfrm>
                    <a:off x="4460202" y="1708925"/>
                    <a:ext cx="3191774" cy="4430274"/>
                    <a:chOff x="2904209" y="1707509"/>
                    <a:chExt cx="3191774" cy="4430274"/>
                  </a:xfrm>
                  <a:effectLst>
                    <a:outerShdw blurRad="50800" dist="127000" dir="2700000" algn="ctr" rotWithShape="0">
                      <a:srgbClr val="000000">
                        <a:alpha val="50000"/>
                      </a:srgbClr>
                    </a:outerShdw>
                  </a:effectLst>
                </p:grpSpPr>
                <p:grpSp>
                  <p:nvGrpSpPr>
                    <p:cNvPr id="43" name="그룹 42">
                      <a:extLst>
                        <a:ext uri="{FF2B5EF4-FFF2-40B4-BE49-F238E27FC236}">
                          <a16:creationId xmlns:a16="http://schemas.microsoft.com/office/drawing/2014/main" id="{494F9351-94AB-1E6C-916A-08122AC07DB4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904209" y="1707509"/>
                      <a:ext cx="3191774" cy="4430274"/>
                      <a:chOff x="3907766" y="931653"/>
                      <a:chExt cx="3191774" cy="4994694"/>
                    </a:xfrm>
                  </p:grpSpPr>
                  <p:sp>
                    <p:nvSpPr>
                      <p:cNvPr id="45" name="대각선 방향의 모서리가 둥근 사각형 44">
                        <a:extLst>
                          <a:ext uri="{FF2B5EF4-FFF2-40B4-BE49-F238E27FC236}">
                            <a16:creationId xmlns:a16="http://schemas.microsoft.com/office/drawing/2014/main" id="{A8F12737-B310-EF66-C638-AF1F94A76D7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3907766" y="931653"/>
                        <a:ext cx="3191774" cy="4994694"/>
                      </a:xfrm>
                      <a:prstGeom prst="round2DiagRect">
                        <a:avLst>
                          <a:gd name="adj1" fmla="val 10451"/>
                          <a:gd name="adj2" fmla="val 0"/>
                        </a:avLst>
                      </a:prstGeom>
                      <a:solidFill>
                        <a:srgbClr val="DEDCDA"/>
                      </a:solidFill>
                      <a:ln>
                        <a:solidFill>
                          <a:srgbClr val="DEDCDA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kumimoji="1" lang="ko-KR" altLang="en-US" dirty="0">
                          <a:latin typeface="GyeonggiTitle Bold" panose="02020803020101020101" pitchFamily="18" charset="-127"/>
                          <a:ea typeface="GyeonggiTitle Bold" panose="02020803020101020101" pitchFamily="18" charset="-127"/>
                        </a:endParaRPr>
                      </a:p>
                    </p:txBody>
                  </p:sp>
                  <p:sp>
                    <p:nvSpPr>
                      <p:cNvPr id="46" name="대각선 방향의 모서리가 둥근 사각형 45">
                        <a:extLst>
                          <a:ext uri="{FF2B5EF4-FFF2-40B4-BE49-F238E27FC236}">
                            <a16:creationId xmlns:a16="http://schemas.microsoft.com/office/drawing/2014/main" id="{33A7BA50-D8F0-7258-B097-EABB4F1A3D5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3907766" y="931653"/>
                        <a:ext cx="3191774" cy="973234"/>
                      </a:xfrm>
                      <a:prstGeom prst="round2DiagRect">
                        <a:avLst>
                          <a:gd name="adj1" fmla="val 48374"/>
                          <a:gd name="adj2" fmla="val 0"/>
                        </a:avLst>
                      </a:prstGeom>
                      <a:solidFill>
                        <a:srgbClr val="393832"/>
                      </a:solidFill>
                      <a:ln>
                        <a:solidFill>
                          <a:srgbClr val="DFDCDA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kumimoji="1" lang="ko-KR" altLang="en-US" b="1" dirty="0">
                            <a:solidFill>
                              <a:schemeClr val="bg1"/>
                            </a:solidFill>
                            <a:latin typeface="GyeonggiTitle Bold" panose="02020803020101020101" pitchFamily="18" charset="-127"/>
                            <a:ea typeface="GyeonggiTitle Bold" panose="02020803020101020101" pitchFamily="18" charset="-127"/>
                          </a:rPr>
                          <a:t>시너지 효과</a:t>
                        </a:r>
                      </a:p>
                    </p:txBody>
                  </p:sp>
                </p:grpSp>
                <p:sp>
                  <p:nvSpPr>
                    <p:cNvPr id="44" name="TextBox 43">
                      <a:extLst>
                        <a:ext uri="{FF2B5EF4-FFF2-40B4-BE49-F238E27FC236}">
                          <a16:creationId xmlns:a16="http://schemas.microsoft.com/office/drawing/2014/main" id="{0EC242A5-E3B6-869E-02EF-03017578F97F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270165" y="3528912"/>
                      <a:ext cx="1119892" cy="1006133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endParaRPr lang="en-US" altLang="ko-KR" dirty="0">
                        <a:solidFill>
                          <a:schemeClr val="bg1"/>
                        </a:solidFill>
                        <a:latin typeface="GyeonggiTitle Bold" panose="02020803020101020101" pitchFamily="18" charset="-127"/>
                        <a:ea typeface="GyeonggiTitle Bold" panose="02020803020101020101" pitchFamily="18" charset="-127"/>
                      </a:endParaRPr>
                    </a:p>
                  </p:txBody>
                </p:sp>
              </p:grpSp>
            </p:grpSp>
            <p:grpSp>
              <p:nvGrpSpPr>
                <p:cNvPr id="20" name="그룹 19">
                  <a:extLst>
                    <a:ext uri="{FF2B5EF4-FFF2-40B4-BE49-F238E27FC236}">
                      <a16:creationId xmlns:a16="http://schemas.microsoft.com/office/drawing/2014/main" id="{FB8ED1FE-AE6D-4337-53ED-DB029980E015}"/>
                    </a:ext>
                  </a:extLst>
                </p:cNvPr>
                <p:cNvGrpSpPr/>
                <p:nvPr/>
              </p:nvGrpSpPr>
              <p:grpSpPr>
                <a:xfrm>
                  <a:off x="7978692" y="1707407"/>
                  <a:ext cx="3191774" cy="4430274"/>
                  <a:chOff x="2904209" y="1707509"/>
                  <a:chExt cx="3191774" cy="4430274"/>
                </a:xfrm>
                <a:effectLst>
                  <a:outerShdw blurRad="50800" dist="127000" dir="2700000" algn="ctr" rotWithShape="0">
                    <a:srgbClr val="000000">
                      <a:alpha val="50000"/>
                    </a:srgbClr>
                  </a:outerShdw>
                </a:effectLst>
              </p:grpSpPr>
              <p:grpSp>
                <p:nvGrpSpPr>
                  <p:cNvPr id="21" name="그룹 20">
                    <a:extLst>
                      <a:ext uri="{FF2B5EF4-FFF2-40B4-BE49-F238E27FC236}">
                        <a16:creationId xmlns:a16="http://schemas.microsoft.com/office/drawing/2014/main" id="{D801EA63-A76D-25D8-BF25-C88EC739B5E0}"/>
                      </a:ext>
                    </a:extLst>
                  </p:cNvPr>
                  <p:cNvGrpSpPr/>
                  <p:nvPr/>
                </p:nvGrpSpPr>
                <p:grpSpPr>
                  <a:xfrm>
                    <a:off x="2904209" y="1707509"/>
                    <a:ext cx="3191774" cy="4430274"/>
                    <a:chOff x="3907766" y="931653"/>
                    <a:chExt cx="3191774" cy="4994694"/>
                  </a:xfrm>
                </p:grpSpPr>
                <p:sp>
                  <p:nvSpPr>
                    <p:cNvPr id="34" name="대각선 방향의 모서리가 둥근 사각형 33">
                      <a:extLst>
                        <a:ext uri="{FF2B5EF4-FFF2-40B4-BE49-F238E27FC236}">
                          <a16:creationId xmlns:a16="http://schemas.microsoft.com/office/drawing/2014/main" id="{8E4849CD-27D6-7B45-3AB8-5D63D68160D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907766" y="931653"/>
                      <a:ext cx="3191774" cy="4994694"/>
                    </a:xfrm>
                    <a:prstGeom prst="round2DiagRect">
                      <a:avLst>
                        <a:gd name="adj1" fmla="val 10451"/>
                        <a:gd name="adj2" fmla="val 0"/>
                      </a:avLst>
                    </a:prstGeom>
                    <a:solidFill>
                      <a:srgbClr val="DEDCDA"/>
                    </a:solidFill>
                    <a:ln>
                      <a:solidFill>
                        <a:srgbClr val="DEDCDA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kumimoji="1" lang="ko-KR" altLang="en-US" dirty="0">
                        <a:latin typeface="GyeonggiTitle Bold" panose="02020803020101020101" pitchFamily="18" charset="-127"/>
                        <a:ea typeface="GyeonggiTitle Bold" panose="02020803020101020101" pitchFamily="18" charset="-127"/>
                      </a:endParaRPr>
                    </a:p>
                  </p:txBody>
                </p:sp>
                <p:sp>
                  <p:nvSpPr>
                    <p:cNvPr id="36" name="대각선 방향의 모서리가 둥근 사각형 35">
                      <a:extLst>
                        <a:ext uri="{FF2B5EF4-FFF2-40B4-BE49-F238E27FC236}">
                          <a16:creationId xmlns:a16="http://schemas.microsoft.com/office/drawing/2014/main" id="{C577B874-F338-17A2-12C0-7162AA61E85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907766" y="931653"/>
                      <a:ext cx="3191774" cy="973234"/>
                    </a:xfrm>
                    <a:prstGeom prst="round2DiagRect">
                      <a:avLst>
                        <a:gd name="adj1" fmla="val 48374"/>
                        <a:gd name="adj2" fmla="val 0"/>
                      </a:avLst>
                    </a:prstGeom>
                    <a:solidFill>
                      <a:srgbClr val="393833"/>
                    </a:solidFill>
                    <a:ln>
                      <a:solidFill>
                        <a:srgbClr val="DFDCDA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kumimoji="1" lang="ko-KR" altLang="en-US" b="1" dirty="0">
                          <a:latin typeface="GyeonggiTitle Bold" panose="02020803020101020101" pitchFamily="18" charset="-127"/>
                          <a:ea typeface="GyeonggiTitle Bold" panose="02020803020101020101" pitchFamily="18" charset="-127"/>
                        </a:rPr>
                        <a:t>콜트</a:t>
                      </a:r>
                    </a:p>
                  </p:txBody>
                </p:sp>
              </p:grpSp>
              <p:sp>
                <p:nvSpPr>
                  <p:cNvPr id="32" name="TextBox 31">
                    <a:extLst>
                      <a:ext uri="{FF2B5EF4-FFF2-40B4-BE49-F238E27FC236}">
                        <a16:creationId xmlns:a16="http://schemas.microsoft.com/office/drawing/2014/main" id="{CBA1FAF9-49C4-BFB4-E552-AAC0F630000F}"/>
                      </a:ext>
                    </a:extLst>
                  </p:cNvPr>
                  <p:cNvSpPr txBox="1"/>
                  <p:nvPr/>
                </p:nvSpPr>
                <p:spPr>
                  <a:xfrm>
                    <a:off x="2904209" y="3343457"/>
                    <a:ext cx="3191771" cy="32798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lvl="0" eaLnBrk="0" fontAlgn="base" latinLnBrk="0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en-US" altLang="ko-KR" sz="1500" dirty="0">
                      <a:latin typeface="GyeonggiTitleOTF Light" panose="02020403020101020101" pitchFamily="18" charset="-127"/>
                      <a:ea typeface="GyeonggiTitleOTF Light" panose="02020403020101020101" pitchFamily="18" charset="-127"/>
                    </a:endParaRPr>
                  </a:p>
                </p:txBody>
              </p:sp>
            </p:grpSp>
          </p:grpSp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26B7D59-0AAA-65A8-1279-FE227CD3E9DC}"/>
                  </a:ext>
                </a:extLst>
              </p:cNvPr>
              <p:cNvSpPr txBox="1"/>
              <p:nvPr/>
            </p:nvSpPr>
            <p:spPr>
              <a:xfrm>
                <a:off x="1041983" y="4579284"/>
                <a:ext cx="3155398" cy="42607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endParaRPr lang="en-US" altLang="ko-KR" sz="1400" b="1" dirty="0">
                  <a:latin typeface="GYEONGGITITLEOTF LIGHT" panose="02020403020101020101" pitchFamily="18" charset="-127"/>
                  <a:ea typeface="GYEONGGITITLEOTF LIGHT" panose="02020403020101020101" pitchFamily="18" charset="-127"/>
                </a:endParaRP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6469979D-B57F-2F5F-2295-389BE2FC0861}"/>
                  </a:ext>
                </a:extLst>
              </p:cNvPr>
              <p:cNvSpPr txBox="1"/>
              <p:nvPr/>
            </p:nvSpPr>
            <p:spPr>
              <a:xfrm>
                <a:off x="4580911" y="4522676"/>
                <a:ext cx="3134978" cy="42607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endParaRPr lang="en-US" altLang="ko-KR" sz="1400" dirty="0">
                  <a:latin typeface="GyeonggiTitleOTF Light" panose="02020403020101020101" pitchFamily="18" charset="-127"/>
                  <a:ea typeface="GyeonggiTitleOTF Light" panose="02020403020101020101" pitchFamily="18" charset="-127"/>
                </a:endParaRPr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20A3B8BB-1D9E-5B03-E8A3-F9A7839E1E7D}"/>
                  </a:ext>
                </a:extLst>
              </p:cNvPr>
              <p:cNvSpPr txBox="1"/>
              <p:nvPr/>
            </p:nvSpPr>
            <p:spPr>
              <a:xfrm>
                <a:off x="8122415" y="4522676"/>
                <a:ext cx="3115386" cy="42607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endParaRPr lang="ko-KR" altLang="en-US" sz="1400" dirty="0">
                  <a:latin typeface="GyeonggiTitleOTF Light" panose="02020403020101020101" pitchFamily="18" charset="-127"/>
                  <a:ea typeface="GyeonggiTitleOTF Light" panose="02020403020101020101" pitchFamily="18" charset="-127"/>
                </a:endParaRPr>
              </a:p>
            </p:txBody>
          </p:sp>
        </p:grpSp>
        <p:sp>
          <p:nvSpPr>
            <p:cNvPr id="116" name="TextBox 115">
              <a:extLst>
                <a:ext uri="{FF2B5EF4-FFF2-40B4-BE49-F238E27FC236}">
                  <a16:creationId xmlns:a16="http://schemas.microsoft.com/office/drawing/2014/main" id="{39E0AFB8-FAEF-443E-583F-47F5D83827DF}"/>
                </a:ext>
              </a:extLst>
            </p:cNvPr>
            <p:cNvSpPr txBox="1"/>
            <p:nvPr/>
          </p:nvSpPr>
          <p:spPr>
            <a:xfrm>
              <a:off x="947297" y="2799391"/>
              <a:ext cx="3124158" cy="138499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ko-KR" altLang="en-US" sz="1400" b="1" dirty="0">
                  <a:latin typeface="GyeonggiTitleOTF Light" panose="02020403020101020101" pitchFamily="18" charset="-127"/>
                  <a:ea typeface="GyeonggiTitleOTF Light" panose="02020403020101020101" pitchFamily="18" charset="-127"/>
                </a:rPr>
                <a:t>패시브</a:t>
              </a:r>
              <a:r>
                <a:rPr lang="ko-KR" altLang="en-US" sz="1400" dirty="0">
                  <a:latin typeface="GyeonggiTitleOTF Light" panose="02020403020101020101" pitchFamily="18" charset="-127"/>
                  <a:ea typeface="GyeonggiTitleOTF Light" panose="02020403020101020101" pitchFamily="18" charset="-127"/>
                </a:rPr>
                <a:t> </a:t>
              </a:r>
              <a:r>
                <a:rPr lang="en-US" altLang="ko-KR" sz="1400" dirty="0">
                  <a:latin typeface="GyeonggiTitleOTF Light" panose="02020403020101020101" pitchFamily="18" charset="-127"/>
                  <a:ea typeface="GyeonggiTitleOTF Light" panose="02020403020101020101" pitchFamily="18" charset="-127"/>
                </a:rPr>
                <a:t>:</a:t>
              </a:r>
              <a:r>
                <a:rPr lang="ko-KR" altLang="en-US" sz="1400" dirty="0" err="1">
                  <a:latin typeface="GyeonggiTitleOTF Light" panose="02020403020101020101" pitchFamily="18" charset="-127"/>
                  <a:ea typeface="GyeonggiTitleOTF Light" panose="02020403020101020101" pitchFamily="18" charset="-127"/>
                </a:rPr>
                <a:t>사낭</a:t>
              </a:r>
              <a:r>
                <a:rPr lang="ko-KR" altLang="en-US" sz="1400" dirty="0">
                  <a:latin typeface="GyeonggiTitleOTF Light" panose="02020403020101020101" pitchFamily="18" charset="-127"/>
                  <a:ea typeface="GyeonggiTitleOTF Light" panose="02020403020101020101" pitchFamily="18" charset="-127"/>
                </a:rPr>
                <a:t> 시 불굴 상태로 부활</a:t>
              </a:r>
              <a:r>
                <a:rPr lang="en-US" altLang="ko-KR" sz="1400" dirty="0">
                  <a:latin typeface="GyeonggiTitleOTF Light" panose="02020403020101020101" pitchFamily="18" charset="-127"/>
                  <a:ea typeface="GyeonggiTitleOTF Light" panose="02020403020101020101" pitchFamily="18" charset="-127"/>
                </a:rPr>
                <a:t>(</a:t>
              </a:r>
              <a:r>
                <a:rPr lang="ko-KR" altLang="en-US" sz="1400" dirty="0">
                  <a:latin typeface="GyeonggiTitleOTF Light" panose="02020403020101020101" pitchFamily="18" charset="-127"/>
                  <a:ea typeface="GyeonggiTitleOTF Light" panose="02020403020101020101" pitchFamily="18" charset="-127"/>
                </a:rPr>
                <a:t>피격 </a:t>
              </a:r>
              <a:r>
                <a:rPr lang="en-US" altLang="ko-KR" sz="1400" dirty="0">
                  <a:latin typeface="GyeonggiTitleOTF Light" panose="02020403020101020101" pitchFamily="18" charset="-127"/>
                  <a:ea typeface="GyeonggiTitleOTF Light" panose="02020403020101020101" pitchFamily="18" charset="-127"/>
                </a:rPr>
                <a:t>8</a:t>
              </a:r>
              <a:r>
                <a:rPr lang="ko-KR" altLang="en-US" sz="1400" dirty="0">
                  <a:latin typeface="GyeonggiTitleOTF Light" panose="02020403020101020101" pitchFamily="18" charset="-127"/>
                  <a:ea typeface="GyeonggiTitleOTF Light" panose="02020403020101020101" pitchFamily="18" charset="-127"/>
                </a:rPr>
                <a:t>회</a:t>
              </a:r>
              <a:r>
                <a:rPr lang="en-US" altLang="ko-KR" sz="1400" dirty="0">
                  <a:latin typeface="GyeonggiTitleOTF Light" panose="02020403020101020101" pitchFamily="18" charset="-127"/>
                  <a:ea typeface="GyeonggiTitleOTF Light" panose="02020403020101020101" pitchFamily="18" charset="-127"/>
                </a:rPr>
                <a:t>)</a:t>
              </a:r>
            </a:p>
            <a:p>
              <a:endParaRPr lang="en-US" altLang="ko-KR" sz="1400" dirty="0">
                <a:latin typeface="GyeonggiTitleOTF Light" panose="02020403020101020101" pitchFamily="18" charset="-127"/>
                <a:ea typeface="GyeonggiTitleOTF Light" panose="02020403020101020101" pitchFamily="18" charset="-127"/>
              </a:endParaRPr>
            </a:p>
            <a:p>
              <a:r>
                <a:rPr lang="ko-KR" altLang="en-US" sz="1400" b="1" dirty="0">
                  <a:latin typeface="GyeonggiTitleOTF Light" panose="02020403020101020101" pitchFamily="18" charset="-127"/>
                  <a:ea typeface="GyeonggiTitleOTF Light" panose="02020403020101020101" pitchFamily="18" charset="-127"/>
                </a:rPr>
                <a:t>패시브</a:t>
              </a:r>
              <a:r>
                <a:rPr lang="ko-KR" altLang="en-US" sz="1400" dirty="0">
                  <a:latin typeface="GyeonggiTitleOTF Light" panose="02020403020101020101" pitchFamily="18" charset="-127"/>
                  <a:ea typeface="GyeonggiTitleOTF Light" panose="02020403020101020101" pitchFamily="18" charset="-127"/>
                </a:rPr>
                <a:t> </a:t>
              </a:r>
              <a:r>
                <a:rPr lang="en-US" altLang="ko-KR" sz="1400" dirty="0">
                  <a:latin typeface="GyeonggiTitleOTF Light" panose="02020403020101020101" pitchFamily="18" charset="-127"/>
                  <a:ea typeface="GyeonggiTitleOTF Light" panose="02020403020101020101" pitchFamily="18" charset="-127"/>
                </a:rPr>
                <a:t>(</a:t>
              </a:r>
              <a:r>
                <a:rPr lang="ko-KR" altLang="en-US" sz="1400" dirty="0">
                  <a:latin typeface="GyeonggiTitleOTF Light" panose="02020403020101020101" pitchFamily="18" charset="-127"/>
                  <a:ea typeface="GyeonggiTitleOTF Light" panose="02020403020101020101" pitchFamily="18" charset="-127"/>
                </a:rPr>
                <a:t>모든 아군 적용</a:t>
              </a:r>
              <a:r>
                <a:rPr lang="en-US" altLang="ko-KR" sz="1400" dirty="0">
                  <a:latin typeface="GyeonggiTitleOTF Light" panose="02020403020101020101" pitchFamily="18" charset="-127"/>
                  <a:ea typeface="GyeonggiTitleOTF Light" panose="02020403020101020101" pitchFamily="18" charset="-127"/>
                </a:rPr>
                <a:t>) : </a:t>
              </a:r>
              <a:r>
                <a:rPr lang="ko-KR" altLang="en-US" sz="1400" b="1" dirty="0">
                  <a:latin typeface="GyeonggiTitleOTF Light" panose="02020403020101020101" pitchFamily="18" charset="-127"/>
                  <a:ea typeface="GyeonggiTitleOTF Light" panose="02020403020101020101" pitchFamily="18" charset="-127"/>
                </a:rPr>
                <a:t>치명타 피해 증가</a:t>
              </a:r>
              <a:r>
                <a:rPr lang="en-US" altLang="ko-KR" sz="1400" dirty="0">
                  <a:latin typeface="GyeonggiTitleOTF Light" panose="02020403020101020101" pitchFamily="18" charset="-127"/>
                  <a:ea typeface="GyeonggiTitleOTF Light" panose="02020403020101020101" pitchFamily="18" charset="-127"/>
                </a:rPr>
                <a:t>, </a:t>
              </a:r>
              <a:r>
                <a:rPr lang="ko-KR" altLang="en-US" sz="1400" dirty="0">
                  <a:latin typeface="GyeonggiTitleOTF Light" panose="02020403020101020101" pitchFamily="18" charset="-127"/>
                  <a:ea typeface="GyeonggiTitleOTF Light" panose="02020403020101020101" pitchFamily="18" charset="-127"/>
                </a:rPr>
                <a:t>불굴 발동 시 </a:t>
              </a:r>
              <a:r>
                <a:rPr lang="en-US" altLang="ko-KR" sz="1400" dirty="0">
                  <a:latin typeface="GyeonggiTitleOTF Light" panose="02020403020101020101" pitchFamily="18" charset="-127"/>
                  <a:ea typeface="GyeonggiTitleOTF Light" panose="02020403020101020101" pitchFamily="18" charset="-127"/>
                </a:rPr>
                <a:t>(</a:t>
              </a:r>
              <a:r>
                <a:rPr lang="ko-KR" altLang="en-US" sz="1400" dirty="0" err="1">
                  <a:latin typeface="GyeonggiTitleOTF Light" panose="02020403020101020101" pitchFamily="18" charset="-127"/>
                  <a:ea typeface="GyeonggiTitleOTF Light" panose="02020403020101020101" pitchFamily="18" charset="-127"/>
                </a:rPr>
                <a:t>디버프</a:t>
              </a:r>
              <a:r>
                <a:rPr lang="ko-KR" altLang="en-US" sz="1400" dirty="0">
                  <a:latin typeface="GyeonggiTitleOTF Light" panose="02020403020101020101" pitchFamily="18" charset="-127"/>
                  <a:ea typeface="GyeonggiTitleOTF Light" panose="02020403020101020101" pitchFamily="18" charset="-127"/>
                </a:rPr>
                <a:t> 해제 </a:t>
              </a:r>
              <a:r>
                <a:rPr lang="en-US" altLang="ko-KR" sz="1400" dirty="0">
                  <a:latin typeface="GyeonggiTitleOTF Light" panose="02020403020101020101" pitchFamily="18" charset="-127"/>
                  <a:ea typeface="GyeonggiTitleOTF Light" panose="02020403020101020101" pitchFamily="18" charset="-127"/>
                </a:rPr>
                <a:t>2</a:t>
              </a:r>
              <a:r>
                <a:rPr lang="ko-KR" altLang="en-US" sz="1400" dirty="0">
                  <a:latin typeface="GyeonggiTitleOTF Light" panose="02020403020101020101" pitchFamily="18" charset="-127"/>
                  <a:ea typeface="GyeonggiTitleOTF Light" panose="02020403020101020101" pitchFamily="18" charset="-127"/>
                </a:rPr>
                <a:t>개</a:t>
              </a:r>
              <a:r>
                <a:rPr lang="en-US" altLang="ko-KR" sz="1400" dirty="0">
                  <a:latin typeface="GyeonggiTitleOTF Light" panose="02020403020101020101" pitchFamily="18" charset="-127"/>
                  <a:ea typeface="GyeonggiTitleOTF Light" panose="02020403020101020101" pitchFamily="18" charset="-127"/>
                </a:rPr>
                <a:t>, </a:t>
              </a:r>
              <a:r>
                <a:rPr lang="ko-KR" altLang="en-US" sz="1400" dirty="0" err="1">
                  <a:latin typeface="GyeonggiTitleOTF Light" panose="02020403020101020101" pitchFamily="18" charset="-127"/>
                  <a:ea typeface="GyeonggiTitleOTF Light" panose="02020403020101020101" pitchFamily="18" charset="-127"/>
                </a:rPr>
                <a:t>시전자</a:t>
              </a:r>
              <a:r>
                <a:rPr lang="ko-KR" altLang="en-US" sz="1400" dirty="0">
                  <a:latin typeface="GyeonggiTitleOTF Light" panose="02020403020101020101" pitchFamily="18" charset="-127"/>
                  <a:ea typeface="GyeonggiTitleOTF Light" panose="02020403020101020101" pitchFamily="18" charset="-127"/>
                </a:rPr>
                <a:t> 물리 </a:t>
              </a:r>
              <a:r>
                <a:rPr lang="ko-KR" altLang="en-US" sz="1400" dirty="0">
                  <a:solidFill>
                    <a:srgbClr val="C00000"/>
                  </a:solidFill>
                  <a:latin typeface="GyeonggiTitleOTF Light" panose="02020403020101020101" pitchFamily="18" charset="-127"/>
                  <a:ea typeface="GyeonggiTitleOTF Light" panose="02020403020101020101" pitchFamily="18" charset="-127"/>
                </a:rPr>
                <a:t>공격력의 </a:t>
              </a:r>
              <a:r>
                <a:rPr lang="en-US" altLang="ko-KR" sz="1400" dirty="0">
                  <a:solidFill>
                    <a:srgbClr val="C00000"/>
                  </a:solidFill>
                  <a:latin typeface="GyeonggiTitleOTF Light" panose="02020403020101020101" pitchFamily="18" charset="-127"/>
                  <a:ea typeface="GyeonggiTitleOTF Light" panose="02020403020101020101" pitchFamily="18" charset="-127"/>
                </a:rPr>
                <a:t>65% </a:t>
              </a:r>
              <a:r>
                <a:rPr lang="ko-KR" altLang="en-US" sz="1400" dirty="0">
                  <a:latin typeface="GyeonggiTitleOTF Light" panose="02020403020101020101" pitchFamily="18" charset="-127"/>
                  <a:ea typeface="GyeonggiTitleOTF Light" panose="02020403020101020101" pitchFamily="18" charset="-127"/>
                </a:rPr>
                <a:t>만큼 생명력 회복</a:t>
              </a:r>
              <a:r>
                <a:rPr lang="en-US" altLang="ko-KR" sz="1400" dirty="0">
                  <a:latin typeface="GyeonggiTitleOTF Light" panose="02020403020101020101" pitchFamily="18" charset="-127"/>
                  <a:ea typeface="GyeonggiTitleOTF Light" panose="02020403020101020101" pitchFamily="18" charset="-127"/>
                </a:rPr>
                <a:t>),</a:t>
              </a:r>
            </a:p>
            <a:p>
              <a:r>
                <a:rPr lang="ko-KR" altLang="en-US" sz="1400" dirty="0">
                  <a:latin typeface="GyeonggiTitleOTF Light" panose="02020403020101020101" pitchFamily="18" charset="-127"/>
                  <a:ea typeface="GyeonggiTitleOTF Light" panose="02020403020101020101" pitchFamily="18" charset="-127"/>
                </a:rPr>
                <a:t>스킬 발동 시 </a:t>
              </a:r>
              <a:r>
                <a:rPr lang="ko-KR" altLang="en-US" sz="1400" b="1" dirty="0">
                  <a:latin typeface="GyeonggiTitleOTF Light" panose="02020403020101020101" pitchFamily="18" charset="-127"/>
                  <a:ea typeface="GyeonggiTitleOTF Light" panose="02020403020101020101" pitchFamily="18" charset="-127"/>
                </a:rPr>
                <a:t>물리취약 </a:t>
              </a:r>
              <a:r>
                <a:rPr lang="en-US" altLang="ko-KR" sz="1400" b="1" dirty="0">
                  <a:latin typeface="GyeonggiTitleOTF Light" panose="02020403020101020101" pitchFamily="18" charset="-127"/>
                  <a:ea typeface="GyeonggiTitleOTF Light" panose="02020403020101020101" pitchFamily="18" charset="-127"/>
                </a:rPr>
                <a:t>24% </a:t>
              </a:r>
              <a:r>
                <a:rPr lang="en-US" altLang="ko-KR" sz="1400" dirty="0">
                  <a:latin typeface="GyeonggiTitleOTF Light" panose="02020403020101020101" pitchFamily="18" charset="-127"/>
                  <a:ea typeface="GyeonggiTitleOTF Light" panose="02020403020101020101" pitchFamily="18" charset="-127"/>
                </a:rPr>
                <a:t>2</a:t>
              </a:r>
              <a:r>
                <a:rPr lang="ko-KR" altLang="en-US" sz="1400" dirty="0">
                  <a:latin typeface="GyeonggiTitleOTF Light" panose="02020403020101020101" pitchFamily="18" charset="-127"/>
                  <a:ea typeface="GyeonggiTitleOTF Light" panose="02020403020101020101" pitchFamily="18" charset="-127"/>
                </a:rPr>
                <a:t>턴 지속</a:t>
              </a:r>
              <a:endParaRPr lang="en-US" altLang="ko-KR" sz="1400" dirty="0">
                <a:latin typeface="GyeonggiTitleOTF Light" panose="02020403020101020101" pitchFamily="18" charset="-127"/>
                <a:ea typeface="GyeonggiTitleOTF Light" panose="02020403020101020101" pitchFamily="18" charset="-127"/>
              </a:endParaRPr>
            </a:p>
          </p:txBody>
        </p:sp>
        <p:sp>
          <p:nvSpPr>
            <p:cNvPr id="118" name="TextBox 117">
              <a:extLst>
                <a:ext uri="{FF2B5EF4-FFF2-40B4-BE49-F238E27FC236}">
                  <a16:creationId xmlns:a16="http://schemas.microsoft.com/office/drawing/2014/main" id="{D8F5A096-91B8-BF8A-AA06-B611C580505A}"/>
                </a:ext>
              </a:extLst>
            </p:cNvPr>
            <p:cNvSpPr txBox="1"/>
            <p:nvPr/>
          </p:nvSpPr>
          <p:spPr>
            <a:xfrm>
              <a:off x="4542918" y="2804697"/>
              <a:ext cx="2987173" cy="116955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ko-KR" altLang="en-US" sz="1400" b="1" dirty="0">
                  <a:latin typeface="GyeonggiTitleOTF Light" panose="02020403020101020101" pitchFamily="18" charset="-127"/>
                  <a:ea typeface="GyeonggiTitleOTF Light" panose="02020403020101020101" pitchFamily="18" charset="-127"/>
                </a:rPr>
                <a:t>콜트</a:t>
              </a:r>
              <a:r>
                <a:rPr lang="ko-KR" altLang="en-US" sz="1400" dirty="0">
                  <a:latin typeface="GyeonggiTitleOTF Light" panose="02020403020101020101" pitchFamily="18" charset="-127"/>
                  <a:ea typeface="GyeonggiTitleOTF Light" panose="02020403020101020101" pitchFamily="18" charset="-127"/>
                </a:rPr>
                <a:t>의 속공 비례 공격력 증가로 인한 팀 속공 수치 상승</a:t>
              </a:r>
              <a:r>
                <a:rPr lang="en-US" altLang="ko-KR" sz="1400" dirty="0">
                  <a:latin typeface="GyeonggiTitleOTF Light" panose="02020403020101020101" pitchFamily="18" charset="-127"/>
                  <a:ea typeface="GyeonggiTitleOTF Light" panose="02020403020101020101" pitchFamily="18" charset="-127"/>
                </a:rPr>
                <a:t>, </a:t>
              </a:r>
              <a:r>
                <a:rPr lang="ko-KR" altLang="en-US" sz="1400" dirty="0" err="1">
                  <a:latin typeface="GyeonggiTitleOTF Light" panose="02020403020101020101" pitchFamily="18" charset="-127"/>
                  <a:ea typeface="GyeonggiTitleOTF Light" panose="02020403020101020101" pitchFamily="18" charset="-127"/>
                </a:rPr>
                <a:t>선턴</a:t>
              </a:r>
              <a:r>
                <a:rPr lang="ko-KR" altLang="en-US" sz="1400" dirty="0">
                  <a:latin typeface="GyeonggiTitleOTF Light" panose="02020403020101020101" pitchFamily="18" charset="-127"/>
                  <a:ea typeface="GyeonggiTitleOTF Light" panose="02020403020101020101" pitchFamily="18" charset="-127"/>
                </a:rPr>
                <a:t> 난이도 하락</a:t>
              </a:r>
              <a:endParaRPr lang="en-US" altLang="ko-KR" sz="1400" dirty="0">
                <a:latin typeface="GyeonggiTitleOTF Light" panose="02020403020101020101" pitchFamily="18" charset="-127"/>
                <a:ea typeface="GyeonggiTitleOTF Light" panose="02020403020101020101" pitchFamily="18" charset="-127"/>
              </a:endParaRPr>
            </a:p>
            <a:p>
              <a:endParaRPr lang="en-US" altLang="ko-KR" sz="1400" dirty="0">
                <a:latin typeface="GyeonggiTitleOTF Light" panose="02020403020101020101" pitchFamily="18" charset="-127"/>
                <a:ea typeface="GyeonggiTitleOTF Light" panose="02020403020101020101" pitchFamily="18" charset="-127"/>
              </a:endParaRPr>
            </a:p>
            <a:p>
              <a:r>
                <a:rPr lang="ko-KR" altLang="en-US" sz="1400" b="1" dirty="0" err="1">
                  <a:latin typeface="GyeonggiTitleOTF Light" panose="02020403020101020101" pitchFamily="18" charset="-127"/>
                  <a:ea typeface="GyeonggiTitleOTF Light" panose="02020403020101020101" pitchFamily="18" charset="-127"/>
                </a:rPr>
                <a:t>카구라</a:t>
              </a:r>
              <a:r>
                <a:rPr lang="ko-KR" altLang="en-US" sz="1400" dirty="0" err="1">
                  <a:latin typeface="GyeonggiTitleOTF Light" panose="02020403020101020101" pitchFamily="18" charset="-127"/>
                  <a:ea typeface="GyeonggiTitleOTF Light" panose="02020403020101020101" pitchFamily="18" charset="-127"/>
                </a:rPr>
                <a:t>의</a:t>
              </a:r>
              <a:r>
                <a:rPr lang="ko-KR" altLang="en-US" sz="1400" dirty="0">
                  <a:latin typeface="GyeonggiTitleOTF Light" panose="02020403020101020101" pitchFamily="18" charset="-127"/>
                  <a:ea typeface="GyeonggiTitleOTF Light" panose="02020403020101020101" pitchFamily="18" charset="-127"/>
                </a:rPr>
                <a:t> 강력한 패시브 효과로 인한 장기전에서의 약점 보완</a:t>
              </a:r>
              <a:endParaRPr lang="en-US" altLang="ko-KR" sz="1400" dirty="0">
                <a:latin typeface="GyeonggiTitleOTF Light" panose="02020403020101020101" pitchFamily="18" charset="-127"/>
                <a:ea typeface="GyeonggiTitleOTF Light" panose="02020403020101020101" pitchFamily="18" charset="-127"/>
              </a:endParaRPr>
            </a:p>
          </p:txBody>
        </p:sp>
        <p:sp>
          <p:nvSpPr>
            <p:cNvPr id="120" name="TextBox 119">
              <a:extLst>
                <a:ext uri="{FF2B5EF4-FFF2-40B4-BE49-F238E27FC236}">
                  <a16:creationId xmlns:a16="http://schemas.microsoft.com/office/drawing/2014/main" id="{5B8D478E-0875-07B6-D980-C05BD576B1B2}"/>
                </a:ext>
              </a:extLst>
            </p:cNvPr>
            <p:cNvSpPr txBox="1"/>
            <p:nvPr/>
          </p:nvSpPr>
          <p:spPr>
            <a:xfrm>
              <a:off x="7986946" y="2799391"/>
              <a:ext cx="3115386" cy="116955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ko-KR" altLang="en-US" sz="1400" b="1" dirty="0">
                  <a:latin typeface="GyeonggiTitleOTF Light" panose="02020403020101020101" pitchFamily="18" charset="-127"/>
                  <a:ea typeface="GyeonggiTitleOTF Light" panose="02020403020101020101" pitchFamily="18" charset="-127"/>
                </a:rPr>
                <a:t>패시브</a:t>
              </a:r>
              <a:r>
                <a:rPr lang="ko-KR" altLang="en-US" sz="1400" dirty="0">
                  <a:latin typeface="GyeonggiTitleOTF Light" panose="02020403020101020101" pitchFamily="18" charset="-127"/>
                  <a:ea typeface="GyeonggiTitleOTF Light" panose="02020403020101020101" pitchFamily="18" charset="-127"/>
                </a:rPr>
                <a:t> </a:t>
              </a:r>
              <a:r>
                <a:rPr lang="en-US" altLang="ko-KR" sz="1400" dirty="0">
                  <a:latin typeface="GyeonggiTitleOTF Light" panose="02020403020101020101" pitchFamily="18" charset="-127"/>
                  <a:ea typeface="GyeonggiTitleOTF Light" panose="02020403020101020101" pitchFamily="18" charset="-127"/>
                </a:rPr>
                <a:t>: </a:t>
              </a:r>
              <a:r>
                <a:rPr lang="ko-KR" altLang="en-US" sz="1400" dirty="0">
                  <a:latin typeface="GyeonggiTitleOTF Light" panose="02020403020101020101" pitchFamily="18" charset="-127"/>
                  <a:ea typeface="GyeonggiTitleOTF Light" panose="02020403020101020101" pitchFamily="18" charset="-127"/>
                </a:rPr>
                <a:t>위장</a:t>
              </a:r>
              <a:r>
                <a:rPr lang="en-US" altLang="ko-KR" sz="1400" dirty="0">
                  <a:latin typeface="GyeonggiTitleOTF Light" panose="02020403020101020101" pitchFamily="18" charset="-127"/>
                  <a:ea typeface="GyeonggiTitleOTF Light" panose="02020403020101020101" pitchFamily="18" charset="-127"/>
                </a:rPr>
                <a:t>,</a:t>
              </a:r>
              <a:r>
                <a:rPr lang="ko-KR" altLang="en-US" sz="1400" dirty="0">
                  <a:latin typeface="GyeonggiTitleOTF Light" panose="02020403020101020101" pitchFamily="18" charset="-127"/>
                  <a:ea typeface="GyeonggiTitleOTF Light" panose="02020403020101020101" pitchFamily="18" charset="-127"/>
                </a:rPr>
                <a:t>속공비례 </a:t>
              </a:r>
              <a:r>
                <a:rPr lang="ko-KR" altLang="en-US" sz="1400" dirty="0">
                  <a:solidFill>
                    <a:srgbClr val="C00000"/>
                  </a:solidFill>
                  <a:latin typeface="GyeonggiTitleOTF Light" panose="02020403020101020101" pitchFamily="18" charset="-127"/>
                  <a:ea typeface="GyeonggiTitleOTF Light" panose="02020403020101020101" pitchFamily="18" charset="-127"/>
                </a:rPr>
                <a:t>공격력</a:t>
              </a:r>
              <a:r>
                <a:rPr lang="ko-KR" altLang="en-US" sz="1400" dirty="0">
                  <a:latin typeface="GyeonggiTitleOTF Light" panose="02020403020101020101" pitchFamily="18" charset="-127"/>
                  <a:ea typeface="GyeonggiTitleOTF Light" panose="02020403020101020101" pitchFamily="18" charset="-127"/>
                </a:rPr>
                <a:t> 증가</a:t>
              </a:r>
              <a:r>
                <a:rPr lang="en-US" altLang="ko-KR" sz="1400" dirty="0">
                  <a:latin typeface="GyeonggiTitleOTF Light" panose="02020403020101020101" pitchFamily="18" charset="-127"/>
                  <a:ea typeface="GyeonggiTitleOTF Light" panose="02020403020101020101" pitchFamily="18" charset="-127"/>
                </a:rPr>
                <a:t>,</a:t>
              </a:r>
              <a:r>
                <a:rPr lang="ko-KR" altLang="en-US" sz="1400" dirty="0">
                  <a:latin typeface="GyeonggiTitleOTF Light" panose="02020403020101020101" pitchFamily="18" charset="-127"/>
                  <a:ea typeface="GyeonggiTitleOTF Light" panose="02020403020101020101" pitchFamily="18" charset="-127"/>
                </a:rPr>
                <a:t>권능</a:t>
              </a:r>
              <a:r>
                <a:rPr lang="en-US" altLang="ko-KR" sz="1400" dirty="0">
                  <a:latin typeface="GyeonggiTitleOTF Light" panose="02020403020101020101" pitchFamily="18" charset="-127"/>
                  <a:ea typeface="GyeonggiTitleOTF Light" panose="02020403020101020101" pitchFamily="18" charset="-127"/>
                </a:rPr>
                <a:t>,</a:t>
              </a:r>
              <a:r>
                <a:rPr lang="ko-KR" altLang="en-US" sz="1400" dirty="0">
                  <a:latin typeface="GyeonggiTitleOTF Light" panose="02020403020101020101" pitchFamily="18" charset="-127"/>
                  <a:ea typeface="GyeonggiTitleOTF Light" panose="02020403020101020101" pitchFamily="18" charset="-127"/>
                </a:rPr>
                <a:t>적군 사망 후 스킬 </a:t>
              </a:r>
              <a:r>
                <a:rPr lang="ko-KR" altLang="en-US" sz="1400" dirty="0" err="1">
                  <a:latin typeface="GyeonggiTitleOTF Light" panose="02020403020101020101" pitchFamily="18" charset="-127"/>
                  <a:ea typeface="GyeonggiTitleOTF Light" panose="02020403020101020101" pitchFamily="18" charset="-127"/>
                </a:rPr>
                <a:t>쿨타임</a:t>
              </a:r>
              <a:r>
                <a:rPr lang="ko-KR" altLang="en-US" sz="1400" dirty="0">
                  <a:latin typeface="GyeonggiTitleOTF Light" panose="02020403020101020101" pitchFamily="18" charset="-127"/>
                  <a:ea typeface="GyeonggiTitleOTF Light" panose="02020403020101020101" pitchFamily="18" charset="-127"/>
                </a:rPr>
                <a:t> </a:t>
              </a:r>
              <a:r>
                <a:rPr lang="en-US" altLang="ko-KR" sz="1400" dirty="0">
                  <a:latin typeface="GyeonggiTitleOTF Light" panose="02020403020101020101" pitchFamily="18" charset="-127"/>
                  <a:ea typeface="GyeonggiTitleOTF Light" panose="02020403020101020101" pitchFamily="18" charset="-127"/>
                </a:rPr>
                <a:t>23</a:t>
              </a:r>
              <a:r>
                <a:rPr lang="ko-KR" altLang="en-US" sz="1400" dirty="0">
                  <a:latin typeface="GyeonggiTitleOTF Light" panose="02020403020101020101" pitchFamily="18" charset="-127"/>
                  <a:ea typeface="GyeonggiTitleOTF Light" panose="02020403020101020101" pitchFamily="18" charset="-127"/>
                </a:rPr>
                <a:t>초 감소</a:t>
              </a:r>
              <a:r>
                <a:rPr lang="en-US" altLang="ko-KR" sz="1400" dirty="0">
                  <a:latin typeface="GyeonggiTitleOTF Light" panose="02020403020101020101" pitchFamily="18" charset="-127"/>
                  <a:ea typeface="GyeonggiTitleOTF Light" panose="02020403020101020101" pitchFamily="18" charset="-127"/>
                </a:rPr>
                <a:t>, </a:t>
              </a:r>
              <a:r>
                <a:rPr lang="ko-KR" altLang="en-US" sz="1400" dirty="0">
                  <a:latin typeface="GyeonggiTitleOTF Light" panose="02020403020101020101" pitchFamily="18" charset="-127"/>
                  <a:ea typeface="GyeonggiTitleOTF Light" panose="02020403020101020101" pitchFamily="18" charset="-127"/>
                </a:rPr>
                <a:t>효과 적중 증가</a:t>
              </a:r>
              <a:r>
                <a:rPr lang="en-US" altLang="ko-KR" sz="1400" dirty="0">
                  <a:latin typeface="GyeonggiTitleOTF Light" panose="02020403020101020101" pitchFamily="18" charset="-127"/>
                  <a:ea typeface="GyeonggiTitleOTF Light" panose="02020403020101020101" pitchFamily="18" charset="-127"/>
                </a:rPr>
                <a:t>(</a:t>
              </a:r>
              <a:r>
                <a:rPr lang="ko-KR" altLang="en-US" sz="1400" dirty="0">
                  <a:latin typeface="GyeonggiTitleOTF Light" panose="02020403020101020101" pitchFamily="18" charset="-127"/>
                  <a:ea typeface="GyeonggiTitleOTF Light" panose="02020403020101020101" pitchFamily="18" charset="-127"/>
                </a:rPr>
                <a:t>모든 아군</a:t>
              </a:r>
              <a:r>
                <a:rPr lang="en-US" altLang="ko-KR" sz="1400" dirty="0">
                  <a:latin typeface="GyeonggiTitleOTF Light" panose="02020403020101020101" pitchFamily="18" charset="-127"/>
                  <a:ea typeface="GyeonggiTitleOTF Light" panose="02020403020101020101" pitchFamily="18" charset="-127"/>
                </a:rPr>
                <a:t>)</a:t>
              </a:r>
            </a:p>
            <a:p>
              <a:endParaRPr lang="en-US" altLang="ko-KR" sz="1400" dirty="0">
                <a:latin typeface="GyeonggiTitleOTF Light" panose="02020403020101020101" pitchFamily="18" charset="-127"/>
                <a:ea typeface="GyeonggiTitleOTF Light" panose="02020403020101020101" pitchFamily="18" charset="-127"/>
              </a:endParaRPr>
            </a:p>
            <a:p>
              <a:r>
                <a:rPr lang="ko-KR" altLang="en-US" sz="1400" b="1" dirty="0">
                  <a:latin typeface="GyeonggiTitleOTF Light" panose="02020403020101020101" pitchFamily="18" charset="-127"/>
                  <a:ea typeface="GyeonggiTitleOTF Light" panose="02020403020101020101" pitchFamily="18" charset="-127"/>
                </a:rPr>
                <a:t>위장</a:t>
              </a:r>
              <a:r>
                <a:rPr lang="ko-KR" altLang="en-US" sz="1400" dirty="0">
                  <a:latin typeface="GyeonggiTitleOTF Light" panose="02020403020101020101" pitchFamily="18" charset="-127"/>
                  <a:ea typeface="GyeonggiTitleOTF Light" panose="02020403020101020101" pitchFamily="18" charset="-127"/>
                </a:rPr>
                <a:t> </a:t>
              </a:r>
              <a:r>
                <a:rPr lang="en-US" altLang="ko-KR" sz="1400" dirty="0">
                  <a:latin typeface="GyeonggiTitleOTF Light" panose="02020403020101020101" pitchFamily="18" charset="-127"/>
                  <a:ea typeface="GyeonggiTitleOTF Light" panose="02020403020101020101" pitchFamily="18" charset="-127"/>
                </a:rPr>
                <a:t>: 1</a:t>
              </a:r>
              <a:r>
                <a:rPr lang="ko-KR" altLang="en-US" sz="1400" dirty="0">
                  <a:latin typeface="GyeonggiTitleOTF Light" panose="02020403020101020101" pitchFamily="18" charset="-127"/>
                  <a:ea typeface="GyeonggiTitleOTF Light" panose="02020403020101020101" pitchFamily="18" charset="-127"/>
                </a:rPr>
                <a:t>인 공격 대상이 되지 않음</a:t>
              </a:r>
              <a:endParaRPr lang="en-US" altLang="ko-KR" sz="1400" dirty="0">
                <a:latin typeface="GyeonggiTitleOTF Light" panose="02020403020101020101" pitchFamily="18" charset="-127"/>
                <a:ea typeface="GyeonggiTitleOTF Light" panose="02020403020101020101" pitchFamily="18" charset="-127"/>
              </a:endParaRPr>
            </a:p>
          </p:txBody>
        </p:sp>
      </p:grpSp>
      <p:sp>
        <p:nvSpPr>
          <p:cNvPr id="31" name="TextBox 30">
            <a:extLst>
              <a:ext uri="{FF2B5EF4-FFF2-40B4-BE49-F238E27FC236}">
                <a16:creationId xmlns:a16="http://schemas.microsoft.com/office/drawing/2014/main" id="{F31581A3-5084-9ED5-C5EE-93BD43016112}"/>
              </a:ext>
            </a:extLst>
          </p:cNvPr>
          <p:cNvSpPr txBox="1"/>
          <p:nvPr/>
        </p:nvSpPr>
        <p:spPr>
          <a:xfrm>
            <a:off x="5848109" y="6412606"/>
            <a:ext cx="55328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ko-KR" sz="1000" dirty="0">
                <a:latin typeface="GyeonggiTitle Bold" panose="02020803020101020101" pitchFamily="18" charset="-127"/>
                <a:ea typeface="GyeonggiTitle Bold" panose="02020803020101020101" pitchFamily="18" charset="-127"/>
              </a:rPr>
              <a:t>- 13 - </a:t>
            </a:r>
            <a:endParaRPr kumimoji="1" lang="ko-KR" altLang="en-US" sz="1000" dirty="0">
              <a:latin typeface="GyeonggiTitle Bold" panose="02020803020101020101" pitchFamily="18" charset="-127"/>
              <a:ea typeface="GyeonggiTitle Bold" panose="02020803020101020101" pitchFamily="18" charset="-127"/>
            </a:endParaRPr>
          </a:p>
        </p:txBody>
      </p:sp>
      <p:grpSp>
        <p:nvGrpSpPr>
          <p:cNvPr id="51" name="그룹 50">
            <a:extLst>
              <a:ext uri="{FF2B5EF4-FFF2-40B4-BE49-F238E27FC236}">
                <a16:creationId xmlns:a16="http://schemas.microsoft.com/office/drawing/2014/main" id="{8EC8E25A-CBDD-21E9-275B-E492B93C2A7F}"/>
              </a:ext>
            </a:extLst>
          </p:cNvPr>
          <p:cNvGrpSpPr/>
          <p:nvPr/>
        </p:nvGrpSpPr>
        <p:grpSpPr>
          <a:xfrm>
            <a:off x="10191766" y="2700045"/>
            <a:ext cx="2185044" cy="1061534"/>
            <a:chOff x="10220925" y="2468343"/>
            <a:chExt cx="2185044" cy="780008"/>
          </a:xfrm>
        </p:grpSpPr>
        <p:grpSp>
          <p:nvGrpSpPr>
            <p:cNvPr id="52" name="그룹 51">
              <a:extLst>
                <a:ext uri="{FF2B5EF4-FFF2-40B4-BE49-F238E27FC236}">
                  <a16:creationId xmlns:a16="http://schemas.microsoft.com/office/drawing/2014/main" id="{76763887-85B0-C674-A584-656B721E534D}"/>
                </a:ext>
              </a:extLst>
            </p:cNvPr>
            <p:cNvGrpSpPr/>
            <p:nvPr/>
          </p:nvGrpSpPr>
          <p:grpSpPr>
            <a:xfrm>
              <a:off x="10220926" y="2481269"/>
              <a:ext cx="2185043" cy="767082"/>
              <a:chOff x="10223256" y="2502932"/>
              <a:chExt cx="2185043" cy="767082"/>
            </a:xfrm>
          </p:grpSpPr>
          <p:sp>
            <p:nvSpPr>
              <p:cNvPr id="54" name="대각선 방향의 모서리가 둥근 사각형 53">
                <a:extLst>
                  <a:ext uri="{FF2B5EF4-FFF2-40B4-BE49-F238E27FC236}">
                    <a16:creationId xmlns:a16="http://schemas.microsoft.com/office/drawing/2014/main" id="{048907E8-1A5C-FBEA-424A-87BBC4353694}"/>
                  </a:ext>
                </a:extLst>
              </p:cNvPr>
              <p:cNvSpPr/>
              <p:nvPr/>
            </p:nvSpPr>
            <p:spPr>
              <a:xfrm>
                <a:off x="10223256" y="2502932"/>
                <a:ext cx="1792436" cy="767082"/>
              </a:xfrm>
              <a:prstGeom prst="round2DiagRect">
                <a:avLst>
                  <a:gd name="adj1" fmla="val 34781"/>
                  <a:gd name="adj2" fmla="val 0"/>
                </a:avLst>
              </a:prstGeom>
              <a:solidFill>
                <a:srgbClr val="DBD7D5"/>
              </a:solidFill>
              <a:ln>
                <a:solidFill>
                  <a:srgbClr val="DFDCDA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R" altLang="en-US" b="1" dirty="0">
                  <a:latin typeface="GYEONGGITITLEOTF LIGHT" panose="02020403020101020101" pitchFamily="18" charset="-127"/>
                  <a:ea typeface="GYEONGGITITLEOTF LIGHT" panose="02020403020101020101" pitchFamily="18" charset="-127"/>
                </a:endParaRPr>
              </a:p>
            </p:txBody>
          </p:sp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C1D4B623-7F83-D8D3-B14D-A50C1CCB8221}"/>
                  </a:ext>
                </a:extLst>
              </p:cNvPr>
              <p:cNvSpPr txBox="1"/>
              <p:nvPr/>
            </p:nvSpPr>
            <p:spPr>
              <a:xfrm>
                <a:off x="10322645" y="2845276"/>
                <a:ext cx="2085654" cy="3844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ko-KR" altLang="en-US" sz="1400" dirty="0">
                    <a:solidFill>
                      <a:srgbClr val="2359AD"/>
                    </a:solidFill>
                    <a:latin typeface="GyeonggiTitleOTF Light" panose="02020403020101020101" pitchFamily="18" charset="-127"/>
                    <a:ea typeface="GyeonggiTitleOTF Light" panose="02020403020101020101" pitchFamily="18" charset="-127"/>
                  </a:rPr>
                  <a:t>전열</a:t>
                </a:r>
                <a:r>
                  <a:rPr kumimoji="1" lang="ko-KR" altLang="en-US" sz="1400" dirty="0">
                    <a:latin typeface="GyeonggiTitleOTF Light" panose="02020403020101020101" pitchFamily="18" charset="-127"/>
                    <a:ea typeface="GyeonggiTitleOTF Light" panose="02020403020101020101" pitchFamily="18" charset="-127"/>
                  </a:rPr>
                  <a:t> </a:t>
                </a:r>
                <a:r>
                  <a:rPr kumimoji="1" lang="en-US" altLang="ko-KR" sz="1400" dirty="0">
                    <a:latin typeface="GyeonggiTitleOTF Light" panose="02020403020101020101" pitchFamily="18" charset="-127"/>
                    <a:ea typeface="GyeonggiTitleOTF Light" panose="02020403020101020101" pitchFamily="18" charset="-127"/>
                  </a:rPr>
                  <a:t>= </a:t>
                </a:r>
                <a:r>
                  <a:rPr kumimoji="1" lang="ko-KR" altLang="en-US" sz="1400" dirty="0">
                    <a:latin typeface="GyeonggiTitleOTF Light" panose="02020403020101020101" pitchFamily="18" charset="-127"/>
                    <a:ea typeface="GyeonggiTitleOTF Light" panose="02020403020101020101" pitchFamily="18" charset="-127"/>
                  </a:rPr>
                  <a:t>방어력 </a:t>
                </a:r>
                <a:r>
                  <a:rPr kumimoji="1" lang="en-US" altLang="ko-KR" sz="1400" dirty="0">
                    <a:latin typeface="GyeonggiTitleOTF Light" panose="02020403020101020101" pitchFamily="18" charset="-127"/>
                    <a:ea typeface="GyeonggiTitleOTF Light" panose="02020403020101020101" pitchFamily="18" charset="-127"/>
                  </a:rPr>
                  <a:t>10.5%</a:t>
                </a:r>
              </a:p>
              <a:p>
                <a:r>
                  <a:rPr kumimoji="1" lang="ko-KR" altLang="en-US" sz="1400" b="1" dirty="0">
                    <a:solidFill>
                      <a:srgbClr val="FF0000"/>
                    </a:solidFill>
                    <a:latin typeface="GYEONGGITITLEOTF LIGHT" panose="02020403020101020101" pitchFamily="18" charset="-127"/>
                    <a:ea typeface="GYEONGGITITLEOTF LIGHT" panose="02020403020101020101" pitchFamily="18" charset="-127"/>
                  </a:rPr>
                  <a:t>후열</a:t>
                </a:r>
                <a:r>
                  <a:rPr kumimoji="1" lang="ko-KR" altLang="en-US" sz="1400" b="1" dirty="0">
                    <a:latin typeface="GYEONGGITITLEOTF LIGHT" panose="02020403020101020101" pitchFamily="18" charset="-127"/>
                    <a:ea typeface="GYEONGGITITLEOTF LIGHT" panose="02020403020101020101" pitchFamily="18" charset="-127"/>
                  </a:rPr>
                  <a:t> </a:t>
                </a:r>
                <a:r>
                  <a:rPr kumimoji="1" lang="en-US" altLang="ko-KR" sz="1400" b="1" dirty="0">
                    <a:latin typeface="GYEONGGITITLEOTF LIGHT" panose="02020403020101020101" pitchFamily="18" charset="-127"/>
                    <a:ea typeface="GYEONGGITITLEOTF LIGHT" panose="02020403020101020101" pitchFamily="18" charset="-127"/>
                  </a:rPr>
                  <a:t>= </a:t>
                </a:r>
                <a:r>
                  <a:rPr kumimoji="1" lang="ko-KR" altLang="en-US" sz="1400" b="1" dirty="0">
                    <a:latin typeface="GYEONGGITITLEOTF LIGHT" panose="02020403020101020101" pitchFamily="18" charset="-127"/>
                    <a:ea typeface="GYEONGGITITLEOTF LIGHT" panose="02020403020101020101" pitchFamily="18" charset="-127"/>
                  </a:rPr>
                  <a:t>공격력 </a:t>
                </a:r>
                <a:r>
                  <a:rPr kumimoji="1" lang="en-US" altLang="ko-KR" sz="1400" b="1" dirty="0">
                    <a:latin typeface="GYEONGGITITLEOTF LIGHT" panose="02020403020101020101" pitchFamily="18" charset="-127"/>
                    <a:ea typeface="GYEONGGITITLEOTF LIGHT" panose="02020403020101020101" pitchFamily="18" charset="-127"/>
                  </a:rPr>
                  <a:t>42%</a:t>
                </a:r>
                <a:endParaRPr kumimoji="1" lang="ko-KR" altLang="en-US" sz="1400" b="1" dirty="0">
                  <a:latin typeface="GYEONGGITITLEOTF LIGHT" panose="02020403020101020101" pitchFamily="18" charset="-127"/>
                  <a:ea typeface="GYEONGGITITLEOTF LIGHT" panose="02020403020101020101" pitchFamily="18" charset="-127"/>
                </a:endParaRPr>
              </a:p>
            </p:txBody>
          </p:sp>
        </p:grpSp>
        <p:sp>
          <p:nvSpPr>
            <p:cNvPr id="53" name="대각선 방향의 모서리가 둥근 사각형 52">
              <a:extLst>
                <a:ext uri="{FF2B5EF4-FFF2-40B4-BE49-F238E27FC236}">
                  <a16:creationId xmlns:a16="http://schemas.microsoft.com/office/drawing/2014/main" id="{3CC85AA3-0E57-4404-90F4-82DE08B5101E}"/>
                </a:ext>
              </a:extLst>
            </p:cNvPr>
            <p:cNvSpPr/>
            <p:nvPr/>
          </p:nvSpPr>
          <p:spPr>
            <a:xfrm>
              <a:off x="10220925" y="2468343"/>
              <a:ext cx="1792437" cy="316884"/>
            </a:xfrm>
            <a:prstGeom prst="round2DiagRect">
              <a:avLst>
                <a:gd name="adj1" fmla="val 48374"/>
                <a:gd name="adj2" fmla="val 0"/>
              </a:avLst>
            </a:prstGeom>
            <a:solidFill>
              <a:srgbClr val="393833"/>
            </a:solidFill>
            <a:ln>
              <a:solidFill>
                <a:srgbClr val="DFDCD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ko-KR" altLang="en-US" sz="1400" dirty="0">
                  <a:latin typeface="GyeonggiTitleOTF Light" panose="02020403020101020101" pitchFamily="18" charset="-127"/>
                  <a:ea typeface="GyeonggiTitleOTF Light" panose="02020403020101020101" pitchFamily="18" charset="-127"/>
                </a:rPr>
                <a:t>진형효과 </a:t>
              </a:r>
              <a:r>
                <a:rPr kumimoji="1" lang="en-US" altLang="ko-KR" sz="1400" dirty="0">
                  <a:latin typeface="GyeonggiTitleOTF Light" panose="02020403020101020101" pitchFamily="18" charset="-127"/>
                  <a:ea typeface="GyeonggiTitleOTF Light" panose="02020403020101020101" pitchFamily="18" charset="-127"/>
                </a:rPr>
                <a:t>-</a:t>
              </a:r>
              <a:r>
                <a:rPr kumimoji="1" lang="ko-KR" altLang="en-US" sz="1400" dirty="0">
                  <a:latin typeface="GyeonggiTitleOTF Light" panose="02020403020101020101" pitchFamily="18" charset="-127"/>
                  <a:ea typeface="GyeonggiTitleOTF Light" panose="02020403020101020101" pitchFamily="18" charset="-127"/>
                </a:rPr>
                <a:t> </a:t>
              </a:r>
              <a:r>
                <a:rPr kumimoji="1" lang="ko-KR" altLang="en-US" sz="1400" b="1" dirty="0">
                  <a:latin typeface="GyeonggiTitle Bold" panose="02020803020101020101" pitchFamily="18" charset="-127"/>
                  <a:ea typeface="GyeonggiTitle Bold" panose="02020803020101020101" pitchFamily="18" charset="-127"/>
                </a:rPr>
                <a:t>보호진형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90024403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45FF27A-2B3B-2D57-D08B-7B7DC9954C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TextBox 44">
            <a:extLst>
              <a:ext uri="{FF2B5EF4-FFF2-40B4-BE49-F238E27FC236}">
                <a16:creationId xmlns:a16="http://schemas.microsoft.com/office/drawing/2014/main" id="{49820D77-0A8E-70EC-4D5B-3A8DFA5A6571}"/>
              </a:ext>
            </a:extLst>
          </p:cNvPr>
          <p:cNvSpPr txBox="1"/>
          <p:nvPr/>
        </p:nvSpPr>
        <p:spPr>
          <a:xfrm>
            <a:off x="1072526" y="586716"/>
            <a:ext cx="9551931" cy="9079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500" dirty="0">
                <a:latin typeface="GyeonggiTitle Bold" panose="02020803020101020101" pitchFamily="18" charset="-127"/>
                <a:ea typeface="GyeonggiTitle Bold" panose="02020803020101020101" pitchFamily="18" charset="-127"/>
              </a:rPr>
              <a:t>카일</a:t>
            </a:r>
            <a:endParaRPr lang="en-US" altLang="ko-KR" sz="3500" dirty="0">
              <a:latin typeface="GyeonggiTitle Bold" panose="02020803020101020101" pitchFamily="18" charset="-127"/>
              <a:ea typeface="GyeonggiTitle Bold" panose="02020803020101020101" pitchFamily="18" charset="-127"/>
            </a:endParaRPr>
          </a:p>
          <a:p>
            <a:r>
              <a:rPr lang="ko-KR" altLang="en-US" dirty="0">
                <a:latin typeface="GyeonggiTitle Bold" panose="02020803020101020101" pitchFamily="18" charset="-127"/>
                <a:ea typeface="GyeonggiTitle Bold" panose="02020803020101020101" pitchFamily="18" charset="-127"/>
              </a:rPr>
              <a:t>카일은 왜 중상위권 </a:t>
            </a:r>
            <a:r>
              <a:rPr lang="ko-KR" altLang="en-US" dirty="0" err="1">
                <a:latin typeface="GyeonggiTitle Bold" panose="02020803020101020101" pitchFamily="18" charset="-127"/>
                <a:ea typeface="GyeonggiTitle Bold" panose="02020803020101020101" pitchFamily="18" charset="-127"/>
              </a:rPr>
              <a:t>티어에서</a:t>
            </a:r>
            <a:r>
              <a:rPr lang="ko-KR" altLang="en-US" dirty="0">
                <a:latin typeface="GyeonggiTitle Bold" panose="02020803020101020101" pitchFamily="18" charset="-127"/>
                <a:ea typeface="GyeonggiTitle Bold" panose="02020803020101020101" pitchFamily="18" charset="-127"/>
              </a:rPr>
              <a:t> </a:t>
            </a:r>
            <a:r>
              <a:rPr lang="en-US" altLang="ko-KR" b="1" dirty="0">
                <a:latin typeface="GyeonggiTitle Bold" panose="02020803020101020101" pitchFamily="18" charset="-127"/>
                <a:ea typeface="GyeonggiTitle Bold" panose="02020803020101020101" pitchFamily="18" charset="-127"/>
              </a:rPr>
              <a:t>OP</a:t>
            </a:r>
            <a:r>
              <a:rPr lang="ko-KR" altLang="en-US" b="1" dirty="0">
                <a:latin typeface="GyeonggiTitle Bold" panose="02020803020101020101" pitchFamily="18" charset="-127"/>
                <a:ea typeface="GyeonggiTitle Bold" panose="02020803020101020101" pitchFamily="18" charset="-127"/>
              </a:rPr>
              <a:t>급</a:t>
            </a:r>
            <a:r>
              <a:rPr lang="ko-KR" altLang="en-US" dirty="0">
                <a:latin typeface="GyeonggiTitle Bold" panose="02020803020101020101" pitchFamily="18" charset="-127"/>
                <a:ea typeface="GyeonggiTitle Bold" panose="02020803020101020101" pitchFamily="18" charset="-127"/>
              </a:rPr>
              <a:t> 성능인가</a:t>
            </a:r>
            <a:r>
              <a:rPr lang="en-US" altLang="ko-KR" dirty="0">
                <a:latin typeface="GyeonggiTitle Bold" panose="02020803020101020101" pitchFamily="18" charset="-127"/>
                <a:ea typeface="GyeonggiTitle Bold" panose="02020803020101020101" pitchFamily="18" charset="-127"/>
              </a:rPr>
              <a:t>?</a:t>
            </a: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D871A60-E434-C072-2CDB-BD603DF22646}"/>
              </a:ext>
            </a:extLst>
          </p:cNvPr>
          <p:cNvGrpSpPr/>
          <p:nvPr/>
        </p:nvGrpSpPr>
        <p:grpSpPr>
          <a:xfrm>
            <a:off x="864000" y="1728000"/>
            <a:ext cx="10634996" cy="4140000"/>
            <a:chOff x="778502" y="1900787"/>
            <a:chExt cx="10634996" cy="4160314"/>
          </a:xfrm>
        </p:grpSpPr>
        <p:sp>
          <p:nvSpPr>
            <p:cNvPr id="20" name="대각선 방향의 모서리가 둥근 사각형 19">
              <a:extLst>
                <a:ext uri="{FF2B5EF4-FFF2-40B4-BE49-F238E27FC236}">
                  <a16:creationId xmlns:a16="http://schemas.microsoft.com/office/drawing/2014/main" id="{E89574F3-801F-E40E-E93F-9B581A666791}"/>
                </a:ext>
              </a:extLst>
            </p:cNvPr>
            <p:cNvSpPr/>
            <p:nvPr/>
          </p:nvSpPr>
          <p:spPr>
            <a:xfrm>
              <a:off x="778502" y="1900787"/>
              <a:ext cx="10634996" cy="4160314"/>
            </a:xfrm>
            <a:prstGeom prst="round2DiagRect">
              <a:avLst>
                <a:gd name="adj1" fmla="val 5253"/>
                <a:gd name="adj2" fmla="val 0"/>
              </a:avLst>
            </a:prstGeom>
            <a:solidFill>
              <a:srgbClr val="B4B4B3">
                <a:alpha val="36515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eaLnBrk="0" fontAlgn="base" latinLnBrk="0" hangingPunct="0">
                <a:spcBef>
                  <a:spcPct val="0"/>
                </a:spcBef>
                <a:spcAft>
                  <a:spcPct val="0"/>
                </a:spcAft>
              </a:pPr>
              <a:endParaRPr lang="en-US" altLang="ko-KR" sz="1600" dirty="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grpSp>
          <p:nvGrpSpPr>
            <p:cNvPr id="21" name="그룹 20">
              <a:extLst>
                <a:ext uri="{FF2B5EF4-FFF2-40B4-BE49-F238E27FC236}">
                  <a16:creationId xmlns:a16="http://schemas.microsoft.com/office/drawing/2014/main" id="{17D94799-70EB-5424-1166-EBCCBD5A99AE}"/>
                </a:ext>
              </a:extLst>
            </p:cNvPr>
            <p:cNvGrpSpPr/>
            <p:nvPr/>
          </p:nvGrpSpPr>
          <p:grpSpPr>
            <a:xfrm>
              <a:off x="859973" y="2062828"/>
              <a:ext cx="3244324" cy="3714058"/>
              <a:chOff x="3878216" y="905654"/>
              <a:chExt cx="3244324" cy="4994694"/>
            </a:xfrm>
            <a:effectLst>
              <a:outerShdw blurRad="50800" dist="131726" dir="2700000" algn="ctr" rotWithShape="0">
                <a:srgbClr val="000000">
                  <a:alpha val="50000"/>
                </a:srgbClr>
              </a:outerShdw>
            </a:effectLst>
          </p:grpSpPr>
          <p:grpSp>
            <p:nvGrpSpPr>
              <p:cNvPr id="54" name="그룹 53">
                <a:extLst>
                  <a:ext uri="{FF2B5EF4-FFF2-40B4-BE49-F238E27FC236}">
                    <a16:creationId xmlns:a16="http://schemas.microsoft.com/office/drawing/2014/main" id="{E5FE763D-6F54-3547-F4F0-E9B28FD049F2}"/>
                  </a:ext>
                </a:extLst>
              </p:cNvPr>
              <p:cNvGrpSpPr/>
              <p:nvPr/>
            </p:nvGrpSpPr>
            <p:grpSpPr>
              <a:xfrm>
                <a:off x="3930766" y="905654"/>
                <a:ext cx="3191774" cy="4994694"/>
                <a:chOff x="3930766" y="905654"/>
                <a:chExt cx="3191774" cy="4994694"/>
              </a:xfrm>
            </p:grpSpPr>
            <p:grpSp>
              <p:nvGrpSpPr>
                <p:cNvPr id="56" name="그룹 55">
                  <a:extLst>
                    <a:ext uri="{FF2B5EF4-FFF2-40B4-BE49-F238E27FC236}">
                      <a16:creationId xmlns:a16="http://schemas.microsoft.com/office/drawing/2014/main" id="{AE56A196-2E6E-E34B-E3A2-08EC583177D4}"/>
                    </a:ext>
                  </a:extLst>
                </p:cNvPr>
                <p:cNvGrpSpPr/>
                <p:nvPr/>
              </p:nvGrpSpPr>
              <p:grpSpPr>
                <a:xfrm>
                  <a:off x="3930766" y="905654"/>
                  <a:ext cx="3191774" cy="4994694"/>
                  <a:chOff x="3907766" y="931653"/>
                  <a:chExt cx="3191774" cy="4994694"/>
                </a:xfrm>
              </p:grpSpPr>
              <p:sp>
                <p:nvSpPr>
                  <p:cNvPr id="58" name="대각선 방향의 모서리가 둥근 사각형 57">
                    <a:extLst>
                      <a:ext uri="{FF2B5EF4-FFF2-40B4-BE49-F238E27FC236}">
                        <a16:creationId xmlns:a16="http://schemas.microsoft.com/office/drawing/2014/main" id="{66B80265-A609-6B9C-3B74-485304999106}"/>
                      </a:ext>
                    </a:extLst>
                  </p:cNvPr>
                  <p:cNvSpPr/>
                  <p:nvPr/>
                </p:nvSpPr>
                <p:spPr>
                  <a:xfrm>
                    <a:off x="3907766" y="931653"/>
                    <a:ext cx="3191774" cy="4994694"/>
                  </a:xfrm>
                  <a:prstGeom prst="round2DiagRect">
                    <a:avLst>
                      <a:gd name="adj1" fmla="val 10451"/>
                      <a:gd name="adj2" fmla="val 0"/>
                    </a:avLst>
                  </a:prstGeom>
                  <a:solidFill>
                    <a:srgbClr val="DEDCDA"/>
                  </a:solidFill>
                  <a:ln>
                    <a:solidFill>
                      <a:srgbClr val="DEDCDA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ko-KR" altLang="en-US"/>
                  </a:p>
                </p:txBody>
              </p:sp>
              <p:sp>
                <p:nvSpPr>
                  <p:cNvPr id="59" name="대각선 방향의 모서리가 둥근 사각형 58">
                    <a:extLst>
                      <a:ext uri="{FF2B5EF4-FFF2-40B4-BE49-F238E27FC236}">
                        <a16:creationId xmlns:a16="http://schemas.microsoft.com/office/drawing/2014/main" id="{24B06988-6B2A-22D7-1BED-43AFFC743540}"/>
                      </a:ext>
                    </a:extLst>
                  </p:cNvPr>
                  <p:cNvSpPr/>
                  <p:nvPr/>
                </p:nvSpPr>
                <p:spPr>
                  <a:xfrm>
                    <a:off x="3907766" y="931653"/>
                    <a:ext cx="3191774" cy="726354"/>
                  </a:xfrm>
                  <a:prstGeom prst="round2DiagRect">
                    <a:avLst>
                      <a:gd name="adj1" fmla="val 48374"/>
                      <a:gd name="adj2" fmla="val 0"/>
                    </a:avLst>
                  </a:prstGeom>
                  <a:solidFill>
                    <a:srgbClr val="393833"/>
                  </a:solidFill>
                  <a:ln>
                    <a:solidFill>
                      <a:srgbClr val="DFDCDA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ko-KR" altLang="en-US" b="1" dirty="0"/>
                  </a:p>
                </p:txBody>
              </p:sp>
            </p:grpSp>
            <p:sp>
              <p:nvSpPr>
                <p:cNvPr id="57" name="TextBox 56">
                  <a:extLst>
                    <a:ext uri="{FF2B5EF4-FFF2-40B4-BE49-F238E27FC236}">
                      <a16:creationId xmlns:a16="http://schemas.microsoft.com/office/drawing/2014/main" id="{90866FC7-1C6B-85C1-1B06-2D4B8864430E}"/>
                    </a:ext>
                  </a:extLst>
                </p:cNvPr>
                <p:cNvSpPr txBox="1"/>
                <p:nvPr/>
              </p:nvSpPr>
              <p:spPr>
                <a:xfrm>
                  <a:off x="4244836" y="1039635"/>
                  <a:ext cx="2458529" cy="49668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ko-KR" altLang="en-US" b="1" dirty="0">
                      <a:solidFill>
                        <a:schemeClr val="bg1"/>
                      </a:solidFill>
                      <a:latin typeface="경기천년제목VOTF Bold" panose="02020803020101020101" pitchFamily="18" charset="-127"/>
                      <a:ea typeface="경기천년제목VOTF Bold" panose="02020803020101020101" pitchFamily="18" charset="-127"/>
                    </a:rPr>
                    <a:t>낮은 구성 난이도</a:t>
                  </a:r>
                  <a:endParaRPr kumimoji="1" lang="ko-KR" altLang="en-US" b="1" dirty="0">
                    <a:solidFill>
                      <a:schemeClr val="bg1"/>
                    </a:solidFill>
                  </a:endParaRPr>
                </a:p>
              </p:txBody>
            </p:sp>
          </p:grpSp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2B6E5AC5-1681-6511-AC0A-457BA98FF9E0}"/>
                  </a:ext>
                </a:extLst>
              </p:cNvPr>
              <p:cNvSpPr txBox="1"/>
              <p:nvPr/>
            </p:nvSpPr>
            <p:spPr>
              <a:xfrm>
                <a:off x="3878216" y="1809398"/>
                <a:ext cx="3191771" cy="24539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1600" b="1" dirty="0">
                    <a:latin typeface="GYEONGGITITLEOTF LIGHT" panose="02020403020101020101" pitchFamily="18" charset="-127"/>
                    <a:ea typeface="GYEONGGITITLEOTF LIGHT" panose="02020403020101020101" pitchFamily="18" charset="-127"/>
                  </a:rPr>
                  <a:t>카일</a:t>
                </a:r>
                <a:r>
                  <a:rPr lang="en-US" altLang="ko-KR" sz="1600" b="1" dirty="0">
                    <a:latin typeface="GYEONGGITITLEOTF LIGHT" panose="02020403020101020101" pitchFamily="18" charset="-127"/>
                    <a:ea typeface="GYEONGGITITLEOTF LIGHT" panose="02020403020101020101" pitchFamily="18" charset="-127"/>
                  </a:rPr>
                  <a:t>·</a:t>
                </a:r>
                <a:r>
                  <a:rPr lang="ko-KR" altLang="en-US" sz="1600" b="1" dirty="0">
                    <a:latin typeface="GYEONGGITITLEOTF LIGHT" panose="02020403020101020101" pitchFamily="18" charset="-127"/>
                    <a:ea typeface="GYEONGGITITLEOTF LIGHT" panose="02020403020101020101" pitchFamily="18" charset="-127"/>
                  </a:rPr>
                  <a:t>콜트</a:t>
                </a:r>
                <a:r>
                  <a:rPr lang="en-US" altLang="ko-KR" sz="1600" b="1" dirty="0">
                    <a:latin typeface="GYEONGGITITLEOTF LIGHT" panose="02020403020101020101" pitchFamily="18" charset="-127"/>
                    <a:ea typeface="GYEONGGITITLEOTF LIGHT" panose="02020403020101020101" pitchFamily="18" charset="-127"/>
                  </a:rPr>
                  <a:t>·</a:t>
                </a:r>
                <a:r>
                  <a:rPr lang="ko-KR" altLang="en-US" sz="1600" b="1" dirty="0" err="1">
                    <a:latin typeface="GyeonggiTitleOTF Light" panose="02020403020101020101" pitchFamily="18" charset="-127"/>
                    <a:ea typeface="GyeonggiTitleOTF Light" panose="02020403020101020101" pitchFamily="18" charset="-127"/>
                  </a:rPr>
                  <a:t>카구라</a:t>
                </a:r>
                <a:r>
                  <a:rPr lang="ko-KR" altLang="en-US" sz="1600" b="1" dirty="0">
                    <a:latin typeface="GYEONGGITITLEOTF LIGHT" panose="02020403020101020101" pitchFamily="18" charset="-127"/>
                    <a:ea typeface="GYEONGGITITLEOTF LIGHT" panose="02020403020101020101" pitchFamily="18" charset="-127"/>
                  </a:rPr>
                  <a:t> </a:t>
                </a:r>
                <a:r>
                  <a:rPr lang="ko-KR" altLang="en-US" sz="1600" dirty="0">
                    <a:latin typeface="GyeonggiTitleOTF Light" panose="02020403020101020101" pitchFamily="18" charset="-127"/>
                    <a:ea typeface="GyeonggiTitleOTF Light" panose="02020403020101020101" pitchFamily="18" charset="-127"/>
                  </a:rPr>
                  <a:t>모두 </a:t>
                </a:r>
                <a:r>
                  <a:rPr lang="en-US" altLang="ko-KR" sz="1600" dirty="0">
                    <a:latin typeface="GyeonggiTitleOTF Light" panose="02020403020101020101" pitchFamily="18" charset="-127"/>
                    <a:ea typeface="GyeonggiTitleOTF Light" panose="02020403020101020101" pitchFamily="18" charset="-127"/>
                  </a:rPr>
                  <a:t>2</a:t>
                </a:r>
                <a:r>
                  <a:rPr lang="ko-KR" altLang="en-US" sz="1600" dirty="0">
                    <a:latin typeface="GyeonggiTitleOTF Light" panose="02020403020101020101" pitchFamily="18" charset="-127"/>
                    <a:ea typeface="GyeonggiTitleOTF Light" panose="02020403020101020101" pitchFamily="18" charset="-127"/>
                  </a:rPr>
                  <a:t>초월만으로 핵심 성능이 완성</a:t>
                </a:r>
                <a:r>
                  <a:rPr lang="en-US" altLang="ko-KR" sz="1600" dirty="0">
                    <a:latin typeface="GyeonggiTitleOTF Light" panose="02020403020101020101" pitchFamily="18" charset="-127"/>
                    <a:ea typeface="GyeonggiTitleOTF Light" panose="02020403020101020101" pitchFamily="18" charset="-127"/>
                  </a:rPr>
                  <a:t>,</a:t>
                </a:r>
                <a:r>
                  <a:rPr lang="ko-KR" altLang="en-US" sz="1600" dirty="0">
                    <a:latin typeface="GyeonggiTitleOTF Light" panose="02020403020101020101" pitchFamily="18" charset="-127"/>
                    <a:ea typeface="GyeonggiTitleOTF Light" panose="02020403020101020101" pitchFamily="18" charset="-127"/>
                  </a:rPr>
                  <a:t> 적은 투자로도 체감 성능이 높음</a:t>
                </a:r>
                <a:r>
                  <a:rPr lang="en-US" altLang="ko-KR" sz="1600" dirty="0">
                    <a:latin typeface="GyeonggiTitleOTF Light" panose="02020403020101020101" pitchFamily="18" charset="-127"/>
                    <a:ea typeface="GyeonggiTitleOTF Light" panose="02020403020101020101" pitchFamily="18" charset="-127"/>
                  </a:rPr>
                  <a:t>.</a:t>
                </a:r>
              </a:p>
              <a:p>
                <a:endParaRPr lang="en-US" altLang="ko-KR" sz="1600" dirty="0">
                  <a:latin typeface="GyeonggiTitleOTF Light" panose="02020403020101020101" pitchFamily="18" charset="-127"/>
                  <a:ea typeface="GyeonggiTitleOTF Light" panose="02020403020101020101" pitchFamily="18" charset="-127"/>
                </a:endParaRPr>
              </a:p>
              <a:p>
                <a:endParaRPr lang="en-US" altLang="ko-KR" sz="1600" dirty="0">
                  <a:latin typeface="GyeonggiTitleOTF Light" panose="02020403020101020101" pitchFamily="18" charset="-127"/>
                  <a:ea typeface="GyeonggiTitleOTF Light" panose="02020403020101020101" pitchFamily="18" charset="-127"/>
                </a:endParaRPr>
              </a:p>
              <a:p>
                <a:r>
                  <a:rPr lang="ko-KR" altLang="en-US" sz="1600" dirty="0">
                    <a:latin typeface="GyeonggiTitleOTF Light" panose="02020403020101020101" pitchFamily="18" charset="-127"/>
                    <a:ea typeface="GyeonggiTitleOTF Light" panose="02020403020101020101" pitchFamily="18" charset="-127"/>
                  </a:rPr>
                  <a:t> </a:t>
                </a:r>
                <a:r>
                  <a:rPr lang="en-US" altLang="ko-KR" sz="1600" dirty="0">
                    <a:latin typeface="GyeonggiTitleOTF Light" panose="02020403020101020101" pitchFamily="18" charset="-127"/>
                    <a:ea typeface="GyeonggiTitleOTF Light" panose="02020403020101020101" pitchFamily="18" charset="-127"/>
                  </a:rPr>
                  <a:t>=&gt;</a:t>
                </a:r>
                <a:r>
                  <a:rPr lang="ko-KR" altLang="en-US" sz="1600" dirty="0">
                    <a:latin typeface="GyeonggiTitleOTF Light" panose="02020403020101020101" pitchFamily="18" charset="-127"/>
                    <a:ea typeface="GyeonggiTitleOTF Light" panose="02020403020101020101" pitchFamily="18" charset="-127"/>
                  </a:rPr>
                  <a:t> 다른 영웅들의 조합도 가능하여 구성 진입장벽이 매우 낮음</a:t>
                </a:r>
              </a:p>
            </p:txBody>
          </p:sp>
        </p:grpSp>
        <p:grpSp>
          <p:nvGrpSpPr>
            <p:cNvPr id="24" name="그룹 23">
              <a:extLst>
                <a:ext uri="{FF2B5EF4-FFF2-40B4-BE49-F238E27FC236}">
                  <a16:creationId xmlns:a16="http://schemas.microsoft.com/office/drawing/2014/main" id="{4291B166-172F-4D25-8F79-C550E3BFF9CB}"/>
                </a:ext>
              </a:extLst>
            </p:cNvPr>
            <p:cNvGrpSpPr/>
            <p:nvPr/>
          </p:nvGrpSpPr>
          <p:grpSpPr>
            <a:xfrm>
              <a:off x="4431016" y="2062828"/>
              <a:ext cx="3271596" cy="3714058"/>
              <a:chOff x="2904209" y="1707509"/>
              <a:chExt cx="3271596" cy="4430274"/>
            </a:xfrm>
            <a:effectLst>
              <a:outerShdw blurRad="50800" dist="127000" dir="2700000" algn="ctr" rotWithShape="0">
                <a:srgbClr val="000000">
                  <a:alpha val="50000"/>
                </a:srgbClr>
              </a:outerShdw>
            </a:effectLst>
          </p:grpSpPr>
          <p:grpSp>
            <p:nvGrpSpPr>
              <p:cNvPr id="48" name="그룹 47">
                <a:extLst>
                  <a:ext uri="{FF2B5EF4-FFF2-40B4-BE49-F238E27FC236}">
                    <a16:creationId xmlns:a16="http://schemas.microsoft.com/office/drawing/2014/main" id="{F2BBCEDA-5971-E784-FA97-67D74538A7CB}"/>
                  </a:ext>
                </a:extLst>
              </p:cNvPr>
              <p:cNvGrpSpPr/>
              <p:nvPr/>
            </p:nvGrpSpPr>
            <p:grpSpPr>
              <a:xfrm>
                <a:off x="2904209" y="1707509"/>
                <a:ext cx="3191774" cy="4430274"/>
                <a:chOff x="3907766" y="931653"/>
                <a:chExt cx="3191774" cy="4994694"/>
              </a:xfrm>
            </p:grpSpPr>
            <p:sp>
              <p:nvSpPr>
                <p:cNvPr id="52" name="대각선 방향의 모서리가 둥근 사각형 51">
                  <a:extLst>
                    <a:ext uri="{FF2B5EF4-FFF2-40B4-BE49-F238E27FC236}">
                      <a16:creationId xmlns:a16="http://schemas.microsoft.com/office/drawing/2014/main" id="{FEADCA8E-8AA2-8EF0-56C4-884528A4DFF5}"/>
                    </a:ext>
                  </a:extLst>
                </p:cNvPr>
                <p:cNvSpPr/>
                <p:nvPr/>
              </p:nvSpPr>
              <p:spPr>
                <a:xfrm>
                  <a:off x="3907766" y="931653"/>
                  <a:ext cx="3191774" cy="4994694"/>
                </a:xfrm>
                <a:prstGeom prst="round2DiagRect">
                  <a:avLst>
                    <a:gd name="adj1" fmla="val 10451"/>
                    <a:gd name="adj2" fmla="val 0"/>
                  </a:avLst>
                </a:prstGeom>
                <a:solidFill>
                  <a:srgbClr val="DEDCDA"/>
                </a:solidFill>
                <a:ln>
                  <a:solidFill>
                    <a:srgbClr val="DEDCDA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endParaRPr lang="ko-KR" altLang="en-US" dirty="0">
                    <a:latin typeface="경기천년제목VOTF Bold" panose="02020803020101020101" pitchFamily="18" charset="-127"/>
                    <a:ea typeface="경기천년제목VOTF Bold" panose="02020803020101020101" pitchFamily="18" charset="-127"/>
                  </a:endParaRPr>
                </a:p>
                <a:p>
                  <a:pPr algn="ctr"/>
                  <a:endParaRPr kumimoji="1" lang="ko-KR" altLang="en-US" dirty="0"/>
                </a:p>
              </p:txBody>
            </p:sp>
            <p:sp>
              <p:nvSpPr>
                <p:cNvPr id="53" name="대각선 방향의 모서리가 둥근 사각형 52">
                  <a:extLst>
                    <a:ext uri="{FF2B5EF4-FFF2-40B4-BE49-F238E27FC236}">
                      <a16:creationId xmlns:a16="http://schemas.microsoft.com/office/drawing/2014/main" id="{55018D61-FE79-E9A7-BAF3-29365262F470}"/>
                    </a:ext>
                  </a:extLst>
                </p:cNvPr>
                <p:cNvSpPr/>
                <p:nvPr/>
              </p:nvSpPr>
              <p:spPr>
                <a:xfrm>
                  <a:off x="3907766" y="931653"/>
                  <a:ext cx="3191774" cy="726354"/>
                </a:xfrm>
                <a:prstGeom prst="round2DiagRect">
                  <a:avLst>
                    <a:gd name="adj1" fmla="val 48374"/>
                    <a:gd name="adj2" fmla="val 0"/>
                  </a:avLst>
                </a:prstGeom>
                <a:solidFill>
                  <a:srgbClr val="393833"/>
                </a:solidFill>
                <a:ln>
                  <a:solidFill>
                    <a:srgbClr val="DFDCDA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kumimoji="1" lang="ko-KR" altLang="en-US" b="1" dirty="0">
                      <a:latin typeface="GyeonggiTitle Bold" panose="02020803020101020101" pitchFamily="18" charset="-127"/>
                      <a:ea typeface="GyeonggiTitle Bold" panose="02020803020101020101" pitchFamily="18" charset="-127"/>
                    </a:rPr>
                    <a:t>완성형</a:t>
                  </a:r>
                  <a:r>
                    <a:rPr kumimoji="1" lang="ko-KR" altLang="en-US" sz="1700" b="1" dirty="0">
                      <a:latin typeface="GyeonggiTitle Bold" panose="02020803020101020101" pitchFamily="18" charset="-127"/>
                      <a:ea typeface="GyeonggiTitle Bold" panose="02020803020101020101" pitchFamily="18" charset="-127"/>
                    </a:rPr>
                    <a:t> 시너지</a:t>
                  </a:r>
                </a:p>
              </p:txBody>
            </p:sp>
          </p:grpSp>
          <p:grpSp>
            <p:nvGrpSpPr>
              <p:cNvPr id="49" name="그룹 48">
                <a:extLst>
                  <a:ext uri="{FF2B5EF4-FFF2-40B4-BE49-F238E27FC236}">
                    <a16:creationId xmlns:a16="http://schemas.microsoft.com/office/drawing/2014/main" id="{8DB5EABE-D9A5-FDBF-CD2F-EC353C75A6DC}"/>
                  </a:ext>
                </a:extLst>
              </p:cNvPr>
              <p:cNvGrpSpPr/>
              <p:nvPr/>
            </p:nvGrpSpPr>
            <p:grpSpPr>
              <a:xfrm>
                <a:off x="2984034" y="1832162"/>
                <a:ext cx="3191771" cy="858174"/>
                <a:chOff x="3087551" y="1803503"/>
                <a:chExt cx="3191771" cy="858174"/>
              </a:xfrm>
            </p:grpSpPr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id="{ED5FBCF4-BCEC-3940-7BC9-1F2B1BAE1BA3}"/>
                    </a:ext>
                  </a:extLst>
                </p:cNvPr>
                <p:cNvSpPr txBox="1"/>
                <p:nvPr/>
              </p:nvSpPr>
              <p:spPr>
                <a:xfrm>
                  <a:off x="4257274" y="1803503"/>
                  <a:ext cx="692676" cy="440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endParaRPr kumimoji="1" lang="ko-KR" altLang="en-US" b="1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51" name="TextBox 50">
                  <a:extLst>
                    <a:ext uri="{FF2B5EF4-FFF2-40B4-BE49-F238E27FC236}">
                      <a16:creationId xmlns:a16="http://schemas.microsoft.com/office/drawing/2014/main" id="{C9ECFCFF-EB57-5484-A057-E8C5E728FB54}"/>
                    </a:ext>
                  </a:extLst>
                </p:cNvPr>
                <p:cNvSpPr txBox="1"/>
                <p:nvPr/>
              </p:nvSpPr>
              <p:spPr>
                <a:xfrm>
                  <a:off x="3087551" y="2323123"/>
                  <a:ext cx="3191771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endParaRPr kumimoji="1" lang="en-US" altLang="ko-KR" sz="1600" dirty="0">
                    <a:solidFill>
                      <a:srgbClr val="302F2C"/>
                    </a:solidFill>
                  </a:endParaRPr>
                </a:p>
              </p:txBody>
            </p:sp>
          </p:grpSp>
        </p:grpSp>
        <p:grpSp>
          <p:nvGrpSpPr>
            <p:cNvPr id="29" name="그룹 28">
              <a:extLst>
                <a:ext uri="{FF2B5EF4-FFF2-40B4-BE49-F238E27FC236}">
                  <a16:creationId xmlns:a16="http://schemas.microsoft.com/office/drawing/2014/main" id="{FD65801D-775A-A99E-3CD3-BBA39711CD71}"/>
                </a:ext>
              </a:extLst>
            </p:cNvPr>
            <p:cNvGrpSpPr/>
            <p:nvPr/>
          </p:nvGrpSpPr>
          <p:grpSpPr>
            <a:xfrm>
              <a:off x="7949503" y="2061310"/>
              <a:ext cx="3191777" cy="3714058"/>
              <a:chOff x="2904206" y="1707509"/>
              <a:chExt cx="3191777" cy="4430274"/>
            </a:xfrm>
            <a:effectLst>
              <a:outerShdw blurRad="50800" dist="127000" dir="2700000" algn="ctr" rotWithShape="0">
                <a:srgbClr val="000000">
                  <a:alpha val="50000"/>
                </a:srgbClr>
              </a:outerShdw>
            </a:effectLst>
          </p:grpSpPr>
          <p:grpSp>
            <p:nvGrpSpPr>
              <p:cNvPr id="40" name="그룹 39">
                <a:extLst>
                  <a:ext uri="{FF2B5EF4-FFF2-40B4-BE49-F238E27FC236}">
                    <a16:creationId xmlns:a16="http://schemas.microsoft.com/office/drawing/2014/main" id="{7EDA9FEC-E1CD-3484-5C6B-F8B402D81219}"/>
                  </a:ext>
                </a:extLst>
              </p:cNvPr>
              <p:cNvGrpSpPr/>
              <p:nvPr/>
            </p:nvGrpSpPr>
            <p:grpSpPr>
              <a:xfrm>
                <a:off x="2904209" y="1707509"/>
                <a:ext cx="3191774" cy="4430274"/>
                <a:chOff x="3907766" y="931653"/>
                <a:chExt cx="3191774" cy="4994694"/>
              </a:xfrm>
            </p:grpSpPr>
            <p:sp>
              <p:nvSpPr>
                <p:cNvPr id="46" name="대각선 방향의 모서리가 둥근 사각형 45">
                  <a:extLst>
                    <a:ext uri="{FF2B5EF4-FFF2-40B4-BE49-F238E27FC236}">
                      <a16:creationId xmlns:a16="http://schemas.microsoft.com/office/drawing/2014/main" id="{0F507F71-EE22-CBDD-D7A3-7FFEEFE70598}"/>
                    </a:ext>
                  </a:extLst>
                </p:cNvPr>
                <p:cNvSpPr/>
                <p:nvPr/>
              </p:nvSpPr>
              <p:spPr>
                <a:xfrm>
                  <a:off x="3907766" y="931653"/>
                  <a:ext cx="3191774" cy="4994694"/>
                </a:xfrm>
                <a:prstGeom prst="round2DiagRect">
                  <a:avLst>
                    <a:gd name="adj1" fmla="val 10451"/>
                    <a:gd name="adj2" fmla="val 0"/>
                  </a:avLst>
                </a:prstGeom>
                <a:solidFill>
                  <a:srgbClr val="DEDCDA"/>
                </a:solidFill>
                <a:ln>
                  <a:solidFill>
                    <a:srgbClr val="DEDCDA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ko-KR" altLang="en-US"/>
                </a:p>
              </p:txBody>
            </p:sp>
            <p:sp>
              <p:nvSpPr>
                <p:cNvPr id="47" name="대각선 방향의 모서리가 둥근 사각형 46">
                  <a:extLst>
                    <a:ext uri="{FF2B5EF4-FFF2-40B4-BE49-F238E27FC236}">
                      <a16:creationId xmlns:a16="http://schemas.microsoft.com/office/drawing/2014/main" id="{9012A1CB-4A62-4D16-6164-DA61DBADA49B}"/>
                    </a:ext>
                  </a:extLst>
                </p:cNvPr>
                <p:cNvSpPr/>
                <p:nvPr/>
              </p:nvSpPr>
              <p:spPr>
                <a:xfrm>
                  <a:off x="3907766" y="931653"/>
                  <a:ext cx="3191774" cy="726354"/>
                </a:xfrm>
                <a:prstGeom prst="round2DiagRect">
                  <a:avLst>
                    <a:gd name="adj1" fmla="val 48374"/>
                    <a:gd name="adj2" fmla="val 0"/>
                  </a:avLst>
                </a:prstGeom>
                <a:solidFill>
                  <a:srgbClr val="393833"/>
                </a:solidFill>
                <a:ln>
                  <a:solidFill>
                    <a:srgbClr val="DFDCDA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kumimoji="1" lang="ko-KR" altLang="en-US" b="1" dirty="0">
                      <a:latin typeface="GyeonggiTitle Bold" panose="02020803020101020101" pitchFamily="18" charset="-127"/>
                      <a:ea typeface="GyeonggiTitle Bold" panose="02020803020101020101" pitchFamily="18" charset="-127"/>
                    </a:rPr>
                    <a:t>중위권 메타 카운터</a:t>
                  </a:r>
                </a:p>
              </p:txBody>
            </p:sp>
          </p:grpSp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C41B1C41-5A01-615F-D7BB-A2C8CE129F7B}"/>
                  </a:ext>
                </a:extLst>
              </p:cNvPr>
              <p:cNvSpPr txBox="1"/>
              <p:nvPr/>
            </p:nvSpPr>
            <p:spPr>
              <a:xfrm>
                <a:off x="2904206" y="2512590"/>
                <a:ext cx="3191771" cy="21766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1600" dirty="0">
                    <a:latin typeface="GyeonggiTitleOTF Light" panose="02020403020101020101" pitchFamily="18" charset="-127"/>
                    <a:ea typeface="GyeonggiTitleOTF Light" panose="02020403020101020101" pitchFamily="18" charset="-127"/>
                  </a:rPr>
                  <a:t>중상위권은 </a:t>
                </a:r>
                <a:r>
                  <a:rPr lang="en" altLang="ko-KR" sz="1600" dirty="0">
                    <a:latin typeface="GyeonggiTitleOTF Light" panose="02020403020101020101" pitchFamily="18" charset="-127"/>
                    <a:ea typeface="GyeonggiTitleOTF Light" panose="02020403020101020101" pitchFamily="18" charset="-127"/>
                  </a:rPr>
                  <a:t>CC </a:t>
                </a:r>
                <a:r>
                  <a:rPr lang="ko-KR" altLang="en-US" sz="1600" dirty="0">
                    <a:latin typeface="GyeonggiTitleOTF Light" panose="02020403020101020101" pitchFamily="18" charset="-127"/>
                    <a:ea typeface="GyeonggiTitleOTF Light" panose="02020403020101020101" pitchFamily="18" charset="-127"/>
                  </a:rPr>
                  <a:t>내성</a:t>
                </a:r>
                <a:r>
                  <a:rPr lang="en-US" altLang="ko-KR" sz="1600" dirty="0">
                    <a:latin typeface="GyeonggiTitleOTF Light" panose="02020403020101020101" pitchFamily="18" charset="-127"/>
                    <a:ea typeface="GyeonggiTitleOTF Light" panose="02020403020101020101" pitchFamily="18" charset="-127"/>
                  </a:rPr>
                  <a:t>,</a:t>
                </a:r>
                <a:r>
                  <a:rPr lang="ko-KR" altLang="en-US" sz="1600" dirty="0">
                    <a:latin typeface="GyeonggiTitleOTF Light" panose="02020403020101020101" pitchFamily="18" charset="-127"/>
                    <a:ea typeface="GyeonggiTitleOTF Light" panose="02020403020101020101" pitchFamily="18" charset="-127"/>
                  </a:rPr>
                  <a:t> 덱 셋팅</a:t>
                </a:r>
                <a:r>
                  <a:rPr lang="en-US" altLang="ko-KR" sz="1600" dirty="0">
                    <a:latin typeface="GyeonggiTitleOTF Light" panose="02020403020101020101" pitchFamily="18" charset="-127"/>
                    <a:ea typeface="GyeonggiTitleOTF Light" panose="02020403020101020101" pitchFamily="18" charset="-127"/>
                  </a:rPr>
                  <a:t>, </a:t>
                </a:r>
                <a:r>
                  <a:rPr lang="ko-KR" altLang="en-US" sz="1600" dirty="0">
                    <a:latin typeface="GyeonggiTitleOTF Light" panose="02020403020101020101" pitchFamily="18" charset="-127"/>
                    <a:ea typeface="GyeonggiTitleOTF Light" panose="02020403020101020101" pitchFamily="18" charset="-127"/>
                  </a:rPr>
                  <a:t>공격속도 등 최적화 요소가 부족한 중상위권</a:t>
                </a:r>
                <a:endParaRPr lang="en-US" altLang="ko-KR" sz="1600" dirty="0">
                  <a:latin typeface="GyeonggiTitleOTF Light" panose="02020403020101020101" pitchFamily="18" charset="-127"/>
                  <a:ea typeface="GyeonggiTitleOTF Light" panose="02020403020101020101" pitchFamily="18" charset="-127"/>
                </a:endParaRPr>
              </a:p>
              <a:p>
                <a:endParaRPr lang="en-US" altLang="ko-KR" sz="1600" dirty="0">
                  <a:latin typeface="GyeonggiTitleOTF Light" panose="02020403020101020101" pitchFamily="18" charset="-127"/>
                  <a:ea typeface="GyeonggiTitleOTF Light" panose="02020403020101020101" pitchFamily="18" charset="-127"/>
                </a:endParaRPr>
              </a:p>
              <a:p>
                <a:endParaRPr lang="en-US" altLang="ko-KR" sz="1600" dirty="0">
                  <a:latin typeface="GyeonggiTitleOTF Light" panose="02020403020101020101" pitchFamily="18" charset="-127"/>
                  <a:ea typeface="GyeonggiTitleOTF Light" panose="02020403020101020101" pitchFamily="18" charset="-127"/>
                </a:endParaRPr>
              </a:p>
              <a:p>
                <a:endParaRPr lang="en-US" altLang="ko-KR" sz="1600" dirty="0">
                  <a:latin typeface="GyeonggiTitleOTF Light" panose="02020403020101020101" pitchFamily="18" charset="-127"/>
                  <a:ea typeface="GyeonggiTitleOTF Light" panose="02020403020101020101" pitchFamily="18" charset="-127"/>
                </a:endParaRPr>
              </a:p>
              <a:p>
                <a:r>
                  <a:rPr lang="en-US" altLang="ko-KR" sz="1600" dirty="0">
                    <a:latin typeface="GyeonggiTitleOTF Light" panose="02020403020101020101" pitchFamily="18" charset="-127"/>
                    <a:ea typeface="GyeonggiTitleOTF Light" panose="02020403020101020101" pitchFamily="18" charset="-127"/>
                  </a:rPr>
                  <a:t>=&gt;</a:t>
                </a:r>
                <a:r>
                  <a:rPr lang="ko-KR" altLang="en-US" sz="1600" dirty="0">
                    <a:latin typeface="GyeonggiTitleOTF Light" panose="02020403020101020101" pitchFamily="18" charset="-127"/>
                    <a:ea typeface="GyeonggiTitleOTF Light" panose="02020403020101020101" pitchFamily="18" charset="-127"/>
                  </a:rPr>
                  <a:t> 카일의 </a:t>
                </a:r>
                <a:r>
                  <a:rPr lang="ko-KR" altLang="en-US" sz="1600" dirty="0" err="1">
                    <a:latin typeface="GyeonggiTitleOTF Light" panose="02020403020101020101" pitchFamily="18" charset="-127"/>
                    <a:ea typeface="GyeonggiTitleOTF Light" panose="02020403020101020101" pitchFamily="18" charset="-127"/>
                  </a:rPr>
                  <a:t>폭딜이</a:t>
                </a:r>
                <a:r>
                  <a:rPr lang="ko-KR" altLang="en-US" sz="1600" dirty="0">
                    <a:latin typeface="GyeonggiTitleOTF Light" panose="02020403020101020101" pitchFamily="18" charset="-127"/>
                    <a:ea typeface="GyeonggiTitleOTF Light" panose="02020403020101020101" pitchFamily="18" charset="-127"/>
                  </a:rPr>
                  <a:t> 순간 삭제가 빈번하여 상대적으로 강력한 체감 극대화</a:t>
                </a:r>
                <a:r>
                  <a:rPr lang="en-US" altLang="ko-KR" sz="1600" dirty="0">
                    <a:latin typeface="GyeonggiTitleOTF Light" panose="02020403020101020101" pitchFamily="18" charset="-127"/>
                    <a:ea typeface="GyeonggiTitleOTF Light" panose="02020403020101020101" pitchFamily="18" charset="-127"/>
                  </a:rPr>
                  <a:t>.</a:t>
                </a:r>
              </a:p>
            </p:txBody>
          </p:sp>
        </p:grp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33F1D5D0-7D94-ECB3-BE67-B0668781BFB1}"/>
                </a:ext>
              </a:extLst>
            </p:cNvPr>
            <p:cNvSpPr txBox="1"/>
            <p:nvPr/>
          </p:nvSpPr>
          <p:spPr>
            <a:xfrm>
              <a:off x="4470917" y="2734853"/>
              <a:ext cx="3151873" cy="23196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600" b="1" dirty="0">
                  <a:latin typeface="GyeonggiTitleOTF Light" panose="02020403020101020101" pitchFamily="18" charset="-127"/>
                  <a:ea typeface="GyeonggiTitleOTF Light" panose="02020403020101020101" pitchFamily="18" charset="-127"/>
                </a:rPr>
                <a:t>콜트</a:t>
              </a:r>
              <a:r>
                <a:rPr lang="ko-KR" altLang="en-US" sz="1600" dirty="0">
                  <a:latin typeface="GyeonggiTitleOTF Light" panose="02020403020101020101" pitchFamily="18" charset="-127"/>
                  <a:ea typeface="GyeonggiTitleOTF Light" panose="02020403020101020101" pitchFamily="18" charset="-127"/>
                </a:rPr>
                <a:t> </a:t>
              </a:r>
              <a:r>
                <a:rPr lang="en-US" altLang="ko-KR" sz="1600" dirty="0">
                  <a:latin typeface="GyeonggiTitleOTF Light" panose="02020403020101020101" pitchFamily="18" charset="-127"/>
                  <a:ea typeface="GyeonggiTitleOTF Light" panose="02020403020101020101" pitchFamily="18" charset="-127"/>
                </a:rPr>
                <a:t>-&gt;</a:t>
              </a:r>
              <a:r>
                <a:rPr lang="ko-KR" altLang="en-US" sz="1600" dirty="0">
                  <a:latin typeface="GyeonggiTitleOTF Light" panose="02020403020101020101" pitchFamily="18" charset="-127"/>
                  <a:ea typeface="GyeonggiTitleOTF Light" panose="02020403020101020101" pitchFamily="18" charset="-127"/>
                </a:rPr>
                <a:t> 은신을 통한 장기 생존</a:t>
              </a:r>
              <a:r>
                <a:rPr lang="en-US" altLang="ko-KR" sz="1600" dirty="0">
                  <a:latin typeface="GyeonggiTitleOTF Light" panose="02020403020101020101" pitchFamily="18" charset="-127"/>
                  <a:ea typeface="GyeonggiTitleOTF Light" panose="02020403020101020101" pitchFamily="18" charset="-127"/>
                </a:rPr>
                <a:t>,</a:t>
              </a:r>
              <a:r>
                <a:rPr lang="ko-KR" altLang="en-US" sz="1600" dirty="0">
                  <a:latin typeface="GyeonggiTitleOTF Light" panose="02020403020101020101" pitchFamily="18" charset="-127"/>
                  <a:ea typeface="GyeonggiTitleOTF Light" panose="02020403020101020101" pitchFamily="18" charset="-127"/>
                </a:rPr>
                <a:t> </a:t>
              </a:r>
              <a:r>
                <a:rPr lang="ko-KR" altLang="en-US" sz="1600" dirty="0" err="1">
                  <a:latin typeface="GyeonggiTitleOTF Light" panose="02020403020101020101" pitchFamily="18" charset="-127"/>
                  <a:ea typeface="GyeonggiTitleOTF Light" panose="02020403020101020101" pitchFamily="18" charset="-127"/>
                </a:rPr>
                <a:t>서브딜링</a:t>
              </a:r>
              <a:r>
                <a:rPr lang="en-US" altLang="ko-KR" sz="1600" dirty="0">
                  <a:latin typeface="GyeonggiTitleOTF Light" panose="02020403020101020101" pitchFamily="18" charset="-127"/>
                  <a:ea typeface="GyeonggiTitleOTF Light" panose="02020403020101020101" pitchFamily="18" charset="-127"/>
                </a:rPr>
                <a:t>,</a:t>
              </a:r>
              <a:r>
                <a:rPr lang="ko-KR" altLang="en-US" sz="1600" dirty="0">
                  <a:latin typeface="GyeonggiTitleOTF Light" panose="02020403020101020101" pitchFamily="18" charset="-127"/>
                  <a:ea typeface="GyeonggiTitleOTF Light" panose="02020403020101020101" pitchFamily="18" charset="-127"/>
                </a:rPr>
                <a:t> 속공비례 공격력 증가 패시브로 </a:t>
              </a:r>
              <a:r>
                <a:rPr lang="ko-KR" altLang="en-US" sz="1600" dirty="0" err="1">
                  <a:latin typeface="GyeonggiTitleOTF Light" panose="02020403020101020101" pitchFamily="18" charset="-127"/>
                  <a:ea typeface="GyeonggiTitleOTF Light" panose="02020403020101020101" pitchFamily="18" charset="-127"/>
                </a:rPr>
                <a:t>선턴경쟁</a:t>
              </a:r>
              <a:r>
                <a:rPr lang="ko-KR" altLang="en-US" sz="1600" dirty="0">
                  <a:latin typeface="GyeonggiTitleOTF Light" panose="02020403020101020101" pitchFamily="18" charset="-127"/>
                  <a:ea typeface="GyeonggiTitleOTF Light" panose="02020403020101020101" pitchFamily="18" charset="-127"/>
                </a:rPr>
                <a:t> 우위</a:t>
              </a:r>
              <a:endParaRPr lang="en-US" altLang="ko-KR" sz="1600" dirty="0">
                <a:latin typeface="GyeonggiTitleOTF Light" panose="02020403020101020101" pitchFamily="18" charset="-127"/>
                <a:ea typeface="GyeonggiTitleOTF Light" panose="02020403020101020101" pitchFamily="18" charset="-127"/>
              </a:endParaRPr>
            </a:p>
            <a:p>
              <a:endParaRPr lang="en-US" altLang="ko-KR" sz="1600" dirty="0">
                <a:latin typeface="GyeonggiTitleOTF Light" panose="02020403020101020101" pitchFamily="18" charset="-127"/>
                <a:ea typeface="GyeonggiTitleOTF Light" panose="02020403020101020101" pitchFamily="18" charset="-127"/>
              </a:endParaRPr>
            </a:p>
            <a:p>
              <a:endParaRPr lang="en-US" altLang="ko-KR" sz="1600" dirty="0">
                <a:latin typeface="GyeonggiTitleOTF Light" panose="02020403020101020101" pitchFamily="18" charset="-127"/>
                <a:ea typeface="GyeonggiTitleOTF Light" panose="02020403020101020101" pitchFamily="18" charset="-127"/>
              </a:endParaRPr>
            </a:p>
            <a:p>
              <a:r>
                <a:rPr lang="ko-KR" altLang="en-US" sz="1600" b="1" dirty="0" err="1">
                  <a:latin typeface="GyeonggiTitleOTF Light" panose="02020403020101020101" pitchFamily="18" charset="-127"/>
                  <a:ea typeface="GyeonggiTitleOTF Light" panose="02020403020101020101" pitchFamily="18" charset="-127"/>
                </a:rPr>
                <a:t>카구라</a:t>
              </a:r>
              <a:r>
                <a:rPr lang="ko-KR" altLang="en-US" sz="1600" dirty="0">
                  <a:latin typeface="GyeonggiTitleOTF Light" panose="02020403020101020101" pitchFamily="18" charset="-127"/>
                  <a:ea typeface="GyeonggiTitleOTF Light" panose="02020403020101020101" pitchFamily="18" charset="-127"/>
                </a:rPr>
                <a:t> </a:t>
              </a:r>
              <a:r>
                <a:rPr lang="en-US" altLang="ko-KR" sz="1600" dirty="0">
                  <a:latin typeface="GyeonggiTitleOTF Light" panose="02020403020101020101" pitchFamily="18" charset="-127"/>
                  <a:ea typeface="GyeonggiTitleOTF Light" panose="02020403020101020101" pitchFamily="18" charset="-127"/>
                </a:rPr>
                <a:t>-&gt;</a:t>
              </a:r>
              <a:r>
                <a:rPr lang="ko-KR" altLang="en-US" sz="1600" dirty="0">
                  <a:latin typeface="GyeonggiTitleOTF Light" panose="02020403020101020101" pitchFamily="18" charset="-127"/>
                  <a:ea typeface="GyeonggiTitleOTF Light" panose="02020403020101020101" pitchFamily="18" charset="-127"/>
                </a:rPr>
                <a:t> 카일의 낮은 내구성 및 </a:t>
              </a:r>
              <a:r>
                <a:rPr lang="ko-KR" altLang="en-US" sz="1600" dirty="0" err="1">
                  <a:latin typeface="GyeonggiTitleOTF Light" panose="02020403020101020101" pitchFamily="18" charset="-127"/>
                  <a:ea typeface="GyeonggiTitleOTF Light" panose="02020403020101020101" pitchFamily="18" charset="-127"/>
                </a:rPr>
                <a:t>디버프</a:t>
              </a:r>
              <a:r>
                <a:rPr lang="ko-KR" altLang="en-US" sz="1600" dirty="0">
                  <a:latin typeface="GyeonggiTitleOTF Light" panose="02020403020101020101" pitchFamily="18" charset="-127"/>
                  <a:ea typeface="GyeonggiTitleOTF Light" panose="02020403020101020101" pitchFamily="18" charset="-127"/>
                </a:rPr>
                <a:t> 해제로 생존 불안정성 보완</a:t>
              </a:r>
              <a:endParaRPr lang="en-US" altLang="ko-KR" sz="1600" dirty="0">
                <a:latin typeface="GyeonggiTitleOTF Light" panose="02020403020101020101" pitchFamily="18" charset="-127"/>
                <a:ea typeface="GyeonggiTitleOTF Light" panose="02020403020101020101" pitchFamily="18" charset="-127"/>
              </a:endParaRPr>
            </a:p>
            <a:p>
              <a:endParaRPr lang="en-US" altLang="ko-KR" sz="1600" dirty="0">
                <a:latin typeface="GyeonggiTitleOTF Light" panose="02020403020101020101" pitchFamily="18" charset="-127"/>
                <a:ea typeface="GyeonggiTitleOTF Light" panose="02020403020101020101" pitchFamily="18" charset="-127"/>
              </a:endParaRPr>
            </a:p>
            <a:p>
              <a:endParaRPr lang="ko-KR" altLang="en-US" sz="1600" dirty="0">
                <a:latin typeface="GyeonggiTitleOTF Light" panose="02020403020101020101" pitchFamily="18" charset="-127"/>
                <a:ea typeface="GyeonggiTitleOTF Light" panose="02020403020101020101" pitchFamily="18" charset="-127"/>
              </a:endParaRPr>
            </a:p>
          </p:txBody>
        </p:sp>
      </p:grpSp>
      <p:pic>
        <p:nvPicPr>
          <p:cNvPr id="67" name="그림 66" descr="만화 영화, 가상의 캐릭터, 무기, 소설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F806865-1A2F-53E3-D1F9-060F04D1F23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23057" y="1066626"/>
            <a:ext cx="928116" cy="849884"/>
          </a:xfrm>
          <a:prstGeom prst="rect">
            <a:avLst/>
          </a:prstGeom>
          <a:scene3d>
            <a:camera prst="orthographicFront">
              <a:rot lat="0" lon="0" rev="0"/>
            </a:camera>
            <a:lightRig rig="threePt" dir="t"/>
          </a:scene3d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1ABCF64-F5F3-496E-2D45-6E2A20CD0A83}"/>
              </a:ext>
            </a:extLst>
          </p:cNvPr>
          <p:cNvSpPr txBox="1"/>
          <p:nvPr/>
        </p:nvSpPr>
        <p:spPr>
          <a:xfrm>
            <a:off x="5848109" y="6412606"/>
            <a:ext cx="55328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ko-KR" sz="1000" dirty="0">
                <a:latin typeface="GyeonggiTitle Bold" panose="02020803020101020101" pitchFamily="18" charset="-127"/>
                <a:ea typeface="GyeonggiTitle Bold" panose="02020803020101020101" pitchFamily="18" charset="-127"/>
              </a:rPr>
              <a:t>- 14 - </a:t>
            </a:r>
            <a:endParaRPr kumimoji="1" lang="ko-KR" altLang="en-US" sz="1000" dirty="0">
              <a:latin typeface="GyeonggiTitle Bold" panose="02020803020101020101" pitchFamily="18" charset="-127"/>
              <a:ea typeface="GyeonggiTitle Bold" panose="020208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7532358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C9865D1-F0C8-6471-9565-17843950DB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AB7F314B-8253-AB56-9E41-A66C36AA02C2}"/>
              </a:ext>
            </a:extLst>
          </p:cNvPr>
          <p:cNvSpPr txBox="1"/>
          <p:nvPr/>
        </p:nvSpPr>
        <p:spPr>
          <a:xfrm>
            <a:off x="1072526" y="586716"/>
            <a:ext cx="5023473" cy="9079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500" dirty="0">
                <a:latin typeface="GyeonggiTitle Bold" panose="02020803020101020101" pitchFamily="18" charset="-127"/>
                <a:ea typeface="GyeonggiTitle Bold" panose="02020803020101020101" pitchFamily="18" charset="-127"/>
              </a:rPr>
              <a:t>PvP</a:t>
            </a:r>
            <a:r>
              <a:rPr lang="ko-KR" altLang="en-US" sz="3500" dirty="0">
                <a:latin typeface="GyeonggiTitle Bold" panose="02020803020101020101" pitchFamily="18" charset="-127"/>
                <a:ea typeface="GyeonggiTitle Bold" panose="02020803020101020101" pitchFamily="18" charset="-127"/>
              </a:rPr>
              <a:t>문제점</a:t>
            </a:r>
            <a:endParaRPr lang="en-US" altLang="ko-KR" sz="3500" dirty="0">
              <a:latin typeface="GyeonggiTitle Bold" panose="02020803020101020101" pitchFamily="18" charset="-127"/>
              <a:ea typeface="GyeonggiTitle Bold" panose="02020803020101020101" pitchFamily="18" charset="-127"/>
            </a:endParaRPr>
          </a:p>
          <a:p>
            <a:r>
              <a:rPr lang="ko-KR" altLang="en-US" dirty="0">
                <a:latin typeface="GyeonggiTitle Bold" panose="02020803020101020101" pitchFamily="18" charset="-127"/>
                <a:ea typeface="GyeonggiTitle Bold" panose="02020803020101020101" pitchFamily="18" charset="-127"/>
              </a:rPr>
              <a:t>특정 영웅을 중심으로 한 메타 고착화</a:t>
            </a:r>
            <a:endParaRPr lang="en-US" altLang="ko-KR" dirty="0">
              <a:latin typeface="GyeonggiTitle Bold" panose="02020803020101020101" pitchFamily="18" charset="-127"/>
              <a:ea typeface="GyeonggiTitle Bold" panose="02020803020101020101" pitchFamily="18" charset="-127"/>
            </a:endParaRPr>
          </a:p>
        </p:txBody>
      </p:sp>
      <p:grpSp>
        <p:nvGrpSpPr>
          <p:cNvPr id="42" name="그룹 41">
            <a:extLst>
              <a:ext uri="{FF2B5EF4-FFF2-40B4-BE49-F238E27FC236}">
                <a16:creationId xmlns:a16="http://schemas.microsoft.com/office/drawing/2014/main" id="{77CA33E9-4A39-BF6C-5730-EBB37D9E0492}"/>
              </a:ext>
            </a:extLst>
          </p:cNvPr>
          <p:cNvGrpSpPr/>
          <p:nvPr/>
        </p:nvGrpSpPr>
        <p:grpSpPr>
          <a:xfrm>
            <a:off x="864000" y="1728000"/>
            <a:ext cx="10541032" cy="4140000"/>
            <a:chOff x="807688" y="1546884"/>
            <a:chExt cx="10541032" cy="4864076"/>
          </a:xfrm>
        </p:grpSpPr>
        <p:grpSp>
          <p:nvGrpSpPr>
            <p:cNvPr id="43" name="그룹 42">
              <a:extLst>
                <a:ext uri="{FF2B5EF4-FFF2-40B4-BE49-F238E27FC236}">
                  <a16:creationId xmlns:a16="http://schemas.microsoft.com/office/drawing/2014/main" id="{113BB3B6-AFB4-DEF2-B568-6B74E4138B30}"/>
                </a:ext>
              </a:extLst>
            </p:cNvPr>
            <p:cNvGrpSpPr/>
            <p:nvPr/>
          </p:nvGrpSpPr>
          <p:grpSpPr>
            <a:xfrm>
              <a:off x="807688" y="1546884"/>
              <a:ext cx="10541032" cy="4864076"/>
              <a:chOff x="807688" y="1546884"/>
              <a:chExt cx="10541032" cy="4864076"/>
            </a:xfrm>
          </p:grpSpPr>
          <p:sp>
            <p:nvSpPr>
              <p:cNvPr id="52" name="대각선 방향의 모서리가 둥근 사각형 51">
                <a:extLst>
                  <a:ext uri="{FF2B5EF4-FFF2-40B4-BE49-F238E27FC236}">
                    <a16:creationId xmlns:a16="http://schemas.microsoft.com/office/drawing/2014/main" id="{0F4B84F2-B80F-C048-81B1-179D7792FE97}"/>
                  </a:ext>
                </a:extLst>
              </p:cNvPr>
              <p:cNvSpPr/>
              <p:nvPr/>
            </p:nvSpPr>
            <p:spPr>
              <a:xfrm>
                <a:off x="807688" y="1546884"/>
                <a:ext cx="10541032" cy="4864076"/>
              </a:xfrm>
              <a:prstGeom prst="round2DiagRect">
                <a:avLst>
                  <a:gd name="adj1" fmla="val 8177"/>
                  <a:gd name="adj2" fmla="val 0"/>
                </a:avLst>
              </a:prstGeom>
              <a:solidFill>
                <a:srgbClr val="B4B4B3">
                  <a:alpha val="36515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vl="0" eaLnBrk="0" fontAlgn="base" latinLnBrk="0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altLang="ko-KR" sz="1600" dirty="0">
                  <a:solidFill>
                    <a:schemeClr val="tx1"/>
                  </a:solidFill>
                  <a:latin typeface="GyeonggiTitle Bold" panose="02020803020101020101" pitchFamily="18" charset="-127"/>
                  <a:ea typeface="GyeonggiTitle Bold" panose="02020803020101020101" pitchFamily="18" charset="-127"/>
                </a:endParaRPr>
              </a:p>
            </p:txBody>
          </p:sp>
          <p:grpSp>
            <p:nvGrpSpPr>
              <p:cNvPr id="53" name="그룹 52">
                <a:extLst>
                  <a:ext uri="{FF2B5EF4-FFF2-40B4-BE49-F238E27FC236}">
                    <a16:creationId xmlns:a16="http://schemas.microsoft.com/office/drawing/2014/main" id="{6D2761F3-D8E3-F4A1-A45C-51B4687B8AB0}"/>
                  </a:ext>
                </a:extLst>
              </p:cNvPr>
              <p:cNvGrpSpPr/>
              <p:nvPr/>
            </p:nvGrpSpPr>
            <p:grpSpPr>
              <a:xfrm>
                <a:off x="941709" y="1708925"/>
                <a:ext cx="3191774" cy="4430274"/>
                <a:chOff x="3930766" y="905654"/>
                <a:chExt cx="3191774" cy="4994694"/>
              </a:xfrm>
              <a:effectLst>
                <a:outerShdw blurRad="50800" dist="131726" dir="2700000" algn="ctr" rotWithShape="0">
                  <a:srgbClr val="000000">
                    <a:alpha val="50000"/>
                  </a:srgbClr>
                </a:outerShdw>
              </a:effectLst>
            </p:grpSpPr>
            <p:grpSp>
              <p:nvGrpSpPr>
                <p:cNvPr id="64" name="그룹 63">
                  <a:extLst>
                    <a:ext uri="{FF2B5EF4-FFF2-40B4-BE49-F238E27FC236}">
                      <a16:creationId xmlns:a16="http://schemas.microsoft.com/office/drawing/2014/main" id="{69EDC4AE-C7E0-506E-604F-DB5A285F0DB8}"/>
                    </a:ext>
                  </a:extLst>
                </p:cNvPr>
                <p:cNvGrpSpPr/>
                <p:nvPr/>
              </p:nvGrpSpPr>
              <p:grpSpPr>
                <a:xfrm>
                  <a:off x="3930766" y="905654"/>
                  <a:ext cx="3191774" cy="4994694"/>
                  <a:chOff x="3907766" y="931653"/>
                  <a:chExt cx="3191774" cy="4994694"/>
                </a:xfrm>
              </p:grpSpPr>
              <p:sp>
                <p:nvSpPr>
                  <p:cNvPr id="66" name="대각선 방향의 모서리가 둥근 사각형 65">
                    <a:extLst>
                      <a:ext uri="{FF2B5EF4-FFF2-40B4-BE49-F238E27FC236}">
                        <a16:creationId xmlns:a16="http://schemas.microsoft.com/office/drawing/2014/main" id="{ABF537BA-2596-E808-47F9-76B08F998FCE}"/>
                      </a:ext>
                    </a:extLst>
                  </p:cNvPr>
                  <p:cNvSpPr/>
                  <p:nvPr/>
                </p:nvSpPr>
                <p:spPr>
                  <a:xfrm>
                    <a:off x="3907766" y="931653"/>
                    <a:ext cx="3191774" cy="4994694"/>
                  </a:xfrm>
                  <a:prstGeom prst="round2DiagRect">
                    <a:avLst>
                      <a:gd name="adj1" fmla="val 10451"/>
                      <a:gd name="adj2" fmla="val 0"/>
                    </a:avLst>
                  </a:prstGeom>
                  <a:solidFill>
                    <a:srgbClr val="DEDCDA"/>
                  </a:solidFill>
                  <a:ln>
                    <a:solidFill>
                      <a:srgbClr val="DEDCDA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ko-KR" altLang="en-US" dirty="0">
                      <a:latin typeface="GyeonggiTitle Bold" panose="02020803020101020101" pitchFamily="18" charset="-127"/>
                      <a:ea typeface="GyeonggiTitle Bold" panose="02020803020101020101" pitchFamily="18" charset="-127"/>
                    </a:endParaRPr>
                  </a:p>
                </p:txBody>
              </p:sp>
              <p:sp>
                <p:nvSpPr>
                  <p:cNvPr id="68" name="대각선 방향의 모서리가 둥근 사각형 67">
                    <a:extLst>
                      <a:ext uri="{FF2B5EF4-FFF2-40B4-BE49-F238E27FC236}">
                        <a16:creationId xmlns:a16="http://schemas.microsoft.com/office/drawing/2014/main" id="{DEAE2315-8FAA-96BC-749A-6297EDCF216E}"/>
                      </a:ext>
                    </a:extLst>
                  </p:cNvPr>
                  <p:cNvSpPr/>
                  <p:nvPr/>
                </p:nvSpPr>
                <p:spPr>
                  <a:xfrm>
                    <a:off x="3907766" y="931653"/>
                    <a:ext cx="3191774" cy="687174"/>
                  </a:xfrm>
                  <a:prstGeom prst="round2DiagRect">
                    <a:avLst>
                      <a:gd name="adj1" fmla="val 48374"/>
                      <a:gd name="adj2" fmla="val 0"/>
                    </a:avLst>
                  </a:prstGeom>
                  <a:solidFill>
                    <a:srgbClr val="393833"/>
                  </a:solidFill>
                  <a:ln>
                    <a:solidFill>
                      <a:srgbClr val="DFDCDA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kumimoji="1" lang="ko-KR" altLang="en-US" b="1" dirty="0">
                        <a:latin typeface="GyeonggiTitle Bold" panose="02020803020101020101" pitchFamily="18" charset="-127"/>
                        <a:ea typeface="GyeonggiTitle Bold" panose="02020803020101020101" pitchFamily="18" charset="-127"/>
                      </a:rPr>
                      <a:t>비대칭적 </a:t>
                    </a:r>
                    <a:r>
                      <a:rPr kumimoji="1" lang="ko-KR" altLang="en-US" b="1" dirty="0" err="1">
                        <a:latin typeface="GyeonggiTitle Bold" panose="02020803020101020101" pitchFamily="18" charset="-127"/>
                        <a:ea typeface="GyeonggiTitle Bold" panose="02020803020101020101" pitchFamily="18" charset="-127"/>
                      </a:rPr>
                      <a:t>양강</a:t>
                    </a:r>
                    <a:r>
                      <a:rPr kumimoji="1" lang="ko-KR" altLang="en-US" b="1" dirty="0">
                        <a:latin typeface="GyeonggiTitle Bold" panose="02020803020101020101" pitchFamily="18" charset="-127"/>
                        <a:ea typeface="GyeonggiTitle Bold" panose="02020803020101020101" pitchFamily="18" charset="-127"/>
                      </a:rPr>
                      <a:t> 구도</a:t>
                    </a:r>
                  </a:p>
                </p:txBody>
              </p:sp>
            </p:grpSp>
            <p:sp>
              <p:nvSpPr>
                <p:cNvPr id="63" name="TextBox 62">
                  <a:extLst>
                    <a:ext uri="{FF2B5EF4-FFF2-40B4-BE49-F238E27FC236}">
                      <a16:creationId xmlns:a16="http://schemas.microsoft.com/office/drawing/2014/main" id="{74B511A0-B137-922B-A3C5-CB8DCECE24C2}"/>
                    </a:ext>
                  </a:extLst>
                </p:cNvPr>
                <p:cNvSpPr txBox="1"/>
                <p:nvPr/>
              </p:nvSpPr>
              <p:spPr>
                <a:xfrm>
                  <a:off x="3978823" y="1906969"/>
                  <a:ext cx="3095660" cy="305756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lvl="0" eaLnBrk="0" fontAlgn="base" latinLnBrk="0" hangingPunct="0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ko-KR" altLang="en-US" sz="1600" dirty="0">
                      <a:latin typeface="GyeonggiTitleOTF Light" panose="02020403020101020101" pitchFamily="18" charset="-127"/>
                      <a:ea typeface="GyeonggiTitleOTF Light" panose="02020403020101020101" pitchFamily="18" charset="-127"/>
                    </a:rPr>
                    <a:t>현재 </a:t>
                  </a:r>
                  <a:r>
                    <a:rPr lang="en-US" altLang="ko-KR" sz="1600" dirty="0">
                      <a:latin typeface="GyeonggiTitleOTF Light" panose="02020403020101020101" pitchFamily="18" charset="-127"/>
                      <a:ea typeface="GyeonggiTitleOTF Light" panose="02020403020101020101" pitchFamily="18" charset="-127"/>
                    </a:rPr>
                    <a:t>PvP </a:t>
                  </a:r>
                  <a:r>
                    <a:rPr lang="ko-KR" altLang="en-US" sz="1600" dirty="0">
                      <a:latin typeface="GyeonggiTitleOTF Light" panose="02020403020101020101" pitchFamily="18" charset="-127"/>
                      <a:ea typeface="GyeonggiTitleOTF Light" panose="02020403020101020101" pitchFamily="18" charset="-127"/>
                    </a:rPr>
                    <a:t>메타는 </a:t>
                  </a:r>
                  <a:r>
                    <a:rPr lang="ko-KR" altLang="en-US" sz="1600" b="1" dirty="0">
                      <a:latin typeface="GyeonggiTitleOTF Light" panose="02020403020101020101" pitchFamily="18" charset="-127"/>
                      <a:ea typeface="GyeonggiTitleOTF Light" panose="02020403020101020101" pitchFamily="18" charset="-127"/>
                    </a:rPr>
                    <a:t>카일</a:t>
                  </a:r>
                  <a:r>
                    <a:rPr lang="ko-KR" altLang="en-US" sz="1600" dirty="0">
                      <a:latin typeface="GyeonggiTitleOTF Light" panose="02020403020101020101" pitchFamily="18" charset="-127"/>
                      <a:ea typeface="GyeonggiTitleOTF Light" panose="02020403020101020101" pitchFamily="18" charset="-127"/>
                    </a:rPr>
                    <a:t>과 </a:t>
                  </a:r>
                  <a:r>
                    <a:rPr lang="ko-KR" altLang="en-US" sz="1600" b="1" dirty="0">
                      <a:latin typeface="GyeonggiTitleOTF Light" panose="02020403020101020101" pitchFamily="18" charset="-127"/>
                      <a:ea typeface="GyeonggiTitleOTF Light" panose="02020403020101020101" pitchFamily="18" charset="-127"/>
                    </a:rPr>
                    <a:t>플라튼</a:t>
                  </a:r>
                  <a:r>
                    <a:rPr lang="ko-KR" altLang="en-US" sz="1600" dirty="0">
                      <a:latin typeface="GyeonggiTitleOTF Light" panose="02020403020101020101" pitchFamily="18" charset="-127"/>
                      <a:ea typeface="GyeonggiTitleOTF Light" panose="02020403020101020101" pitchFamily="18" charset="-127"/>
                    </a:rPr>
                    <a:t>을 중심 마덱</a:t>
                  </a:r>
                  <a:r>
                    <a:rPr lang="en-US" altLang="ko-KR" sz="1600" dirty="0">
                      <a:latin typeface="GyeonggiTitleOTF Light" panose="02020403020101020101" pitchFamily="18" charset="-127"/>
                      <a:ea typeface="GyeonggiTitleOTF Light" panose="02020403020101020101" pitchFamily="18" charset="-127"/>
                    </a:rPr>
                    <a:t>,</a:t>
                  </a:r>
                  <a:r>
                    <a:rPr lang="ko-KR" altLang="en-US" sz="1600" dirty="0">
                      <a:latin typeface="GyeonggiTitleOTF Light" panose="02020403020101020101" pitchFamily="18" charset="-127"/>
                      <a:ea typeface="GyeonggiTitleOTF Light" panose="02020403020101020101" pitchFamily="18" charset="-127"/>
                    </a:rPr>
                    <a:t> </a:t>
                  </a:r>
                  <a:r>
                    <a:rPr lang="ko-KR" altLang="en-US" sz="1600" dirty="0" err="1">
                      <a:latin typeface="GyeonggiTitleOTF Light" panose="02020403020101020101" pitchFamily="18" charset="-127"/>
                      <a:ea typeface="GyeonggiTitleOTF Light" panose="02020403020101020101" pitchFamily="18" charset="-127"/>
                    </a:rPr>
                    <a:t>공덱으로</a:t>
                  </a:r>
                  <a:r>
                    <a:rPr lang="ko-KR" altLang="en-US" sz="1600" dirty="0">
                      <a:latin typeface="GyeonggiTitleOTF Light" panose="02020403020101020101" pitchFamily="18" charset="-127"/>
                      <a:ea typeface="GyeonggiTitleOTF Light" panose="02020403020101020101" pitchFamily="18" charset="-127"/>
                    </a:rPr>
                    <a:t> 나뉘어 있음</a:t>
                  </a:r>
                  <a:endParaRPr lang="en-US" altLang="ko-KR" sz="1600" dirty="0">
                    <a:latin typeface="GyeonggiTitleOTF Light" panose="02020403020101020101" pitchFamily="18" charset="-127"/>
                    <a:ea typeface="GyeonggiTitleOTF Light" panose="02020403020101020101" pitchFamily="18" charset="-127"/>
                  </a:endParaRPr>
                </a:p>
                <a:p>
                  <a:pPr lvl="0" eaLnBrk="0" fontAlgn="base" latinLnBrk="0" hangingPunct="0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altLang="ko-KR" sz="1600" dirty="0">
                    <a:latin typeface="GyeonggiTitleOTF Light" panose="02020403020101020101" pitchFamily="18" charset="-127"/>
                    <a:ea typeface="GyeonggiTitleOTF Light" panose="02020403020101020101" pitchFamily="18" charset="-127"/>
                  </a:endParaRPr>
                </a:p>
                <a:p>
                  <a:pPr lvl="0" eaLnBrk="0" fontAlgn="base" latinLnBrk="0" hangingPunct="0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altLang="ko-KR" sz="1600" dirty="0">
                    <a:latin typeface="GyeonggiTitleOTF Light" panose="02020403020101020101" pitchFamily="18" charset="-127"/>
                    <a:ea typeface="GyeonggiTitleOTF Light" panose="02020403020101020101" pitchFamily="18" charset="-127"/>
                  </a:endParaRPr>
                </a:p>
                <a:p>
                  <a:pPr lvl="0" eaLnBrk="0" fontAlgn="base" latinLnBrk="0" hangingPunct="0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altLang="ko-KR" sz="1600" dirty="0">
                    <a:latin typeface="GyeonggiTitleOTF Light" panose="02020403020101020101" pitchFamily="18" charset="-127"/>
                    <a:ea typeface="GyeonggiTitleOTF Light" panose="02020403020101020101" pitchFamily="18" charset="-127"/>
                  </a:endParaRPr>
                </a:p>
                <a:p>
                  <a:pPr lvl="0" eaLnBrk="0" fontAlgn="base" latinLnBrk="0" hangingPunct="0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altLang="ko-KR" sz="1600" dirty="0">
                    <a:latin typeface="GyeonggiTitleOTF Light" panose="02020403020101020101" pitchFamily="18" charset="-127"/>
                    <a:ea typeface="GyeonggiTitleOTF Light" panose="02020403020101020101" pitchFamily="18" charset="-127"/>
                  </a:endParaRPr>
                </a:p>
                <a:p>
                  <a:pPr lvl="0" eaLnBrk="0" fontAlgn="base" latinLnBrk="0" hangingPunct="0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ko-KR" altLang="en-US" sz="1600" dirty="0">
                      <a:latin typeface="GyeonggiTitleOTF Light" panose="02020403020101020101" pitchFamily="18" charset="-127"/>
                      <a:ea typeface="GyeonggiTitleOTF Light" panose="02020403020101020101" pitchFamily="18" charset="-127"/>
                    </a:rPr>
                    <a:t>최상위 </a:t>
                  </a:r>
                  <a:r>
                    <a:rPr lang="en-US" altLang="ko-KR" sz="1600" dirty="0">
                      <a:latin typeface="GyeonggiTitleOTF Light" panose="02020403020101020101" pitchFamily="18" charset="-127"/>
                      <a:ea typeface="GyeonggiTitleOTF Light" panose="02020403020101020101" pitchFamily="18" charset="-127"/>
                    </a:rPr>
                    <a:t>50</a:t>
                  </a:r>
                  <a:r>
                    <a:rPr lang="ko-KR" altLang="en-US" sz="1600" dirty="0">
                      <a:latin typeface="GyeonggiTitleOTF Light" panose="02020403020101020101" pitchFamily="18" charset="-127"/>
                      <a:ea typeface="GyeonggiTitleOTF Light" panose="02020403020101020101" pitchFamily="18" charset="-127"/>
                    </a:rPr>
                    <a:t>명 유저들의 </a:t>
                  </a:r>
                  <a:r>
                    <a:rPr lang="ko-KR" altLang="en-US" sz="1600" dirty="0" err="1">
                      <a:latin typeface="GyeonggiTitleOTF Light" panose="02020403020101020101" pitchFamily="18" charset="-127"/>
                      <a:ea typeface="GyeonggiTitleOTF Light" panose="02020403020101020101" pitchFamily="18" charset="-127"/>
                    </a:rPr>
                    <a:t>덱분포에서</a:t>
                  </a:r>
                  <a:r>
                    <a:rPr lang="ko-KR" altLang="en-US" sz="1600" dirty="0">
                      <a:latin typeface="GyeonggiTitleOTF Light" panose="02020403020101020101" pitchFamily="18" charset="-127"/>
                      <a:ea typeface="GyeonggiTitleOTF Light" panose="02020403020101020101" pitchFamily="18" charset="-127"/>
                    </a:rPr>
                    <a:t> 명확히 드러나는 </a:t>
                  </a:r>
                  <a:r>
                    <a:rPr lang="ko-KR" altLang="en-US" sz="1600" b="1" dirty="0">
                      <a:latin typeface="GyeonggiTitleOTF Light" panose="02020403020101020101" pitchFamily="18" charset="-127"/>
                      <a:ea typeface="GyeonggiTitleOTF Light" panose="02020403020101020101" pitchFamily="18" charset="-127"/>
                    </a:rPr>
                    <a:t>극단적인 비대칭적 고착화 현상</a:t>
                  </a:r>
                  <a:endParaRPr lang="en-US" altLang="ko-KR" sz="1600" b="1" dirty="0">
                    <a:latin typeface="GyeonggiTitleOTF Light" panose="02020403020101020101" pitchFamily="18" charset="-127"/>
                    <a:ea typeface="GyeonggiTitleOTF Light" panose="02020403020101020101" pitchFamily="18" charset="-127"/>
                  </a:endParaRPr>
                </a:p>
              </p:txBody>
            </p:sp>
          </p:grpSp>
          <p:grpSp>
            <p:nvGrpSpPr>
              <p:cNvPr id="54" name="그룹 53">
                <a:extLst>
                  <a:ext uri="{FF2B5EF4-FFF2-40B4-BE49-F238E27FC236}">
                    <a16:creationId xmlns:a16="http://schemas.microsoft.com/office/drawing/2014/main" id="{C96403C5-85AC-9784-2F81-27394CAF9800}"/>
                  </a:ext>
                </a:extLst>
              </p:cNvPr>
              <p:cNvGrpSpPr/>
              <p:nvPr/>
            </p:nvGrpSpPr>
            <p:grpSpPr>
              <a:xfrm>
                <a:off x="4460199" y="1708925"/>
                <a:ext cx="3191777" cy="4430274"/>
                <a:chOff x="2904206" y="1707509"/>
                <a:chExt cx="3191777" cy="4430274"/>
              </a:xfrm>
              <a:effectLst>
                <a:outerShdw blurRad="50800" dist="127000" dir="2700000" algn="ctr" rotWithShape="0">
                  <a:srgbClr val="000000">
                    <a:alpha val="50000"/>
                  </a:srgbClr>
                </a:outerShdw>
              </a:effectLst>
            </p:grpSpPr>
            <p:grpSp>
              <p:nvGrpSpPr>
                <p:cNvPr id="55" name="그룹 54">
                  <a:extLst>
                    <a:ext uri="{FF2B5EF4-FFF2-40B4-BE49-F238E27FC236}">
                      <a16:creationId xmlns:a16="http://schemas.microsoft.com/office/drawing/2014/main" id="{37E636E9-DDD1-B3AE-8947-D077D301ABBE}"/>
                    </a:ext>
                  </a:extLst>
                </p:cNvPr>
                <p:cNvGrpSpPr/>
                <p:nvPr/>
              </p:nvGrpSpPr>
              <p:grpSpPr>
                <a:xfrm>
                  <a:off x="2904209" y="1707509"/>
                  <a:ext cx="3191774" cy="4430274"/>
                  <a:chOff x="3907766" y="931653"/>
                  <a:chExt cx="3191774" cy="4994694"/>
                </a:xfrm>
              </p:grpSpPr>
              <p:sp>
                <p:nvSpPr>
                  <p:cNvPr id="59" name="대각선 방향의 모서리가 둥근 사각형 58">
                    <a:extLst>
                      <a:ext uri="{FF2B5EF4-FFF2-40B4-BE49-F238E27FC236}">
                        <a16:creationId xmlns:a16="http://schemas.microsoft.com/office/drawing/2014/main" id="{77D72502-8689-1129-0466-EE691DE69486}"/>
                      </a:ext>
                    </a:extLst>
                  </p:cNvPr>
                  <p:cNvSpPr/>
                  <p:nvPr/>
                </p:nvSpPr>
                <p:spPr>
                  <a:xfrm>
                    <a:off x="3907766" y="931653"/>
                    <a:ext cx="3191774" cy="4994694"/>
                  </a:xfrm>
                  <a:prstGeom prst="round2DiagRect">
                    <a:avLst>
                      <a:gd name="adj1" fmla="val 10451"/>
                      <a:gd name="adj2" fmla="val 0"/>
                    </a:avLst>
                  </a:prstGeom>
                  <a:solidFill>
                    <a:srgbClr val="DEDCDA"/>
                  </a:solidFill>
                  <a:ln>
                    <a:solidFill>
                      <a:srgbClr val="DEDCDA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ko-KR" altLang="en-US">
                      <a:latin typeface="GyeonggiTitle Bold" panose="02020803020101020101" pitchFamily="18" charset="-127"/>
                      <a:ea typeface="GyeonggiTitle Bold" panose="02020803020101020101" pitchFamily="18" charset="-127"/>
                    </a:endParaRPr>
                  </a:p>
                </p:txBody>
              </p:sp>
              <p:sp>
                <p:nvSpPr>
                  <p:cNvPr id="61" name="대각선 방향의 모서리가 둥근 사각형 60">
                    <a:extLst>
                      <a:ext uri="{FF2B5EF4-FFF2-40B4-BE49-F238E27FC236}">
                        <a16:creationId xmlns:a16="http://schemas.microsoft.com/office/drawing/2014/main" id="{BF5DB0F7-1251-E356-4408-F2923E47438A}"/>
                      </a:ext>
                    </a:extLst>
                  </p:cNvPr>
                  <p:cNvSpPr/>
                  <p:nvPr/>
                </p:nvSpPr>
                <p:spPr>
                  <a:xfrm>
                    <a:off x="3907766" y="931653"/>
                    <a:ext cx="3191774" cy="687174"/>
                  </a:xfrm>
                  <a:prstGeom prst="round2DiagRect">
                    <a:avLst>
                      <a:gd name="adj1" fmla="val 48374"/>
                      <a:gd name="adj2" fmla="val 0"/>
                    </a:avLst>
                  </a:prstGeom>
                  <a:solidFill>
                    <a:srgbClr val="393833"/>
                  </a:solidFill>
                  <a:ln>
                    <a:solidFill>
                      <a:srgbClr val="DFDCDA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ko-KR" altLang="en-US" b="1" dirty="0">
                        <a:latin typeface="GyeonggiTitle Bold" panose="02020803020101020101" pitchFamily="18" charset="-127"/>
                        <a:ea typeface="GyeonggiTitle Bold" panose="02020803020101020101" pitchFamily="18" charset="-127"/>
                      </a:rPr>
                      <a:t>조합의 다양성 부재</a:t>
                    </a:r>
                    <a:endParaRPr lang="en-US" altLang="ko-KR" dirty="0">
                      <a:solidFill>
                        <a:schemeClr val="bg1"/>
                      </a:solidFill>
                      <a:latin typeface="GyeonggiTitle Bold" panose="02020803020101020101" pitchFamily="18" charset="-127"/>
                      <a:ea typeface="GyeonggiTitle Bold" panose="02020803020101020101" pitchFamily="18" charset="-127"/>
                    </a:endParaRPr>
                  </a:p>
                </p:txBody>
              </p:sp>
            </p:grpSp>
            <p:sp>
              <p:nvSpPr>
                <p:cNvPr id="58" name="TextBox 57">
                  <a:extLst>
                    <a:ext uri="{FF2B5EF4-FFF2-40B4-BE49-F238E27FC236}">
                      <a16:creationId xmlns:a16="http://schemas.microsoft.com/office/drawing/2014/main" id="{B7C5BE3F-355F-239B-463D-F579EE164FC9}"/>
                    </a:ext>
                  </a:extLst>
                </p:cNvPr>
                <p:cNvSpPr txBox="1"/>
                <p:nvPr/>
              </p:nvSpPr>
              <p:spPr>
                <a:xfrm>
                  <a:off x="2904206" y="2591183"/>
                  <a:ext cx="3090117" cy="213347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kumimoji="1" lang="ko-KR" altLang="en-US" sz="1600" dirty="0">
                      <a:latin typeface="GyeonggiTitleOTF Light" panose="02020403020101020101" pitchFamily="18" charset="-127"/>
                      <a:ea typeface="GyeonggiTitleOTF Light" panose="02020403020101020101" pitchFamily="18" charset="-127"/>
                    </a:rPr>
                    <a:t>카일과 플라튼 중심의 유사 조합만을 사용하여 조합의 다양성이 극도로 제한됨</a:t>
                  </a:r>
                  <a:r>
                    <a:rPr kumimoji="1" lang="en-US" altLang="ko-KR" sz="1600" dirty="0">
                      <a:latin typeface="GyeonggiTitleOTF Light" panose="02020403020101020101" pitchFamily="18" charset="-127"/>
                      <a:ea typeface="GyeonggiTitleOTF Light" panose="02020403020101020101" pitchFamily="18" charset="-127"/>
                    </a:rPr>
                    <a:t>.</a:t>
                  </a:r>
                  <a:br>
                    <a:rPr kumimoji="1" lang="en-US" altLang="ko-KR" sz="1600" dirty="0">
                      <a:latin typeface="GyeonggiTitleOTF Light" panose="02020403020101020101" pitchFamily="18" charset="-127"/>
                      <a:ea typeface="GyeonggiTitleOTF Light" panose="02020403020101020101" pitchFamily="18" charset="-127"/>
                    </a:rPr>
                  </a:br>
                  <a:endParaRPr kumimoji="1" lang="en-US" altLang="ko-KR" sz="1600" dirty="0">
                    <a:latin typeface="GyeonggiTitleOTF Light" panose="02020403020101020101" pitchFamily="18" charset="-127"/>
                    <a:ea typeface="GyeonggiTitleOTF Light" panose="02020403020101020101" pitchFamily="18" charset="-127"/>
                  </a:endParaRPr>
                </a:p>
                <a:p>
                  <a:br>
                    <a:rPr kumimoji="1" lang="en-US" altLang="ko-KR" sz="1600" dirty="0">
                      <a:latin typeface="GyeonggiTitleOTF Light" panose="02020403020101020101" pitchFamily="18" charset="-127"/>
                      <a:ea typeface="GyeonggiTitleOTF Light" panose="02020403020101020101" pitchFamily="18" charset="-127"/>
                    </a:rPr>
                  </a:br>
                  <a:br>
                    <a:rPr kumimoji="1" lang="en-US" altLang="ko-KR" sz="1600" dirty="0">
                      <a:latin typeface="GyeonggiTitleOTF Light" panose="02020403020101020101" pitchFamily="18" charset="-127"/>
                      <a:ea typeface="GyeonggiTitleOTF Light" panose="02020403020101020101" pitchFamily="18" charset="-127"/>
                    </a:rPr>
                  </a:br>
                  <a:r>
                    <a:rPr kumimoji="1" lang="en-US" altLang="ko-KR" sz="1600" dirty="0">
                      <a:latin typeface="GyeonggiTitleOTF Light" panose="02020403020101020101" pitchFamily="18" charset="-127"/>
                      <a:ea typeface="GyeonggiTitleOTF Light" panose="02020403020101020101" pitchFamily="18" charset="-127"/>
                    </a:rPr>
                    <a:t>=&gt;</a:t>
                  </a:r>
                  <a:r>
                    <a:rPr kumimoji="1" lang="ko-KR" altLang="en-US" sz="1600" dirty="0">
                      <a:latin typeface="GyeonggiTitleOTF Light" panose="02020403020101020101" pitchFamily="18" charset="-127"/>
                      <a:ea typeface="GyeonggiTitleOTF Light" panose="02020403020101020101" pitchFamily="18" charset="-127"/>
                    </a:rPr>
                    <a:t> 다른 영웅의 육성 동기부여 저하</a:t>
                  </a:r>
                  <a:endParaRPr kumimoji="1" lang="en-US" altLang="ko-KR" sz="1600" dirty="0">
                    <a:latin typeface="GyeonggiTitleOTF Light" panose="02020403020101020101" pitchFamily="18" charset="-127"/>
                    <a:ea typeface="GyeonggiTitleOTF Light" panose="02020403020101020101" pitchFamily="18" charset="-127"/>
                  </a:endParaRPr>
                </a:p>
              </p:txBody>
            </p:sp>
          </p:grpSp>
        </p:grpSp>
        <p:grpSp>
          <p:nvGrpSpPr>
            <p:cNvPr id="44" name="그룹 43">
              <a:extLst>
                <a:ext uri="{FF2B5EF4-FFF2-40B4-BE49-F238E27FC236}">
                  <a16:creationId xmlns:a16="http://schemas.microsoft.com/office/drawing/2014/main" id="{736E22F3-EF00-4B22-8519-F47B1165093A}"/>
                </a:ext>
              </a:extLst>
            </p:cNvPr>
            <p:cNvGrpSpPr/>
            <p:nvPr/>
          </p:nvGrpSpPr>
          <p:grpSpPr>
            <a:xfrm>
              <a:off x="7978692" y="1707407"/>
              <a:ext cx="3191774" cy="4430274"/>
              <a:chOff x="2904209" y="1707509"/>
              <a:chExt cx="3191774" cy="4430274"/>
            </a:xfrm>
            <a:effectLst>
              <a:outerShdw blurRad="50800" dist="127000" dir="2700000" algn="ctr" rotWithShape="0">
                <a:srgbClr val="000000">
                  <a:alpha val="50000"/>
                </a:srgbClr>
              </a:outerShdw>
            </a:effectLst>
          </p:grpSpPr>
          <p:grpSp>
            <p:nvGrpSpPr>
              <p:cNvPr id="45" name="그룹 44">
                <a:extLst>
                  <a:ext uri="{FF2B5EF4-FFF2-40B4-BE49-F238E27FC236}">
                    <a16:creationId xmlns:a16="http://schemas.microsoft.com/office/drawing/2014/main" id="{999C4311-F3C1-CDF1-5A59-A7F6141AD906}"/>
                  </a:ext>
                </a:extLst>
              </p:cNvPr>
              <p:cNvGrpSpPr/>
              <p:nvPr/>
            </p:nvGrpSpPr>
            <p:grpSpPr>
              <a:xfrm>
                <a:off x="2904209" y="1707509"/>
                <a:ext cx="3191774" cy="4430274"/>
                <a:chOff x="3907766" y="931653"/>
                <a:chExt cx="3191774" cy="4994694"/>
              </a:xfrm>
            </p:grpSpPr>
            <p:sp>
              <p:nvSpPr>
                <p:cNvPr id="49" name="대각선 방향의 모서리가 둥근 사각형 48">
                  <a:extLst>
                    <a:ext uri="{FF2B5EF4-FFF2-40B4-BE49-F238E27FC236}">
                      <a16:creationId xmlns:a16="http://schemas.microsoft.com/office/drawing/2014/main" id="{97E3D75C-4C05-6B3E-899D-81DCD58A3A0D}"/>
                    </a:ext>
                  </a:extLst>
                </p:cNvPr>
                <p:cNvSpPr/>
                <p:nvPr/>
              </p:nvSpPr>
              <p:spPr>
                <a:xfrm>
                  <a:off x="3907766" y="931653"/>
                  <a:ext cx="3191774" cy="4994694"/>
                </a:xfrm>
                <a:prstGeom prst="round2DiagRect">
                  <a:avLst>
                    <a:gd name="adj1" fmla="val 10451"/>
                    <a:gd name="adj2" fmla="val 0"/>
                  </a:avLst>
                </a:prstGeom>
                <a:solidFill>
                  <a:srgbClr val="DEDCDA"/>
                </a:solidFill>
                <a:ln>
                  <a:solidFill>
                    <a:srgbClr val="DEDCDA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ko-KR" altLang="en-US">
                    <a:latin typeface="GyeonggiTitle Bold" panose="02020803020101020101" pitchFamily="18" charset="-127"/>
                    <a:ea typeface="GyeonggiTitle Bold" panose="02020803020101020101" pitchFamily="18" charset="-127"/>
                  </a:endParaRPr>
                </a:p>
              </p:txBody>
            </p:sp>
            <p:sp>
              <p:nvSpPr>
                <p:cNvPr id="51" name="대각선 방향의 모서리가 둥근 사각형 50">
                  <a:extLst>
                    <a:ext uri="{FF2B5EF4-FFF2-40B4-BE49-F238E27FC236}">
                      <a16:creationId xmlns:a16="http://schemas.microsoft.com/office/drawing/2014/main" id="{FB3931A8-EBF6-8B1D-D59B-0587A9ED429C}"/>
                    </a:ext>
                  </a:extLst>
                </p:cNvPr>
                <p:cNvSpPr/>
                <p:nvPr/>
              </p:nvSpPr>
              <p:spPr>
                <a:xfrm>
                  <a:off x="3907766" y="931653"/>
                  <a:ext cx="3191774" cy="687174"/>
                </a:xfrm>
                <a:prstGeom prst="round2DiagRect">
                  <a:avLst>
                    <a:gd name="adj1" fmla="val 48374"/>
                    <a:gd name="adj2" fmla="val 0"/>
                  </a:avLst>
                </a:prstGeom>
                <a:solidFill>
                  <a:srgbClr val="393833"/>
                </a:solidFill>
                <a:ln>
                  <a:solidFill>
                    <a:srgbClr val="DFDCDA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kumimoji="1" lang="ko-KR" altLang="en-US" b="1" dirty="0">
                      <a:latin typeface="GyeonggiTitle Bold" panose="02020803020101020101" pitchFamily="18" charset="-127"/>
                      <a:ea typeface="GyeonggiTitle Bold" panose="02020803020101020101" pitchFamily="18" charset="-127"/>
                    </a:rPr>
                    <a:t>밸런스 패치의 어려움</a:t>
                  </a:r>
                </a:p>
              </p:txBody>
            </p:sp>
          </p:grpSp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A96C5A80-54F8-1F0D-2991-3C411D34312B}"/>
                  </a:ext>
                </a:extLst>
              </p:cNvPr>
              <p:cNvSpPr txBox="1"/>
              <p:nvPr/>
            </p:nvSpPr>
            <p:spPr>
              <a:xfrm>
                <a:off x="2904209" y="2591183"/>
                <a:ext cx="3069266" cy="27120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0" eaLnBrk="0" fontAlgn="base" latinLnBrk="0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ko-KR" altLang="en-US" sz="1600" dirty="0">
                    <a:latin typeface="GyeonggiTitleOTF Light" panose="02020403020101020101" pitchFamily="18" charset="-127"/>
                    <a:ea typeface="GyeonggiTitleOTF Light" panose="02020403020101020101" pitchFamily="18" charset="-127"/>
                  </a:rPr>
                  <a:t> 두 영웅의 성능이 뛰어나기 때문에 밸런스 패치나 신규 영웅을 통해 성능을 조정하는 것이 어려움</a:t>
                </a:r>
                <a:r>
                  <a:rPr lang="en-US" altLang="ko-KR" sz="1600" dirty="0">
                    <a:latin typeface="GyeonggiTitleOTF Light" panose="02020403020101020101" pitchFamily="18" charset="-127"/>
                    <a:ea typeface="GyeonggiTitleOTF Light" panose="02020403020101020101" pitchFamily="18" charset="-127"/>
                  </a:rPr>
                  <a:t>.</a:t>
                </a:r>
                <a:br>
                  <a:rPr lang="en-US" altLang="ko-KR" sz="1600" dirty="0">
                    <a:latin typeface="GyeonggiTitleOTF Light" panose="02020403020101020101" pitchFamily="18" charset="-127"/>
                    <a:ea typeface="GyeonggiTitleOTF Light" panose="02020403020101020101" pitchFamily="18" charset="-127"/>
                  </a:rPr>
                </a:br>
                <a:endParaRPr lang="en-US" altLang="ko-KR" sz="1600" dirty="0">
                  <a:latin typeface="GyeonggiTitleOTF Light" panose="02020403020101020101" pitchFamily="18" charset="-127"/>
                  <a:ea typeface="GyeonggiTitleOTF Light" panose="02020403020101020101" pitchFamily="18" charset="-127"/>
                </a:endParaRPr>
              </a:p>
              <a:p>
                <a:pPr lvl="0" eaLnBrk="0" fontAlgn="base" latinLnBrk="0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altLang="ko-KR" sz="1600" dirty="0">
                  <a:latin typeface="GyeonggiTitleOTF Light" panose="02020403020101020101" pitchFamily="18" charset="-127"/>
                  <a:ea typeface="GyeonggiTitleOTF Light" panose="02020403020101020101" pitchFamily="18" charset="-127"/>
                </a:endParaRPr>
              </a:p>
              <a:p>
                <a:pPr lvl="0" eaLnBrk="0" fontAlgn="base" latinLnBrk="0" hangingPunct="0">
                  <a:spcBef>
                    <a:spcPct val="0"/>
                  </a:spcBef>
                  <a:spcAft>
                    <a:spcPct val="0"/>
                  </a:spcAft>
                </a:pPr>
                <a:br>
                  <a:rPr lang="en-US" altLang="ko-KR" sz="1600" dirty="0">
                    <a:latin typeface="GyeonggiTitleOTF Light" panose="02020403020101020101" pitchFamily="18" charset="-127"/>
                    <a:ea typeface="GyeonggiTitleOTF Light" panose="02020403020101020101" pitchFamily="18" charset="-127"/>
                  </a:rPr>
                </a:br>
                <a:r>
                  <a:rPr lang="ko-KR" altLang="en-US" sz="1600" dirty="0">
                    <a:latin typeface="GyeonggiTitleOTF Light" panose="02020403020101020101" pitchFamily="18" charset="-127"/>
                    <a:ea typeface="GyeonggiTitleOTF Light" panose="02020403020101020101" pitchFamily="18" charset="-127"/>
                  </a:rPr>
                  <a:t>신규 영웅을 통한 패치는 파워 인플레이션</a:t>
                </a:r>
                <a:r>
                  <a:rPr lang="en-US" altLang="ko-KR" sz="1600" dirty="0">
                    <a:latin typeface="GyeonggiTitleOTF Light" panose="02020403020101020101" pitchFamily="18" charset="-127"/>
                    <a:ea typeface="GyeonggiTitleOTF Light" panose="02020403020101020101" pitchFamily="18" charset="-127"/>
                  </a:rPr>
                  <a:t> ,</a:t>
                </a:r>
                <a:r>
                  <a:rPr lang="ko-KR" altLang="en-US" sz="1600" dirty="0">
                    <a:latin typeface="GyeonggiTitleOTF Light" panose="02020403020101020101" pitchFamily="18" charset="-127"/>
                    <a:ea typeface="GyeonggiTitleOTF Light" panose="02020403020101020101" pitchFamily="18" charset="-127"/>
                  </a:rPr>
                  <a:t> </a:t>
                </a:r>
                <a:r>
                  <a:rPr lang="ko-KR" altLang="en-US" sz="1600" dirty="0" err="1">
                    <a:latin typeface="GyeonggiTitleOTF Light" panose="02020403020101020101" pitchFamily="18" charset="-127"/>
                    <a:ea typeface="GyeonggiTitleOTF Light" panose="02020403020101020101" pitchFamily="18" charset="-127"/>
                  </a:rPr>
                  <a:t>너프를</a:t>
                </a:r>
                <a:r>
                  <a:rPr lang="ko-KR" altLang="en-US" sz="1600" dirty="0">
                    <a:latin typeface="GyeonggiTitleOTF Light" panose="02020403020101020101" pitchFamily="18" charset="-127"/>
                    <a:ea typeface="GyeonggiTitleOTF Light" panose="02020403020101020101" pitchFamily="18" charset="-127"/>
                  </a:rPr>
                  <a:t> 통한 패치는 과금 유저들의 반감으로 인한 어려움</a:t>
                </a:r>
                <a:r>
                  <a:rPr lang="en-US" altLang="ko-KR" sz="1600" dirty="0">
                    <a:latin typeface="GyeonggiTitleOTF Light" panose="02020403020101020101" pitchFamily="18" charset="-127"/>
                    <a:ea typeface="GyeonggiTitleOTF Light" panose="02020403020101020101" pitchFamily="18" charset="-127"/>
                  </a:rPr>
                  <a:t>.</a:t>
                </a:r>
              </a:p>
            </p:txBody>
          </p:sp>
        </p:grp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449EC544-16D3-5BB8-EAF5-082888CBBFDC}"/>
              </a:ext>
            </a:extLst>
          </p:cNvPr>
          <p:cNvSpPr txBox="1"/>
          <p:nvPr/>
        </p:nvSpPr>
        <p:spPr>
          <a:xfrm>
            <a:off x="5848109" y="6412606"/>
            <a:ext cx="55328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ko-KR" sz="1000" dirty="0">
                <a:latin typeface="GyeonggiTitle Bold" panose="02020803020101020101" pitchFamily="18" charset="-127"/>
                <a:ea typeface="GyeonggiTitle Bold" panose="02020803020101020101" pitchFamily="18" charset="-127"/>
              </a:rPr>
              <a:t>- 15 - </a:t>
            </a:r>
            <a:endParaRPr kumimoji="1" lang="ko-KR" altLang="en-US" sz="1000" dirty="0">
              <a:latin typeface="GyeonggiTitle Bold" panose="02020803020101020101" pitchFamily="18" charset="-127"/>
              <a:ea typeface="GyeonggiTitle Bold" panose="02020803020101020101" pitchFamily="18" charset="-127"/>
            </a:endParaRPr>
          </a:p>
        </p:txBody>
      </p:sp>
      <p:pic>
        <p:nvPicPr>
          <p:cNvPr id="9" name="그림 8" descr="가상의 캐릭터, 만화 영화, 스케치, 소설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03D9A67-2005-9DDD-78E4-052BF24C679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0215" y="5496805"/>
            <a:ext cx="1035595" cy="1225364"/>
          </a:xfrm>
          <a:prstGeom prst="rect">
            <a:avLst/>
          </a:prstGeom>
        </p:spPr>
      </p:pic>
      <p:pic>
        <p:nvPicPr>
          <p:cNvPr id="4" name="그림 3" descr="블랙, 어둠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77EB324-539D-D5E2-2E81-EFFC1CFB4C77}"/>
              </a:ext>
            </a:extLst>
          </p:cNvPr>
          <p:cNvPicPr>
            <a:picLocks noChangeAspect="1"/>
          </p:cNvPicPr>
          <p:nvPr/>
        </p:nvPicPr>
        <p:blipFill>
          <a:blip r:embed="rId4">
            <a:biLevel thresh="25000"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colorTemperature colorTemp="1500"/>
                    </a14:imgEffect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09632" y="1996216"/>
            <a:ext cx="271817" cy="271817"/>
          </a:xfrm>
          <a:prstGeom prst="rect">
            <a:avLst/>
          </a:prstGeom>
        </p:spPr>
      </p:pic>
      <p:pic>
        <p:nvPicPr>
          <p:cNvPr id="6" name="그림 5" descr="상징, 패턴, 그래픽, 레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7ACC1F5-E2C8-17F7-363F-8107F1830AFE}"/>
              </a:ext>
            </a:extLst>
          </p:cNvPr>
          <p:cNvPicPr>
            <a:picLocks noChangeAspect="1"/>
          </p:cNvPicPr>
          <p:nvPr/>
        </p:nvPicPr>
        <p:blipFill>
          <a:blip r:embed="rId6">
            <a:biLevel thresh="25000"/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colorTemperature colorTemp="1500"/>
                    </a14:imgEffect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7276" y="1977946"/>
            <a:ext cx="258083" cy="258083"/>
          </a:xfrm>
          <a:prstGeom prst="rect">
            <a:avLst/>
          </a:prstGeom>
        </p:spPr>
      </p:pic>
      <p:pic>
        <p:nvPicPr>
          <p:cNvPr id="8" name="그림 7" descr="블랙, 어둠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CC587E4-C2A8-6AB2-EA63-D87544065682}"/>
              </a:ext>
            </a:extLst>
          </p:cNvPr>
          <p:cNvPicPr>
            <a:picLocks noChangeAspect="1"/>
          </p:cNvPicPr>
          <p:nvPr/>
        </p:nvPicPr>
        <p:blipFill>
          <a:blip r:embed="rId8">
            <a:biLevel thresh="25000"/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colorTemperature colorTemp="1500"/>
                    </a14:imgEffect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8678" y="1983051"/>
            <a:ext cx="271818" cy="2718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529902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B616B2B-F16E-E4A5-AFD8-BC5171C246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extBox 32">
            <a:extLst>
              <a:ext uri="{FF2B5EF4-FFF2-40B4-BE49-F238E27FC236}">
                <a16:creationId xmlns:a16="http://schemas.microsoft.com/office/drawing/2014/main" id="{14EE0071-5E2F-E542-8BA6-3AF3F1F64C3B}"/>
              </a:ext>
            </a:extLst>
          </p:cNvPr>
          <p:cNvSpPr txBox="1"/>
          <p:nvPr/>
        </p:nvSpPr>
        <p:spPr>
          <a:xfrm>
            <a:off x="5848109" y="6412606"/>
            <a:ext cx="55328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ko-KR" sz="1000" dirty="0">
                <a:latin typeface="GyeonggiTitle Bold" panose="02020803020101020101" pitchFamily="18" charset="-127"/>
                <a:ea typeface="GyeonggiTitle Bold" panose="02020803020101020101" pitchFamily="18" charset="-127"/>
              </a:rPr>
              <a:t>- 16 - </a:t>
            </a:r>
            <a:endParaRPr kumimoji="1" lang="ko-KR" altLang="en-US" sz="1000" dirty="0">
              <a:latin typeface="GyeonggiTitle Bold" panose="02020803020101020101" pitchFamily="18" charset="-127"/>
              <a:ea typeface="GyeonggiTitle Bold" panose="02020803020101020101" pitchFamily="18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6F1FDB-02F8-20E4-9500-43040C1FD087}"/>
              </a:ext>
            </a:extLst>
          </p:cNvPr>
          <p:cNvSpPr txBox="1"/>
          <p:nvPr/>
        </p:nvSpPr>
        <p:spPr>
          <a:xfrm>
            <a:off x="1072526" y="586716"/>
            <a:ext cx="7646931" cy="9079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500" dirty="0">
                <a:latin typeface="경기천년제목VOTF Bold" panose="02020803020101020101" pitchFamily="18" charset="-127"/>
                <a:ea typeface="경기천년제목VOTF Bold" panose="02020803020101020101" pitchFamily="18" charset="-127"/>
              </a:rPr>
              <a:t>메타 순환 모범사례</a:t>
            </a:r>
            <a:endParaRPr lang="en-US" altLang="ko-KR" sz="3500" dirty="0">
              <a:latin typeface="경기천년제목VOTF Bold" panose="02020803020101020101" pitchFamily="18" charset="-127"/>
              <a:ea typeface="경기천년제목VOTF Bold" panose="02020803020101020101" pitchFamily="18" charset="-127"/>
            </a:endParaRPr>
          </a:p>
          <a:p>
            <a:r>
              <a:rPr lang="ko-KR" altLang="en-US" dirty="0" err="1">
                <a:latin typeface="경기천년제목VOTF Bold" panose="02020803020101020101" pitchFamily="18" charset="-127"/>
                <a:ea typeface="경기천년제목VOTF Bold" panose="02020803020101020101" pitchFamily="18" charset="-127"/>
              </a:rPr>
              <a:t>블루아카이브와</a:t>
            </a:r>
            <a:r>
              <a:rPr lang="ko-KR" altLang="en-US" dirty="0">
                <a:latin typeface="경기천년제목VOTF Bold" panose="02020803020101020101" pitchFamily="18" charset="-127"/>
                <a:ea typeface="경기천년제목VOTF Bold" panose="02020803020101020101" pitchFamily="18" charset="-127"/>
              </a:rPr>
              <a:t> 에픽세븐</a:t>
            </a:r>
            <a:endParaRPr lang="en-US" altLang="ko-KR" dirty="0">
              <a:latin typeface="경기천년제목VOTF Bold" panose="02020803020101020101" pitchFamily="18" charset="-127"/>
              <a:ea typeface="경기천년제목VOTF Bold" panose="02020803020101020101" pitchFamily="18" charset="-127"/>
            </a:endParaRPr>
          </a:p>
        </p:txBody>
      </p:sp>
      <p:pic>
        <p:nvPicPr>
          <p:cNvPr id="1028" name="Picture 4" descr="에픽세븐 - 나무위키">
            <a:extLst>
              <a:ext uri="{FF2B5EF4-FFF2-40B4-BE49-F238E27FC236}">
                <a16:creationId xmlns:a16="http://schemas.microsoft.com/office/drawing/2014/main" id="{F496F3FB-42CD-58A4-C7A5-E5CCCB0CE2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37997" y="2022835"/>
            <a:ext cx="2511181" cy="17877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8D55CCF0-023A-225D-F8E7-6F2C569BFF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76552" y="2150012"/>
            <a:ext cx="3393864" cy="11798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6" name="그룹 35">
            <a:extLst>
              <a:ext uri="{FF2B5EF4-FFF2-40B4-BE49-F238E27FC236}">
                <a16:creationId xmlns:a16="http://schemas.microsoft.com/office/drawing/2014/main" id="{60917BA6-620E-6CF9-E469-9C8618BF61C8}"/>
              </a:ext>
            </a:extLst>
          </p:cNvPr>
          <p:cNvGrpSpPr/>
          <p:nvPr/>
        </p:nvGrpSpPr>
        <p:grpSpPr>
          <a:xfrm>
            <a:off x="1372296" y="4078705"/>
            <a:ext cx="10058202" cy="2192579"/>
            <a:chOff x="900000" y="3940820"/>
            <a:chExt cx="10541032" cy="2471785"/>
          </a:xfrm>
        </p:grpSpPr>
        <p:grpSp>
          <p:nvGrpSpPr>
            <p:cNvPr id="37" name="그룹 36">
              <a:extLst>
                <a:ext uri="{FF2B5EF4-FFF2-40B4-BE49-F238E27FC236}">
                  <a16:creationId xmlns:a16="http://schemas.microsoft.com/office/drawing/2014/main" id="{95AC639F-F1CF-F6F1-F021-B41889A67C0A}"/>
                </a:ext>
              </a:extLst>
            </p:cNvPr>
            <p:cNvGrpSpPr/>
            <p:nvPr/>
          </p:nvGrpSpPr>
          <p:grpSpPr>
            <a:xfrm>
              <a:off x="900000" y="3940820"/>
              <a:ext cx="10541032" cy="2471785"/>
              <a:chOff x="807688" y="1546884"/>
              <a:chExt cx="10541032" cy="4864076"/>
            </a:xfrm>
          </p:grpSpPr>
          <p:grpSp>
            <p:nvGrpSpPr>
              <p:cNvPr id="41" name="그룹 40">
                <a:extLst>
                  <a:ext uri="{FF2B5EF4-FFF2-40B4-BE49-F238E27FC236}">
                    <a16:creationId xmlns:a16="http://schemas.microsoft.com/office/drawing/2014/main" id="{0D7E0800-4F0F-B3CF-6C04-576ADF67D299}"/>
                  </a:ext>
                </a:extLst>
              </p:cNvPr>
              <p:cNvGrpSpPr/>
              <p:nvPr/>
            </p:nvGrpSpPr>
            <p:grpSpPr>
              <a:xfrm>
                <a:off x="807688" y="1546884"/>
                <a:ext cx="10541032" cy="4864076"/>
                <a:chOff x="807688" y="1546884"/>
                <a:chExt cx="10541032" cy="4864076"/>
              </a:xfrm>
            </p:grpSpPr>
            <p:sp>
              <p:nvSpPr>
                <p:cNvPr id="49" name="대각선 방향의 모서리가 둥근 사각형 48">
                  <a:extLst>
                    <a:ext uri="{FF2B5EF4-FFF2-40B4-BE49-F238E27FC236}">
                      <a16:creationId xmlns:a16="http://schemas.microsoft.com/office/drawing/2014/main" id="{837FB1BC-EFB9-6917-3BCD-FF96FD2273ED}"/>
                    </a:ext>
                  </a:extLst>
                </p:cNvPr>
                <p:cNvSpPr/>
                <p:nvPr/>
              </p:nvSpPr>
              <p:spPr>
                <a:xfrm>
                  <a:off x="807688" y="1546884"/>
                  <a:ext cx="10541032" cy="4864076"/>
                </a:xfrm>
                <a:prstGeom prst="round2DiagRect">
                  <a:avLst>
                    <a:gd name="adj1" fmla="val 8177"/>
                    <a:gd name="adj2" fmla="val 0"/>
                  </a:avLst>
                </a:prstGeom>
                <a:solidFill>
                  <a:srgbClr val="B4B4B3">
                    <a:alpha val="36515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lvl="0" eaLnBrk="0" fontAlgn="base" latinLnBrk="0" hangingPunct="0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altLang="ko-KR" sz="1600" dirty="0">
                    <a:solidFill>
                      <a:schemeClr val="tx1"/>
                    </a:solidFill>
                    <a:latin typeface="GyeonggiTitle Bold" panose="02020803020101020101" pitchFamily="18" charset="-127"/>
                    <a:ea typeface="GyeonggiTitle Bold" panose="02020803020101020101" pitchFamily="18" charset="-127"/>
                  </a:endParaRPr>
                </a:p>
              </p:txBody>
            </p:sp>
            <p:grpSp>
              <p:nvGrpSpPr>
                <p:cNvPr id="50" name="그룹 49">
                  <a:extLst>
                    <a:ext uri="{FF2B5EF4-FFF2-40B4-BE49-F238E27FC236}">
                      <a16:creationId xmlns:a16="http://schemas.microsoft.com/office/drawing/2014/main" id="{24063ED4-C248-3B63-0C20-C245FA537F92}"/>
                    </a:ext>
                  </a:extLst>
                </p:cNvPr>
                <p:cNvGrpSpPr/>
                <p:nvPr/>
              </p:nvGrpSpPr>
              <p:grpSpPr>
                <a:xfrm>
                  <a:off x="861887" y="1708925"/>
                  <a:ext cx="3271596" cy="4430274"/>
                  <a:chOff x="3850944" y="905654"/>
                  <a:chExt cx="3271596" cy="4994694"/>
                </a:xfrm>
                <a:effectLst>
                  <a:outerShdw blurRad="50800" dist="131726" dir="2700000" algn="ctr" rotWithShape="0">
                    <a:srgbClr val="000000">
                      <a:alpha val="50000"/>
                    </a:srgbClr>
                  </a:outerShdw>
                </a:effectLst>
              </p:grpSpPr>
              <p:grpSp>
                <p:nvGrpSpPr>
                  <p:cNvPr id="58" name="그룹 57">
                    <a:extLst>
                      <a:ext uri="{FF2B5EF4-FFF2-40B4-BE49-F238E27FC236}">
                        <a16:creationId xmlns:a16="http://schemas.microsoft.com/office/drawing/2014/main" id="{3FDD972B-4F1A-9201-E658-ADC1991801FC}"/>
                      </a:ext>
                    </a:extLst>
                  </p:cNvPr>
                  <p:cNvGrpSpPr/>
                  <p:nvPr/>
                </p:nvGrpSpPr>
                <p:grpSpPr>
                  <a:xfrm>
                    <a:off x="3930766" y="905654"/>
                    <a:ext cx="3191774" cy="4994694"/>
                    <a:chOff x="3907766" y="931653"/>
                    <a:chExt cx="3191774" cy="4994694"/>
                  </a:xfrm>
                </p:grpSpPr>
                <p:sp>
                  <p:nvSpPr>
                    <p:cNvPr id="60" name="대각선 방향의 모서리가 둥근 사각형 59">
                      <a:extLst>
                        <a:ext uri="{FF2B5EF4-FFF2-40B4-BE49-F238E27FC236}">
                          <a16:creationId xmlns:a16="http://schemas.microsoft.com/office/drawing/2014/main" id="{D038BAEC-4773-ECC4-0004-F0F737F8F58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907766" y="931653"/>
                      <a:ext cx="3191774" cy="4994694"/>
                    </a:xfrm>
                    <a:prstGeom prst="round2DiagRect">
                      <a:avLst>
                        <a:gd name="adj1" fmla="val 10451"/>
                        <a:gd name="adj2" fmla="val 0"/>
                      </a:avLst>
                    </a:prstGeom>
                    <a:solidFill>
                      <a:srgbClr val="DEDCDA"/>
                    </a:solidFill>
                    <a:ln>
                      <a:solidFill>
                        <a:srgbClr val="DEDCDA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kumimoji="1" lang="ko-KR" altLang="en-US">
                        <a:latin typeface="GyeonggiTitle Bold" panose="02020803020101020101" pitchFamily="18" charset="-127"/>
                        <a:ea typeface="GyeonggiTitle Bold" panose="02020803020101020101" pitchFamily="18" charset="-127"/>
                      </a:endParaRPr>
                    </a:p>
                  </p:txBody>
                </p:sp>
                <p:sp>
                  <p:nvSpPr>
                    <p:cNvPr id="61" name="대각선 방향의 모서리가 둥근 사각형 60">
                      <a:extLst>
                        <a:ext uri="{FF2B5EF4-FFF2-40B4-BE49-F238E27FC236}">
                          <a16:creationId xmlns:a16="http://schemas.microsoft.com/office/drawing/2014/main" id="{FDDB4DEE-1489-AC38-5F76-09692EB5F32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907766" y="931653"/>
                      <a:ext cx="3191774" cy="1109900"/>
                    </a:xfrm>
                    <a:prstGeom prst="round2DiagRect">
                      <a:avLst>
                        <a:gd name="adj1" fmla="val 48374"/>
                        <a:gd name="adj2" fmla="val 0"/>
                      </a:avLst>
                    </a:prstGeom>
                    <a:solidFill>
                      <a:srgbClr val="393833"/>
                    </a:solidFill>
                    <a:ln>
                      <a:solidFill>
                        <a:srgbClr val="DFDCDA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altLang="ko-KR" dirty="0">
                        <a:solidFill>
                          <a:schemeClr val="bg1"/>
                        </a:solidFill>
                        <a:latin typeface="GyeonggiTitle Bold" panose="02020803020101020101" pitchFamily="18" charset="-127"/>
                        <a:ea typeface="GyeonggiTitle Bold" panose="02020803020101020101" pitchFamily="18" charset="-127"/>
                      </a:endParaRPr>
                    </a:p>
                    <a:p>
                      <a:pPr algn="ctr"/>
                      <a:r>
                        <a:rPr lang="ko-KR" altLang="en-US" dirty="0">
                          <a:solidFill>
                            <a:schemeClr val="bg1"/>
                          </a:solidFill>
                          <a:latin typeface="GyeonggiTitle Bold" panose="02020803020101020101" pitchFamily="18" charset="-127"/>
                          <a:ea typeface="GyeonggiTitle Bold" panose="02020803020101020101" pitchFamily="18" charset="-127"/>
                        </a:rPr>
                        <a:t>메타 고착화</a:t>
                      </a:r>
                      <a:endParaRPr lang="ko-KR" altLang="ko-KR" dirty="0">
                        <a:solidFill>
                          <a:schemeClr val="bg1"/>
                        </a:solidFill>
                        <a:latin typeface="GyeonggiTitle Bold" panose="02020803020101020101" pitchFamily="18" charset="-127"/>
                        <a:ea typeface="GyeonggiTitle Bold" panose="02020803020101020101" pitchFamily="18" charset="-127"/>
                      </a:endParaRPr>
                    </a:p>
                    <a:p>
                      <a:pPr algn="ctr"/>
                      <a:endParaRPr kumimoji="1" lang="ko-KR" altLang="en-US" b="1" dirty="0">
                        <a:latin typeface="GyeonggiTitle Bold" panose="02020803020101020101" pitchFamily="18" charset="-127"/>
                        <a:ea typeface="GyeonggiTitle Bold" panose="02020803020101020101" pitchFamily="18" charset="-127"/>
                      </a:endParaRPr>
                    </a:p>
                  </p:txBody>
                </p:sp>
              </p:grpSp>
              <p:sp>
                <p:nvSpPr>
                  <p:cNvPr id="57" name="TextBox 56">
                    <a:extLst>
                      <a:ext uri="{FF2B5EF4-FFF2-40B4-BE49-F238E27FC236}">
                        <a16:creationId xmlns:a16="http://schemas.microsoft.com/office/drawing/2014/main" id="{8C621C89-C7C5-905F-D0AA-5095673C8DDF}"/>
                      </a:ext>
                    </a:extLst>
                  </p:cNvPr>
                  <p:cNvSpPr txBox="1"/>
                  <p:nvPr/>
                </p:nvSpPr>
                <p:spPr>
                  <a:xfrm>
                    <a:off x="3850944" y="2368648"/>
                    <a:ext cx="3191771" cy="36977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lvl="0" eaLnBrk="0" fontAlgn="base" latinLnBrk="0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en-US" altLang="ko-KR" sz="1500" dirty="0">
                      <a:latin typeface="GyeonggiTitleOTF Light" panose="02020403020101020101" pitchFamily="18" charset="-127"/>
                      <a:ea typeface="GyeonggiTitleOTF Light" panose="02020403020101020101" pitchFamily="18" charset="-127"/>
                    </a:endParaRPr>
                  </a:p>
                </p:txBody>
              </p:sp>
            </p:grpSp>
            <p:grpSp>
              <p:nvGrpSpPr>
                <p:cNvPr id="51" name="그룹 50">
                  <a:extLst>
                    <a:ext uri="{FF2B5EF4-FFF2-40B4-BE49-F238E27FC236}">
                      <a16:creationId xmlns:a16="http://schemas.microsoft.com/office/drawing/2014/main" id="{A417420E-6915-48FA-43AE-D661B44865A6}"/>
                    </a:ext>
                  </a:extLst>
                </p:cNvPr>
                <p:cNvGrpSpPr/>
                <p:nvPr/>
              </p:nvGrpSpPr>
              <p:grpSpPr>
                <a:xfrm>
                  <a:off x="4460202" y="1708925"/>
                  <a:ext cx="3191774" cy="4430274"/>
                  <a:chOff x="2904209" y="1707509"/>
                  <a:chExt cx="3191774" cy="4430274"/>
                </a:xfrm>
                <a:effectLst>
                  <a:outerShdw blurRad="50800" dist="127000" dir="2700000" algn="ctr" rotWithShape="0">
                    <a:srgbClr val="000000">
                      <a:alpha val="50000"/>
                    </a:srgbClr>
                  </a:outerShdw>
                </a:effectLst>
              </p:grpSpPr>
              <p:grpSp>
                <p:nvGrpSpPr>
                  <p:cNvPr id="52" name="그룹 51">
                    <a:extLst>
                      <a:ext uri="{FF2B5EF4-FFF2-40B4-BE49-F238E27FC236}">
                        <a16:creationId xmlns:a16="http://schemas.microsoft.com/office/drawing/2014/main" id="{E4AAFB1D-C3D2-813B-01FC-C856E573BC28}"/>
                      </a:ext>
                    </a:extLst>
                  </p:cNvPr>
                  <p:cNvGrpSpPr/>
                  <p:nvPr/>
                </p:nvGrpSpPr>
                <p:grpSpPr>
                  <a:xfrm>
                    <a:off x="2904209" y="1707509"/>
                    <a:ext cx="3191774" cy="4430274"/>
                    <a:chOff x="3907766" y="931653"/>
                    <a:chExt cx="3191774" cy="4994694"/>
                  </a:xfrm>
                </p:grpSpPr>
                <p:sp>
                  <p:nvSpPr>
                    <p:cNvPr id="54" name="대각선 방향의 모서리가 둥근 사각형 53">
                      <a:extLst>
                        <a:ext uri="{FF2B5EF4-FFF2-40B4-BE49-F238E27FC236}">
                          <a16:creationId xmlns:a16="http://schemas.microsoft.com/office/drawing/2014/main" id="{B92B0CCF-9E3D-2483-501E-3B0CEE3453B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907766" y="931653"/>
                      <a:ext cx="3191774" cy="4994694"/>
                    </a:xfrm>
                    <a:prstGeom prst="round2DiagRect">
                      <a:avLst>
                        <a:gd name="adj1" fmla="val 10451"/>
                        <a:gd name="adj2" fmla="val 0"/>
                      </a:avLst>
                    </a:prstGeom>
                    <a:solidFill>
                      <a:srgbClr val="DEDCDA"/>
                    </a:solidFill>
                    <a:ln>
                      <a:solidFill>
                        <a:srgbClr val="DEDCDA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kumimoji="1" lang="ko-KR" altLang="en-US">
                        <a:latin typeface="GyeonggiTitle Bold" panose="02020803020101020101" pitchFamily="18" charset="-127"/>
                        <a:ea typeface="GyeonggiTitle Bold" panose="02020803020101020101" pitchFamily="18" charset="-127"/>
                      </a:endParaRPr>
                    </a:p>
                  </p:txBody>
                </p:sp>
                <p:sp>
                  <p:nvSpPr>
                    <p:cNvPr id="55" name="대각선 방향의 모서리가 둥근 사각형 54">
                      <a:extLst>
                        <a:ext uri="{FF2B5EF4-FFF2-40B4-BE49-F238E27FC236}">
                          <a16:creationId xmlns:a16="http://schemas.microsoft.com/office/drawing/2014/main" id="{2E70C63C-E112-F751-8666-625D0BF9BC1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907766" y="931653"/>
                      <a:ext cx="3191774" cy="1109900"/>
                    </a:xfrm>
                    <a:prstGeom prst="round2DiagRect">
                      <a:avLst>
                        <a:gd name="adj1" fmla="val 48374"/>
                        <a:gd name="adj2" fmla="val 0"/>
                      </a:avLst>
                    </a:prstGeom>
                    <a:solidFill>
                      <a:srgbClr val="393833"/>
                    </a:solidFill>
                    <a:ln>
                      <a:solidFill>
                        <a:srgbClr val="DFDCDA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kumimoji="1" lang="ko-KR" altLang="en-US" b="1" dirty="0">
                          <a:latin typeface="GyeonggiTitle Bold" panose="02020803020101020101" pitchFamily="18" charset="-127"/>
                          <a:ea typeface="GyeonggiTitle Bold" panose="02020803020101020101" pitchFamily="18" charset="-127"/>
                        </a:rPr>
                        <a:t>해결책</a:t>
                      </a:r>
                    </a:p>
                  </p:txBody>
                </p:sp>
              </p:grpSp>
              <p:sp>
                <p:nvSpPr>
                  <p:cNvPr id="53" name="TextBox 52">
                    <a:extLst>
                      <a:ext uri="{FF2B5EF4-FFF2-40B4-BE49-F238E27FC236}">
                        <a16:creationId xmlns:a16="http://schemas.microsoft.com/office/drawing/2014/main" id="{AB7951E3-A0A5-EF6C-835B-B55A772329ED}"/>
                      </a:ext>
                    </a:extLst>
                  </p:cNvPr>
                  <p:cNvSpPr txBox="1"/>
                  <p:nvPr/>
                </p:nvSpPr>
                <p:spPr>
                  <a:xfrm>
                    <a:off x="3350654" y="1818904"/>
                    <a:ext cx="2458529" cy="37484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endParaRPr lang="en-US" altLang="ko-KR" dirty="0">
                      <a:solidFill>
                        <a:schemeClr val="bg1"/>
                      </a:solidFill>
                      <a:latin typeface="GyeonggiTitle Bold" panose="02020803020101020101" pitchFamily="18" charset="-127"/>
                      <a:ea typeface="GyeonggiTitle Bold" panose="02020803020101020101" pitchFamily="18" charset="-127"/>
                    </a:endParaRPr>
                  </a:p>
                </p:txBody>
              </p:sp>
            </p:grpSp>
          </p:grpSp>
          <p:grpSp>
            <p:nvGrpSpPr>
              <p:cNvPr id="42" name="그룹 41">
                <a:extLst>
                  <a:ext uri="{FF2B5EF4-FFF2-40B4-BE49-F238E27FC236}">
                    <a16:creationId xmlns:a16="http://schemas.microsoft.com/office/drawing/2014/main" id="{EB147810-F6CC-7A45-EE26-26116DB269BD}"/>
                  </a:ext>
                </a:extLst>
              </p:cNvPr>
              <p:cNvGrpSpPr/>
              <p:nvPr/>
            </p:nvGrpSpPr>
            <p:grpSpPr>
              <a:xfrm>
                <a:off x="7978692" y="1707407"/>
                <a:ext cx="3191774" cy="4430274"/>
                <a:chOff x="2904209" y="1707509"/>
                <a:chExt cx="3191774" cy="4430274"/>
              </a:xfrm>
              <a:effectLst>
                <a:outerShdw blurRad="50800" dist="127000" dir="2700000" algn="ctr" rotWithShape="0">
                  <a:srgbClr val="000000">
                    <a:alpha val="50000"/>
                  </a:srgbClr>
                </a:outerShdw>
              </a:effectLst>
            </p:grpSpPr>
            <p:grpSp>
              <p:nvGrpSpPr>
                <p:cNvPr id="43" name="그룹 42">
                  <a:extLst>
                    <a:ext uri="{FF2B5EF4-FFF2-40B4-BE49-F238E27FC236}">
                      <a16:creationId xmlns:a16="http://schemas.microsoft.com/office/drawing/2014/main" id="{006C82A2-05C7-E58A-407D-3B1DEFD50C0B}"/>
                    </a:ext>
                  </a:extLst>
                </p:cNvPr>
                <p:cNvGrpSpPr/>
                <p:nvPr/>
              </p:nvGrpSpPr>
              <p:grpSpPr>
                <a:xfrm>
                  <a:off x="2904209" y="1707509"/>
                  <a:ext cx="3191774" cy="4430274"/>
                  <a:chOff x="3907766" y="931653"/>
                  <a:chExt cx="3191774" cy="4994694"/>
                </a:xfrm>
              </p:grpSpPr>
              <p:sp>
                <p:nvSpPr>
                  <p:cNvPr id="47" name="대각선 방향의 모서리가 둥근 사각형 46">
                    <a:extLst>
                      <a:ext uri="{FF2B5EF4-FFF2-40B4-BE49-F238E27FC236}">
                        <a16:creationId xmlns:a16="http://schemas.microsoft.com/office/drawing/2014/main" id="{F075946C-66C3-9522-53BB-6C5DD0DC78B6}"/>
                      </a:ext>
                    </a:extLst>
                  </p:cNvPr>
                  <p:cNvSpPr/>
                  <p:nvPr/>
                </p:nvSpPr>
                <p:spPr>
                  <a:xfrm>
                    <a:off x="3907766" y="931653"/>
                    <a:ext cx="3191774" cy="4994694"/>
                  </a:xfrm>
                  <a:prstGeom prst="round2DiagRect">
                    <a:avLst>
                      <a:gd name="adj1" fmla="val 10451"/>
                      <a:gd name="adj2" fmla="val 0"/>
                    </a:avLst>
                  </a:prstGeom>
                  <a:solidFill>
                    <a:srgbClr val="DEDCDA"/>
                  </a:solidFill>
                  <a:ln>
                    <a:solidFill>
                      <a:srgbClr val="DEDCDA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ko-KR" altLang="en-US">
                      <a:latin typeface="GyeonggiTitle Bold" panose="02020803020101020101" pitchFamily="18" charset="-127"/>
                      <a:ea typeface="GyeonggiTitle Bold" panose="02020803020101020101" pitchFamily="18" charset="-127"/>
                    </a:endParaRPr>
                  </a:p>
                </p:txBody>
              </p:sp>
              <p:sp>
                <p:nvSpPr>
                  <p:cNvPr id="48" name="대각선 방향의 모서리가 둥근 사각형 47">
                    <a:extLst>
                      <a:ext uri="{FF2B5EF4-FFF2-40B4-BE49-F238E27FC236}">
                        <a16:creationId xmlns:a16="http://schemas.microsoft.com/office/drawing/2014/main" id="{1382A0E2-870E-0E4E-9054-D0309B996997}"/>
                      </a:ext>
                    </a:extLst>
                  </p:cNvPr>
                  <p:cNvSpPr/>
                  <p:nvPr/>
                </p:nvSpPr>
                <p:spPr>
                  <a:xfrm>
                    <a:off x="3907766" y="931653"/>
                    <a:ext cx="3191774" cy="1109900"/>
                  </a:xfrm>
                  <a:prstGeom prst="round2DiagRect">
                    <a:avLst>
                      <a:gd name="adj1" fmla="val 48374"/>
                      <a:gd name="adj2" fmla="val 0"/>
                    </a:avLst>
                  </a:prstGeom>
                  <a:solidFill>
                    <a:srgbClr val="393833"/>
                  </a:solidFill>
                  <a:ln>
                    <a:solidFill>
                      <a:srgbClr val="DFDCDA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kumimoji="1" lang="ko-KR" altLang="en-US" b="1" dirty="0">
                        <a:latin typeface="GyeonggiTitle Bold" panose="02020803020101020101" pitchFamily="18" charset="-127"/>
                        <a:ea typeface="GyeonggiTitle Bold" panose="02020803020101020101" pitchFamily="18" charset="-127"/>
                      </a:rPr>
                      <a:t>모범사례</a:t>
                    </a:r>
                  </a:p>
                </p:txBody>
              </p:sp>
            </p:grpSp>
            <p:grpSp>
              <p:nvGrpSpPr>
                <p:cNvPr id="44" name="그룹 43">
                  <a:extLst>
                    <a:ext uri="{FF2B5EF4-FFF2-40B4-BE49-F238E27FC236}">
                      <a16:creationId xmlns:a16="http://schemas.microsoft.com/office/drawing/2014/main" id="{FF3E9BBE-198E-1CD0-58A1-E23E34CCDF71}"/>
                    </a:ext>
                  </a:extLst>
                </p:cNvPr>
                <p:cNvGrpSpPr/>
                <p:nvPr/>
              </p:nvGrpSpPr>
              <p:grpSpPr>
                <a:xfrm>
                  <a:off x="2904209" y="1818905"/>
                  <a:ext cx="3191771" cy="1852539"/>
                  <a:chOff x="3007726" y="1790246"/>
                  <a:chExt cx="3191771" cy="1852539"/>
                </a:xfrm>
              </p:grpSpPr>
              <p:sp>
                <p:nvSpPr>
                  <p:cNvPr id="45" name="TextBox 44">
                    <a:extLst>
                      <a:ext uri="{FF2B5EF4-FFF2-40B4-BE49-F238E27FC236}">
                        <a16:creationId xmlns:a16="http://schemas.microsoft.com/office/drawing/2014/main" id="{845E3CCB-E98E-971A-EB71-DDBD4C4E3E15}"/>
                      </a:ext>
                    </a:extLst>
                  </p:cNvPr>
                  <p:cNvSpPr txBox="1"/>
                  <p:nvPr/>
                </p:nvSpPr>
                <p:spPr>
                  <a:xfrm>
                    <a:off x="3454171" y="1790246"/>
                    <a:ext cx="2458529" cy="37484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lvl="0" eaLnBrk="0" fontAlgn="base" latinLnBrk="0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ko-KR" altLang="ko-KR" dirty="0">
                      <a:solidFill>
                        <a:schemeClr val="bg1"/>
                      </a:solidFill>
                      <a:latin typeface="GyeonggiTitle Bold" panose="02020803020101020101" pitchFamily="18" charset="-127"/>
                      <a:ea typeface="GyeonggiTitle Bold" panose="02020803020101020101" pitchFamily="18" charset="-127"/>
                    </a:endParaRPr>
                  </a:p>
                </p:txBody>
              </p:sp>
              <p:sp>
                <p:nvSpPr>
                  <p:cNvPr id="46" name="TextBox 45">
                    <a:extLst>
                      <a:ext uri="{FF2B5EF4-FFF2-40B4-BE49-F238E27FC236}">
                        <a16:creationId xmlns:a16="http://schemas.microsoft.com/office/drawing/2014/main" id="{863EA862-6E2C-5141-2DBB-1DC51655CF20}"/>
                      </a:ext>
                    </a:extLst>
                  </p:cNvPr>
                  <p:cNvSpPr txBox="1"/>
                  <p:nvPr/>
                </p:nvSpPr>
                <p:spPr>
                  <a:xfrm>
                    <a:off x="3007726" y="3314801"/>
                    <a:ext cx="3191771" cy="32798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lvl="0" eaLnBrk="0" fontAlgn="base" latinLnBrk="0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en-US" altLang="ko-KR" sz="1500" dirty="0">
                      <a:latin typeface="GyeonggiTitleOTF Light" panose="02020403020101020101" pitchFamily="18" charset="-127"/>
                      <a:ea typeface="GyeonggiTitleOTF Light" panose="02020403020101020101" pitchFamily="18" charset="-127"/>
                    </a:endParaRPr>
                  </a:p>
                </p:txBody>
              </p:sp>
            </p:grpSp>
          </p:grpSp>
        </p:grp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D8E12411-1495-D4D7-5B9C-FD50497029E7}"/>
                </a:ext>
              </a:extLst>
            </p:cNvPr>
            <p:cNvSpPr txBox="1"/>
            <p:nvPr/>
          </p:nvSpPr>
          <p:spPr>
            <a:xfrm>
              <a:off x="1041984" y="4579284"/>
              <a:ext cx="3155398" cy="122803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400" dirty="0">
                  <a:latin typeface="GyeonggiTitleOTF Light" panose="02020403020101020101" pitchFamily="18" charset="-127"/>
                  <a:ea typeface="GyeonggiTitleOTF Light" panose="02020403020101020101" pitchFamily="18" charset="-127"/>
                </a:rPr>
                <a:t>- </a:t>
              </a:r>
              <a:r>
                <a:rPr lang="ko-KR" altLang="en-US" sz="1400" dirty="0">
                  <a:latin typeface="GyeonggiTitleOTF Light" panose="02020403020101020101" pitchFamily="18" charset="-127"/>
                  <a:ea typeface="GyeonggiTitleOTF Light" panose="02020403020101020101" pitchFamily="18" charset="-127"/>
                </a:rPr>
                <a:t>많은 모바일 게임에서의 유저이탈 주요원인</a:t>
              </a:r>
              <a:endParaRPr lang="en-US" altLang="ko-KR" sz="1400" dirty="0">
                <a:latin typeface="GyeonggiTitleOTF Light" panose="02020403020101020101" pitchFamily="18" charset="-127"/>
                <a:ea typeface="GyeonggiTitleOTF Light" panose="02020403020101020101" pitchFamily="18" charset="-127"/>
              </a:endParaRPr>
            </a:p>
            <a:p>
              <a:endParaRPr lang="en-US" altLang="ko-KR" sz="1400" dirty="0">
                <a:latin typeface="GyeonggiTitleOTF Light" panose="02020403020101020101" pitchFamily="18" charset="-127"/>
                <a:ea typeface="GyeonggiTitleOTF Light" panose="02020403020101020101" pitchFamily="18" charset="-127"/>
              </a:endParaRPr>
            </a:p>
            <a:p>
              <a:r>
                <a:rPr lang="en-US" altLang="ko-KR" sz="1400" dirty="0">
                  <a:latin typeface="GyeonggiTitleOTF Light" panose="02020403020101020101" pitchFamily="18" charset="-127"/>
                  <a:ea typeface="GyeonggiTitleOTF Light" panose="02020403020101020101" pitchFamily="18" charset="-127"/>
                </a:rPr>
                <a:t>-</a:t>
              </a:r>
              <a:r>
                <a:rPr lang="ko-KR" altLang="en-US" sz="1400" dirty="0">
                  <a:latin typeface="GyeonggiTitleOTF Light" panose="02020403020101020101" pitchFamily="18" charset="-127"/>
                  <a:ea typeface="GyeonggiTitleOTF Light" panose="02020403020101020101" pitchFamily="18" charset="-127"/>
                </a:rPr>
                <a:t> 특정 캐릭터나 조합이 정답이 되는 상황은 장기적인 게임 수명에 부정적</a:t>
              </a:r>
              <a:endParaRPr lang="en-US" altLang="ko-KR" sz="1400" dirty="0">
                <a:latin typeface="GyeonggiTitleOTF Light" panose="02020403020101020101" pitchFamily="18" charset="-127"/>
                <a:ea typeface="GyeonggiTitleOTF Light" panose="02020403020101020101" pitchFamily="18" charset="-127"/>
              </a:endParaRP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F8F641EE-1C32-0396-348C-73F9F01BE42E}"/>
                </a:ext>
              </a:extLst>
            </p:cNvPr>
            <p:cNvSpPr txBox="1"/>
            <p:nvPr/>
          </p:nvSpPr>
          <p:spPr>
            <a:xfrm>
              <a:off x="4580910" y="4522676"/>
              <a:ext cx="3134977" cy="54938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400" dirty="0">
                  <a:latin typeface="GyeonggiTitleOTF Light" panose="02020403020101020101" pitchFamily="18" charset="-127"/>
                  <a:ea typeface="GyeonggiTitleOTF Light" panose="02020403020101020101" pitchFamily="18" charset="-127"/>
                </a:rPr>
                <a:t>- </a:t>
              </a:r>
              <a:r>
                <a:rPr lang="ko-KR" altLang="en-US" sz="1400" dirty="0">
                  <a:latin typeface="GyeonggiTitleOTF Light" panose="02020403020101020101" pitchFamily="18" charset="-127"/>
                  <a:ea typeface="GyeonggiTitleOTF Light" panose="02020403020101020101" pitchFamily="18" charset="-127"/>
                </a:rPr>
                <a:t>게임사가 의도적</a:t>
              </a:r>
              <a:r>
                <a:rPr lang="en-US" altLang="ko-KR" sz="1400" dirty="0">
                  <a:latin typeface="GyeonggiTitleOTF Light" panose="02020403020101020101" pitchFamily="18" charset="-127"/>
                  <a:ea typeface="GyeonggiTitleOTF Light" panose="02020403020101020101" pitchFamily="18" charset="-127"/>
                </a:rPr>
                <a:t>, </a:t>
              </a:r>
              <a:r>
                <a:rPr lang="ko-KR" altLang="en-US" sz="1400" dirty="0">
                  <a:latin typeface="GyeonggiTitleOTF Light" panose="02020403020101020101" pitchFamily="18" charset="-127"/>
                  <a:ea typeface="GyeonggiTitleOTF Light" panose="02020403020101020101" pitchFamily="18" charset="-127"/>
                </a:rPr>
                <a:t>지속적인 개입을 통해 메타가 순환되도록 설계 </a:t>
              </a:r>
              <a:endParaRPr lang="en-US" altLang="ko-KR" sz="1400" dirty="0">
                <a:latin typeface="GyeonggiTitleOTF Light" panose="02020403020101020101" pitchFamily="18" charset="-127"/>
                <a:ea typeface="GyeonggiTitleOTF Light" panose="02020403020101020101" pitchFamily="18" charset="-127"/>
              </a:endParaRP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A2D2FC46-730F-BF86-9B06-CEAC4FDC7E94}"/>
                </a:ext>
              </a:extLst>
            </p:cNvPr>
            <p:cNvSpPr txBox="1"/>
            <p:nvPr/>
          </p:nvSpPr>
          <p:spPr>
            <a:xfrm>
              <a:off x="8122415" y="4522676"/>
              <a:ext cx="3115386" cy="10018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ko-KR" altLang="en-US" sz="1400" dirty="0">
                  <a:latin typeface="GyeonggiTitleOTF Light" panose="02020403020101020101" pitchFamily="18" charset="-127"/>
                  <a:ea typeface="GyeonggiTitleOTF Light" panose="02020403020101020101" pitchFamily="18" charset="-127"/>
                </a:rPr>
                <a:t>넥슨 게임즈 </a:t>
              </a:r>
              <a:r>
                <a:rPr lang="en-US" altLang="ko-KR" sz="1400" dirty="0">
                  <a:latin typeface="GyeonggiTitleOTF Light" panose="02020403020101020101" pitchFamily="18" charset="-127"/>
                  <a:ea typeface="GyeonggiTitleOTF Light" panose="02020403020101020101" pitchFamily="18" charset="-127"/>
                </a:rPr>
                <a:t>- ‘</a:t>
              </a:r>
              <a:r>
                <a:rPr lang="ko-KR" altLang="en-US" sz="1400" b="1" dirty="0">
                  <a:latin typeface="GyeonggiTitleOTF Light" panose="02020403020101020101" pitchFamily="18" charset="-127"/>
                  <a:ea typeface="GyeonggiTitleOTF Light" panose="02020403020101020101" pitchFamily="18" charset="-127"/>
                </a:rPr>
                <a:t>블루 아카이브</a:t>
              </a:r>
              <a:r>
                <a:rPr lang="en-US" altLang="ko-KR" sz="1400" dirty="0">
                  <a:latin typeface="GyeonggiTitleOTF Light" panose="02020403020101020101" pitchFamily="18" charset="-127"/>
                  <a:ea typeface="GyeonggiTitleOTF Light" panose="02020403020101020101" pitchFamily="18" charset="-127"/>
                </a:rPr>
                <a:t>’</a:t>
              </a:r>
            </a:p>
            <a:p>
              <a:r>
                <a:rPr lang="ko-KR" altLang="en-US" sz="1400" dirty="0">
                  <a:latin typeface="GyeonggiTitleOTF Light" panose="02020403020101020101" pitchFamily="18" charset="-127"/>
                  <a:ea typeface="GyeonggiTitleOTF Light" panose="02020403020101020101" pitchFamily="18" charset="-127"/>
                </a:rPr>
                <a:t>스마일게이트 </a:t>
              </a:r>
              <a:r>
                <a:rPr lang="en-US" altLang="ko-KR" sz="1400" dirty="0">
                  <a:latin typeface="GyeonggiTitleOTF Light" panose="02020403020101020101" pitchFamily="18" charset="-127"/>
                  <a:ea typeface="GyeonggiTitleOTF Light" panose="02020403020101020101" pitchFamily="18" charset="-127"/>
                </a:rPr>
                <a:t>- ‘</a:t>
              </a:r>
              <a:r>
                <a:rPr lang="ko-KR" altLang="en-US" sz="1400" b="1" dirty="0">
                  <a:latin typeface="GyeonggiTitleOTF Light" panose="02020403020101020101" pitchFamily="18" charset="-127"/>
                  <a:ea typeface="GyeonggiTitleOTF Light" panose="02020403020101020101" pitchFamily="18" charset="-127"/>
                </a:rPr>
                <a:t>에픽세븐</a:t>
              </a:r>
              <a:r>
                <a:rPr lang="en-US" altLang="ko-KR" sz="1400" dirty="0">
                  <a:latin typeface="GyeonggiTitleOTF Light" panose="02020403020101020101" pitchFamily="18" charset="-127"/>
                  <a:ea typeface="GyeonggiTitleOTF Light" panose="02020403020101020101" pitchFamily="18" charset="-127"/>
                </a:rPr>
                <a:t>’</a:t>
              </a:r>
            </a:p>
            <a:p>
              <a:endParaRPr lang="en-US" altLang="ko-KR" sz="1400" dirty="0">
                <a:latin typeface="GyeonggiTitleOTF Light" panose="02020403020101020101" pitchFamily="18" charset="-127"/>
                <a:ea typeface="GyeonggiTitleOTF Light" panose="02020403020101020101" pitchFamily="18" charset="-127"/>
              </a:endParaRPr>
            </a:p>
            <a:p>
              <a:r>
                <a:rPr lang="ko-KR" altLang="en-US" sz="1400" dirty="0">
                  <a:latin typeface="GyeonggiTitleOTF Light" panose="02020403020101020101" pitchFamily="18" charset="-127"/>
                  <a:ea typeface="GyeonggiTitleOTF Light" panose="02020403020101020101" pitchFamily="18" charset="-127"/>
                </a:rPr>
                <a:t>두 게임의 사례 소개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60953283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A1C2812-B7C8-450D-5F2A-93724A9D53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53C9981D-A391-8982-55A9-760F1A7AFE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alphaModFix amt="15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1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63144" y="1804227"/>
            <a:ext cx="8665729" cy="3012695"/>
          </a:xfrm>
          <a:prstGeom prst="rect">
            <a:avLst/>
          </a:prstGeom>
          <a:noFill/>
          <a:effectLst>
            <a:outerShdw blurRad="50800" dist="50800" dir="5400000" algn="ctr" rotWithShape="0">
              <a:srgbClr val="000000">
                <a:alpha val="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B77DA9A-5971-AFFB-B259-1D3AD50585FF}"/>
              </a:ext>
            </a:extLst>
          </p:cNvPr>
          <p:cNvSpPr txBox="1"/>
          <p:nvPr/>
        </p:nvSpPr>
        <p:spPr>
          <a:xfrm>
            <a:off x="5848109" y="6412606"/>
            <a:ext cx="55328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ko-KR" sz="1000" dirty="0">
                <a:latin typeface="GyeonggiTitle Bold" panose="02020803020101020101" pitchFamily="18" charset="-127"/>
                <a:ea typeface="GyeonggiTitle Bold" panose="02020803020101020101" pitchFamily="18" charset="-127"/>
              </a:rPr>
              <a:t>- 17 - </a:t>
            </a:r>
            <a:endParaRPr kumimoji="1" lang="ko-KR" altLang="en-US" sz="1000" dirty="0">
              <a:latin typeface="GyeonggiTitle Bold" panose="02020803020101020101" pitchFamily="18" charset="-127"/>
              <a:ea typeface="GyeonggiTitle Bold" panose="02020803020101020101" pitchFamily="18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EA33DAE-3E78-0E5A-D2A5-70CAC3CD0867}"/>
              </a:ext>
            </a:extLst>
          </p:cNvPr>
          <p:cNvSpPr txBox="1"/>
          <p:nvPr/>
        </p:nvSpPr>
        <p:spPr>
          <a:xfrm>
            <a:off x="1072526" y="586716"/>
            <a:ext cx="7646931" cy="9079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500" dirty="0">
                <a:latin typeface="경기천년제목VOTF Bold" panose="02020803020101020101" pitchFamily="18" charset="-127"/>
                <a:ea typeface="경기천년제목VOTF Bold" panose="02020803020101020101" pitchFamily="18" charset="-127"/>
              </a:rPr>
              <a:t>메타 순환 모범사례</a:t>
            </a:r>
            <a:endParaRPr lang="en-US" altLang="ko-KR" sz="3500" dirty="0">
              <a:latin typeface="경기천년제목VOTF Bold" panose="02020803020101020101" pitchFamily="18" charset="-127"/>
              <a:ea typeface="경기천년제목VOTF Bold" panose="02020803020101020101" pitchFamily="18" charset="-127"/>
            </a:endParaRPr>
          </a:p>
          <a:p>
            <a:r>
              <a:rPr lang="ko-KR" altLang="en-US" dirty="0">
                <a:latin typeface="경기천년제목VOTF Bold" panose="02020803020101020101" pitchFamily="18" charset="-127"/>
                <a:ea typeface="경기천년제목VOTF Bold" panose="02020803020101020101" pitchFamily="18" charset="-127"/>
              </a:rPr>
              <a:t>블루 아카이브의 메타 순환 </a:t>
            </a:r>
            <a:endParaRPr lang="en-US" altLang="ko-KR" dirty="0">
              <a:latin typeface="경기천년제목VOTF Bold" panose="02020803020101020101" pitchFamily="18" charset="-127"/>
              <a:ea typeface="경기천년제목VOTF Bold" panose="02020803020101020101" pitchFamily="18" charset="-127"/>
            </a:endParaRPr>
          </a:p>
        </p:txBody>
      </p:sp>
      <p:grpSp>
        <p:nvGrpSpPr>
          <p:cNvPr id="54" name="그룹 53">
            <a:extLst>
              <a:ext uri="{FF2B5EF4-FFF2-40B4-BE49-F238E27FC236}">
                <a16:creationId xmlns:a16="http://schemas.microsoft.com/office/drawing/2014/main" id="{C3A19121-5219-3D8D-44B8-601815A4FCD6}"/>
              </a:ext>
            </a:extLst>
          </p:cNvPr>
          <p:cNvGrpSpPr/>
          <p:nvPr/>
        </p:nvGrpSpPr>
        <p:grpSpPr>
          <a:xfrm>
            <a:off x="3688419" y="2175597"/>
            <a:ext cx="4828279" cy="2900136"/>
            <a:chOff x="3720413" y="2194155"/>
            <a:chExt cx="4828279" cy="2900136"/>
          </a:xfrm>
        </p:grpSpPr>
        <p:sp>
          <p:nvSpPr>
            <p:cNvPr id="2" name="모서리가 둥근 직사각형 1">
              <a:extLst>
                <a:ext uri="{FF2B5EF4-FFF2-40B4-BE49-F238E27FC236}">
                  <a16:creationId xmlns:a16="http://schemas.microsoft.com/office/drawing/2014/main" id="{DBC83928-0A2B-8175-0CC7-7CF72C7157BA}"/>
                </a:ext>
              </a:extLst>
            </p:cNvPr>
            <p:cNvSpPr/>
            <p:nvPr/>
          </p:nvSpPr>
          <p:spPr>
            <a:xfrm>
              <a:off x="4134822" y="2782864"/>
              <a:ext cx="3970348" cy="1786796"/>
            </a:xfrm>
            <a:prstGeom prst="roundRect">
              <a:avLst/>
            </a:prstGeom>
            <a:solidFill>
              <a:schemeClr val="bg1">
                <a:alpha val="59785"/>
              </a:schemeClr>
            </a:solidFill>
            <a:ln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altLang="ko-KR" dirty="0">
                <a:solidFill>
                  <a:schemeClr val="tx1"/>
                </a:solidFill>
                <a:latin typeface="GyeonggiTitle Bold" panose="02020803020101020101" pitchFamily="18" charset="-127"/>
                <a:ea typeface="GyeonggiTitle Bold" panose="02020803020101020101" pitchFamily="18" charset="-127"/>
              </a:endParaRPr>
            </a:p>
            <a:p>
              <a:r>
                <a:rPr lang="ko-KR" altLang="en-US" dirty="0">
                  <a:solidFill>
                    <a:schemeClr val="tx1"/>
                  </a:solidFill>
                  <a:latin typeface="GyeonggiTitle Bold" panose="02020803020101020101" pitchFamily="18" charset="-127"/>
                  <a:ea typeface="GyeonggiTitle Bold" panose="02020803020101020101" pitchFamily="18" charset="-127"/>
                </a:rPr>
                <a:t>특정 캐릭터가 없어도 대체 조합을 통해 다양한 캐릭터를 활용할 수 있어</a:t>
              </a:r>
              <a:r>
                <a:rPr lang="en-US" altLang="ko-KR" dirty="0">
                  <a:solidFill>
                    <a:schemeClr val="tx1"/>
                  </a:solidFill>
                  <a:latin typeface="GyeonggiTitle Bold" panose="02020803020101020101" pitchFamily="18" charset="-127"/>
                  <a:ea typeface="GyeonggiTitle Bold" panose="02020803020101020101" pitchFamily="18" charset="-127"/>
                </a:rPr>
                <a:t>, </a:t>
              </a:r>
            </a:p>
            <a:p>
              <a:r>
                <a:rPr lang="ko-KR" altLang="en-US" dirty="0">
                  <a:solidFill>
                    <a:schemeClr val="tx1"/>
                  </a:solidFill>
                  <a:latin typeface="GyeonggiTitle Bold" panose="02020803020101020101" pitchFamily="18" charset="-127"/>
                  <a:ea typeface="GyeonggiTitle Bold" panose="02020803020101020101" pitchFamily="18" charset="-127"/>
                </a:rPr>
                <a:t>게임 메타는 고착화되지 않고 지속적으로 순환</a:t>
              </a:r>
              <a:r>
                <a:rPr lang="en-US" altLang="ko-KR" dirty="0">
                  <a:solidFill>
                    <a:schemeClr val="tx1"/>
                  </a:solidFill>
                  <a:latin typeface="GyeonggiTitle Bold" panose="02020803020101020101" pitchFamily="18" charset="-127"/>
                  <a:ea typeface="GyeonggiTitle Bold" panose="02020803020101020101" pitchFamily="18" charset="-127"/>
                </a:rPr>
                <a:t>.</a:t>
              </a:r>
              <a:endParaRPr kumimoji="1" lang="ko-KR" altLang="en-US" dirty="0">
                <a:solidFill>
                  <a:schemeClr val="tx1"/>
                </a:solidFill>
                <a:latin typeface="GyeonggiTitle Bold" panose="02020803020101020101" pitchFamily="18" charset="-127"/>
                <a:ea typeface="GyeonggiTitle Bold" panose="02020803020101020101" pitchFamily="18" charset="-127"/>
              </a:endParaRPr>
            </a:p>
            <a:p>
              <a:pPr algn="ctr"/>
              <a:endParaRPr kumimoji="1"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7" name="굽은 화살표[B] 6">
              <a:extLst>
                <a:ext uri="{FF2B5EF4-FFF2-40B4-BE49-F238E27FC236}">
                  <a16:creationId xmlns:a16="http://schemas.microsoft.com/office/drawing/2014/main" id="{60941A89-435C-962D-9B09-6939FAE51FBB}"/>
                </a:ext>
              </a:extLst>
            </p:cNvPr>
            <p:cNvSpPr/>
            <p:nvPr/>
          </p:nvSpPr>
          <p:spPr>
            <a:xfrm flipV="1">
              <a:off x="3720413" y="4045028"/>
              <a:ext cx="3758725" cy="1049263"/>
            </a:xfrm>
            <a:prstGeom prst="bentArrow">
              <a:avLst>
                <a:gd name="adj1" fmla="val 25000"/>
                <a:gd name="adj2" fmla="val 17254"/>
                <a:gd name="adj3" fmla="val 25000"/>
                <a:gd name="adj4" fmla="val 43750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9" name="굽은 화살표[B] 8">
              <a:extLst>
                <a:ext uri="{FF2B5EF4-FFF2-40B4-BE49-F238E27FC236}">
                  <a16:creationId xmlns:a16="http://schemas.microsoft.com/office/drawing/2014/main" id="{81DD4F3A-50B6-E937-4F59-1AE91BB2D2DF}"/>
                </a:ext>
              </a:extLst>
            </p:cNvPr>
            <p:cNvSpPr/>
            <p:nvPr/>
          </p:nvSpPr>
          <p:spPr>
            <a:xfrm flipH="1">
              <a:off x="4392330" y="2194155"/>
              <a:ext cx="4156362" cy="1049263"/>
            </a:xfrm>
            <a:prstGeom prst="bentArrow">
              <a:avLst>
                <a:gd name="adj1" fmla="val 25000"/>
                <a:gd name="adj2" fmla="val 17254"/>
                <a:gd name="adj3" fmla="val 25000"/>
                <a:gd name="adj4" fmla="val 43750"/>
              </a:avLst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77DAC87F-56AB-98B2-6709-F23D369237C8}"/>
              </a:ext>
            </a:extLst>
          </p:cNvPr>
          <p:cNvSpPr txBox="1"/>
          <p:nvPr/>
        </p:nvSpPr>
        <p:spPr>
          <a:xfrm>
            <a:off x="674124" y="3898961"/>
            <a:ext cx="286834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latin typeface="GyeonggiTitleOTF Light" panose="02020403020101020101" pitchFamily="18" charset="-127"/>
                <a:ea typeface="GyeonggiTitleOTF Light" panose="02020403020101020101" pitchFamily="18" charset="-127"/>
              </a:rPr>
              <a:t>회사에서는 다음 업데이트될 </a:t>
            </a:r>
            <a:r>
              <a:rPr lang="en-US" altLang="ko-KR" dirty="0">
                <a:latin typeface="GyeonggiTitleOTF Light" panose="02020403020101020101" pitchFamily="18" charset="-127"/>
                <a:ea typeface="GyeonggiTitleOTF Light" panose="02020403020101020101" pitchFamily="18" charset="-127"/>
              </a:rPr>
              <a:t>‘</a:t>
            </a:r>
            <a:r>
              <a:rPr lang="ko-KR" altLang="en-US" b="1" dirty="0">
                <a:latin typeface="GyeonggiTitleOTF Light" panose="02020403020101020101" pitchFamily="18" charset="-127"/>
                <a:ea typeface="GyeonggiTitleOTF Light" panose="02020403020101020101" pitchFamily="18" charset="-127"/>
              </a:rPr>
              <a:t>총력전</a:t>
            </a:r>
            <a:r>
              <a:rPr lang="en-US" altLang="ko-KR" b="1" dirty="0">
                <a:latin typeface="GyeonggiTitleOTF Light" panose="02020403020101020101" pitchFamily="18" charset="-127"/>
                <a:ea typeface="GyeonggiTitleOTF Light" panose="02020403020101020101" pitchFamily="18" charset="-127"/>
              </a:rPr>
              <a:t>’</a:t>
            </a:r>
            <a:r>
              <a:rPr lang="ko-KR" altLang="en-US" dirty="0" err="1">
                <a:latin typeface="GyeonggiTitleOTF Light" panose="02020403020101020101" pitchFamily="18" charset="-127"/>
                <a:ea typeface="GyeonggiTitleOTF Light" panose="02020403020101020101" pitchFamily="18" charset="-127"/>
              </a:rPr>
              <a:t>에</a:t>
            </a:r>
            <a:r>
              <a:rPr lang="ko-KR" altLang="en-US" dirty="0">
                <a:latin typeface="GyeonggiTitleOTF Light" panose="02020403020101020101" pitchFamily="18" charset="-127"/>
                <a:ea typeface="GyeonggiTitleOTF Light" panose="02020403020101020101" pitchFamily="18" charset="-127"/>
              </a:rPr>
              <a:t> 매우 유리한 고유 스킬을 가지고</a:t>
            </a:r>
            <a:r>
              <a:rPr lang="en-US" altLang="ko-KR" dirty="0">
                <a:latin typeface="GyeonggiTitleOTF Light" panose="02020403020101020101" pitchFamily="18" charset="-127"/>
                <a:ea typeface="GyeonggiTitleOTF Light" panose="02020403020101020101" pitchFamily="18" charset="-127"/>
              </a:rPr>
              <a:t> </a:t>
            </a:r>
            <a:r>
              <a:rPr lang="ko-KR" altLang="en-US" dirty="0">
                <a:latin typeface="GyeonggiTitleOTF Light" panose="02020403020101020101" pitchFamily="18" charset="-127"/>
                <a:ea typeface="GyeonggiTitleOTF Light" panose="02020403020101020101" pitchFamily="18" charset="-127"/>
              </a:rPr>
              <a:t>있는 학생을 출시</a:t>
            </a:r>
            <a:endParaRPr kumimoji="1" lang="ko-KR" altLang="en-US" dirty="0">
              <a:latin typeface="GyeonggiTitleOTF Light" panose="02020403020101020101" pitchFamily="18" charset="-127"/>
              <a:ea typeface="GyeonggiTitleOTF Light" panose="02020403020101020101" pitchFamily="18" charset="-127"/>
            </a:endParaRPr>
          </a:p>
        </p:txBody>
      </p:sp>
      <p:grpSp>
        <p:nvGrpSpPr>
          <p:cNvPr id="43" name="그룹 42">
            <a:extLst>
              <a:ext uri="{FF2B5EF4-FFF2-40B4-BE49-F238E27FC236}">
                <a16:creationId xmlns:a16="http://schemas.microsoft.com/office/drawing/2014/main" id="{D90EBF59-C057-5B9B-F649-4381E1213129}"/>
              </a:ext>
            </a:extLst>
          </p:cNvPr>
          <p:cNvGrpSpPr/>
          <p:nvPr/>
        </p:nvGrpSpPr>
        <p:grpSpPr>
          <a:xfrm>
            <a:off x="2667262" y="2285780"/>
            <a:ext cx="1539834" cy="1384750"/>
            <a:chOff x="818681" y="2476041"/>
            <a:chExt cx="1539834" cy="1384750"/>
          </a:xfrm>
        </p:grpSpPr>
        <p:grpSp>
          <p:nvGrpSpPr>
            <p:cNvPr id="24" name="그룹 23">
              <a:extLst>
                <a:ext uri="{FF2B5EF4-FFF2-40B4-BE49-F238E27FC236}">
                  <a16:creationId xmlns:a16="http://schemas.microsoft.com/office/drawing/2014/main" id="{86FA9B73-D5DE-0D71-F6D0-838FFCAD1A5E}"/>
                </a:ext>
              </a:extLst>
            </p:cNvPr>
            <p:cNvGrpSpPr/>
            <p:nvPr/>
          </p:nvGrpSpPr>
          <p:grpSpPr>
            <a:xfrm>
              <a:off x="818681" y="2476041"/>
              <a:ext cx="1539834" cy="1384750"/>
              <a:chOff x="888919" y="1780554"/>
              <a:chExt cx="1539834" cy="1384750"/>
            </a:xfrm>
          </p:grpSpPr>
          <p:grpSp>
            <p:nvGrpSpPr>
              <p:cNvPr id="28" name="그룹 27">
                <a:extLst>
                  <a:ext uri="{FF2B5EF4-FFF2-40B4-BE49-F238E27FC236}">
                    <a16:creationId xmlns:a16="http://schemas.microsoft.com/office/drawing/2014/main" id="{2C1D509D-9AAD-EA73-BFC1-A84EB326AF63}"/>
                  </a:ext>
                </a:extLst>
              </p:cNvPr>
              <p:cNvGrpSpPr/>
              <p:nvPr/>
            </p:nvGrpSpPr>
            <p:grpSpPr>
              <a:xfrm>
                <a:off x="888919" y="1780554"/>
                <a:ext cx="1539834" cy="1384750"/>
                <a:chOff x="1180626" y="2012284"/>
                <a:chExt cx="1311341" cy="1165073"/>
              </a:xfrm>
            </p:grpSpPr>
            <p:pic>
              <p:nvPicPr>
                <p:cNvPr id="30" name="그림 29" descr="스크린샷, 블랙, 도표, 디자인이(가) 표시된 사진&#10;&#10;AI 생성 콘텐츠는 정확하지 않을 수 있습니다.">
                  <a:extLst>
                    <a:ext uri="{FF2B5EF4-FFF2-40B4-BE49-F238E27FC236}">
                      <a16:creationId xmlns:a16="http://schemas.microsoft.com/office/drawing/2014/main" id="{CD96BD9D-7BD1-10A1-0399-EAC17D574A4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>
                  <a:duotone>
                    <a:schemeClr val="accent1">
                      <a:shade val="45000"/>
                      <a:satMod val="135000"/>
                    </a:schemeClr>
                    <a:prstClr val="white"/>
                  </a:duotone>
                  <a:extLst>
                    <a:ext uri="{BEBA8EAE-BF5A-486C-A8C5-ECC9F3942E4B}">
                      <a14:imgProps xmlns:a14="http://schemas.microsoft.com/office/drawing/2010/main">
                        <a14:imgLayer r:embed="rId6">
                          <a14:imgEffect>
                            <a14:saturation sat="199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180626" y="2280710"/>
                  <a:ext cx="1017030" cy="896647"/>
                </a:xfrm>
                <a:prstGeom prst="rect">
                  <a:avLst/>
                </a:prstGeom>
              </p:spPr>
            </p:pic>
            <p:sp>
              <p:nvSpPr>
                <p:cNvPr id="32" name="TextBox 31">
                  <a:extLst>
                    <a:ext uri="{FF2B5EF4-FFF2-40B4-BE49-F238E27FC236}">
                      <a16:creationId xmlns:a16="http://schemas.microsoft.com/office/drawing/2014/main" id="{C16FDF90-9D37-8854-7FC4-22C57B7BD598}"/>
                    </a:ext>
                  </a:extLst>
                </p:cNvPr>
                <p:cNvSpPr txBox="1"/>
                <p:nvPr/>
              </p:nvSpPr>
              <p:spPr>
                <a:xfrm>
                  <a:off x="1903344" y="2012284"/>
                  <a:ext cx="588623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kumimoji="1" lang="ko-KR" altLang="en-US" dirty="0">
                      <a:latin typeface="GyeonggiTitle Bold" panose="02020803020101020101" pitchFamily="18" charset="-127"/>
                      <a:ea typeface="GyeonggiTitle Bold" panose="02020803020101020101" pitchFamily="18" charset="-127"/>
                    </a:rPr>
                    <a:t>회사</a:t>
                  </a:r>
                </a:p>
              </p:txBody>
            </p:sp>
          </p:grpSp>
          <p:sp>
            <p:nvSpPr>
              <p:cNvPr id="29" name="직사각형 28">
                <a:extLst>
                  <a:ext uri="{FF2B5EF4-FFF2-40B4-BE49-F238E27FC236}">
                    <a16:creationId xmlns:a16="http://schemas.microsoft.com/office/drawing/2014/main" id="{56956E50-FE2E-124B-3151-A68271277DAE}"/>
                  </a:ext>
                </a:extLst>
              </p:cNvPr>
              <p:cNvSpPr/>
              <p:nvPr/>
            </p:nvSpPr>
            <p:spPr>
              <a:xfrm>
                <a:off x="1155699" y="2117562"/>
                <a:ext cx="721201" cy="285913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rgbClr val="1D499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R" altLang="en-US"/>
              </a:p>
            </p:txBody>
          </p:sp>
        </p:grpSp>
        <p:pic>
          <p:nvPicPr>
            <p:cNvPr id="19" name="그림 18" descr="다채로움, 그래픽, 스크린샷, 그래픽 디자인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1B886EB4-EAD4-9AD6-432D-B4E5B689CB05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71805" y="2890490"/>
              <a:ext cx="522081" cy="150359"/>
            </a:xfrm>
            <a:prstGeom prst="rect">
              <a:avLst/>
            </a:prstGeom>
          </p:spPr>
        </p:pic>
      </p:grpSp>
      <p:grpSp>
        <p:nvGrpSpPr>
          <p:cNvPr id="49" name="그룹 48">
            <a:extLst>
              <a:ext uri="{FF2B5EF4-FFF2-40B4-BE49-F238E27FC236}">
                <a16:creationId xmlns:a16="http://schemas.microsoft.com/office/drawing/2014/main" id="{D667C460-D0E5-DDD7-ED98-55E9252E6A5A}"/>
              </a:ext>
            </a:extLst>
          </p:cNvPr>
          <p:cNvGrpSpPr/>
          <p:nvPr/>
        </p:nvGrpSpPr>
        <p:grpSpPr>
          <a:xfrm>
            <a:off x="8007493" y="3764775"/>
            <a:ext cx="1054660" cy="1157551"/>
            <a:chOff x="10185793" y="1662943"/>
            <a:chExt cx="1054660" cy="1157551"/>
          </a:xfrm>
        </p:grpSpPr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531BFA2B-4D72-0394-C05C-680D434EE955}"/>
                </a:ext>
              </a:extLst>
            </p:cNvPr>
            <p:cNvSpPr txBox="1"/>
            <p:nvPr/>
          </p:nvSpPr>
          <p:spPr>
            <a:xfrm>
              <a:off x="10664654" y="1662943"/>
              <a:ext cx="57579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ko-KR" altLang="en-US" dirty="0">
                  <a:latin typeface="GyeonggiTitle Bold" panose="02020803020101020101" pitchFamily="18" charset="-127"/>
                  <a:ea typeface="GyeonggiTitle Bold" panose="02020803020101020101" pitchFamily="18" charset="-127"/>
                </a:rPr>
                <a:t>유저</a:t>
              </a:r>
            </a:p>
          </p:txBody>
        </p:sp>
        <p:pic>
          <p:nvPicPr>
            <p:cNvPr id="53" name="그림 52" descr="블랙, 어둠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B02E4E9B-172F-4EF0-C831-838F617DB850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185793" y="1923847"/>
              <a:ext cx="896647" cy="896647"/>
            </a:xfrm>
            <a:prstGeom prst="rect">
              <a:avLst/>
            </a:prstGeom>
          </p:spPr>
        </p:pic>
      </p:grpSp>
      <p:sp>
        <p:nvSpPr>
          <p:cNvPr id="46" name="TextBox 45">
            <a:extLst>
              <a:ext uri="{FF2B5EF4-FFF2-40B4-BE49-F238E27FC236}">
                <a16:creationId xmlns:a16="http://schemas.microsoft.com/office/drawing/2014/main" id="{114CED9A-D591-1F68-B08E-FA105609D372}"/>
              </a:ext>
            </a:extLst>
          </p:cNvPr>
          <p:cNvSpPr txBox="1"/>
          <p:nvPr/>
        </p:nvSpPr>
        <p:spPr>
          <a:xfrm>
            <a:off x="8007493" y="5016899"/>
            <a:ext cx="356585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GYEONGGITITLEOTF LIGHT" panose="02020403020101020101" pitchFamily="18" charset="-127"/>
                <a:ea typeface="GYEONGGITITLEOTF LIGHT" panose="02020403020101020101" pitchFamily="18" charset="-127"/>
              </a:rPr>
              <a:t>-</a:t>
            </a:r>
            <a:r>
              <a:rPr lang="ko-KR" altLang="en-US" b="1" dirty="0">
                <a:latin typeface="GYEONGGITITLEOTF LIGHT" panose="02020403020101020101" pitchFamily="18" charset="-127"/>
                <a:ea typeface="GYEONGGITITLEOTF LIGHT" panose="02020403020101020101" pitchFamily="18" charset="-127"/>
              </a:rPr>
              <a:t> 특정 타입 캐릭터의 필수 기용</a:t>
            </a:r>
            <a:r>
              <a:rPr lang="en-US" altLang="ko-KR" b="1" dirty="0">
                <a:latin typeface="GYEONGGITITLEOTF LIGHT" panose="02020403020101020101" pitchFamily="18" charset="-127"/>
                <a:ea typeface="GYEONGGITITLEOTF LIGHT" panose="02020403020101020101" pitchFamily="18" charset="-127"/>
              </a:rPr>
              <a:t>:</a:t>
            </a:r>
            <a:r>
              <a:rPr lang="ko-KR" altLang="en-US" dirty="0">
                <a:latin typeface="GyeonggiTitleOTF Light" panose="02020403020101020101" pitchFamily="18" charset="-127"/>
                <a:ea typeface="GyeonggiTitleOTF Light" panose="02020403020101020101" pitchFamily="18" charset="-127"/>
              </a:rPr>
              <a:t> 각 타입과 약점속성에 맞는 캐릭터 기용</a:t>
            </a:r>
            <a:r>
              <a:rPr lang="en-US" altLang="ko-KR" dirty="0">
                <a:latin typeface="GyeonggiTitleOTF Light" panose="02020403020101020101" pitchFamily="18" charset="-127"/>
                <a:ea typeface="GyeonggiTitleOTF Light" panose="02020403020101020101" pitchFamily="18" charset="-127"/>
              </a:rPr>
              <a:t>. </a:t>
            </a:r>
          </a:p>
          <a:p>
            <a:r>
              <a:rPr lang="en-US" altLang="ko-KR" b="1" dirty="0">
                <a:latin typeface="GYEONGGITITLEOTF LIGHT" panose="02020403020101020101" pitchFamily="18" charset="-127"/>
                <a:ea typeface="GYEONGGITITLEOTF LIGHT" panose="02020403020101020101" pitchFamily="18" charset="-127"/>
              </a:rPr>
              <a:t>-</a:t>
            </a:r>
            <a:r>
              <a:rPr lang="ko-KR" altLang="en-US" b="1" dirty="0">
                <a:latin typeface="GYEONGGITITLEOTF LIGHT" panose="02020403020101020101" pitchFamily="18" charset="-127"/>
                <a:ea typeface="GYEONGGITITLEOTF LIGHT" panose="02020403020101020101" pitchFamily="18" charset="-127"/>
              </a:rPr>
              <a:t> 조합의 유동성</a:t>
            </a:r>
            <a:r>
              <a:rPr lang="en-US" altLang="ko-KR" b="1" dirty="0">
                <a:latin typeface="GYEONGGITITLEOTF LIGHT" panose="02020403020101020101" pitchFamily="18" charset="-127"/>
                <a:ea typeface="GYEONGGITITLEOTF LIGHT" panose="02020403020101020101" pitchFamily="18" charset="-127"/>
              </a:rPr>
              <a:t>:</a:t>
            </a:r>
            <a:r>
              <a:rPr lang="ko-KR" altLang="en-US" dirty="0">
                <a:latin typeface="GyeonggiTitleOTF Light" panose="02020403020101020101" pitchFamily="18" charset="-127"/>
                <a:ea typeface="GyeonggiTitleOTF Light" panose="02020403020101020101" pitchFamily="18" charset="-127"/>
              </a:rPr>
              <a:t> 매번 바뀌는 보스의 약점에 맞춰 </a:t>
            </a:r>
            <a:r>
              <a:rPr lang="en-US" altLang="ko-KR" dirty="0">
                <a:latin typeface="GyeonggiTitleOTF Light" panose="02020403020101020101" pitchFamily="18" charset="-127"/>
                <a:ea typeface="GyeonggiTitleOTF Light" panose="02020403020101020101" pitchFamily="18" charset="-127"/>
              </a:rPr>
              <a:t> 6</a:t>
            </a:r>
            <a:r>
              <a:rPr lang="ko-KR" altLang="en-US" dirty="0">
                <a:latin typeface="GyeonggiTitleOTF Light" panose="02020403020101020101" pitchFamily="18" charset="-127"/>
                <a:ea typeface="GyeonggiTitleOTF Light" panose="02020403020101020101" pitchFamily="18" charset="-127"/>
              </a:rPr>
              <a:t>명의 학생조합을 최적화</a:t>
            </a:r>
            <a:endParaRPr lang="en-US" altLang="ko-KR" dirty="0">
              <a:latin typeface="GyeonggiTitleOTF Light" panose="02020403020101020101" pitchFamily="18" charset="-127"/>
              <a:ea typeface="GyeonggiTitleOTF Light" panose="020204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7773428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82ED56D-0BA7-8FC1-C436-7DE788E049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에픽세븐 로고">
            <a:extLst>
              <a:ext uri="{FF2B5EF4-FFF2-40B4-BE49-F238E27FC236}">
                <a16:creationId xmlns:a16="http://schemas.microsoft.com/office/drawing/2014/main" id="{39E20DB4-D395-DA27-06F0-E26DF294FF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alphaModFix amt="17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37424" y="1015655"/>
            <a:ext cx="6774658" cy="48230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그림 1" descr="스케치, 그림, 블랙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6681B00-13AF-256F-7BFF-730524FCE466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6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4077263" y="1806289"/>
            <a:ext cx="3989240" cy="391637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4BCDF8E-E50E-DA13-ED9A-0A307E1B90BD}"/>
              </a:ext>
            </a:extLst>
          </p:cNvPr>
          <p:cNvSpPr txBox="1"/>
          <p:nvPr/>
        </p:nvSpPr>
        <p:spPr>
          <a:xfrm>
            <a:off x="1437639" y="656855"/>
            <a:ext cx="7646931" cy="9079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500" dirty="0">
                <a:latin typeface="경기천년제목VOTF Bold" panose="02020803020101020101" pitchFamily="18" charset="-127"/>
                <a:ea typeface="경기천년제목VOTF Bold" panose="02020803020101020101" pitchFamily="18" charset="-127"/>
              </a:rPr>
              <a:t>메타 순환 모범사례</a:t>
            </a:r>
            <a:endParaRPr lang="en-US" altLang="ko-KR" sz="3500" dirty="0">
              <a:latin typeface="경기천년제목VOTF Bold" panose="02020803020101020101" pitchFamily="18" charset="-127"/>
              <a:ea typeface="경기천년제목VOTF Bold" panose="02020803020101020101" pitchFamily="18" charset="-127"/>
            </a:endParaRPr>
          </a:p>
          <a:p>
            <a:r>
              <a:rPr lang="ko-KR" altLang="en-US" dirty="0" err="1">
                <a:latin typeface="경기천년제목VOTF Bold" panose="02020803020101020101" pitchFamily="18" charset="-127"/>
                <a:ea typeface="경기천년제목VOTF Bold" panose="02020803020101020101" pitchFamily="18" charset="-127"/>
              </a:rPr>
              <a:t>에픽세븐의</a:t>
            </a:r>
            <a:r>
              <a:rPr lang="ko-KR" altLang="en-US" dirty="0">
                <a:latin typeface="경기천년제목VOTF Bold" panose="02020803020101020101" pitchFamily="18" charset="-127"/>
                <a:ea typeface="경기천년제목VOTF Bold" panose="02020803020101020101" pitchFamily="18" charset="-127"/>
              </a:rPr>
              <a:t> 메타 순환 </a:t>
            </a:r>
            <a:endParaRPr lang="en-US" altLang="ko-KR" dirty="0">
              <a:latin typeface="경기천년제목VOTF Bold" panose="02020803020101020101" pitchFamily="18" charset="-127"/>
              <a:ea typeface="경기천년제목VOTF Bold" panose="02020803020101020101" pitchFamily="18" charset="-127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FB4B32E-BA83-6E29-6EA1-63FA2E04F8B9}"/>
              </a:ext>
            </a:extLst>
          </p:cNvPr>
          <p:cNvSpPr txBox="1"/>
          <p:nvPr/>
        </p:nvSpPr>
        <p:spPr>
          <a:xfrm>
            <a:off x="5848109" y="6412606"/>
            <a:ext cx="55328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ko-KR" sz="1000" dirty="0">
                <a:latin typeface="GyeonggiTitle Bold" panose="02020803020101020101" pitchFamily="18" charset="-127"/>
                <a:ea typeface="GyeonggiTitle Bold" panose="02020803020101020101" pitchFamily="18" charset="-127"/>
              </a:rPr>
              <a:t>- 18 - </a:t>
            </a:r>
            <a:endParaRPr kumimoji="1" lang="ko-KR" altLang="en-US" sz="1000" dirty="0">
              <a:latin typeface="GyeonggiTitle Bold" panose="02020803020101020101" pitchFamily="18" charset="-127"/>
              <a:ea typeface="GyeonggiTitle Bold" panose="02020803020101020101" pitchFamily="18" charset="-127"/>
            </a:endParaRPr>
          </a:p>
        </p:txBody>
      </p:sp>
      <p:grpSp>
        <p:nvGrpSpPr>
          <p:cNvPr id="44" name="그룹 43">
            <a:extLst>
              <a:ext uri="{FF2B5EF4-FFF2-40B4-BE49-F238E27FC236}">
                <a16:creationId xmlns:a16="http://schemas.microsoft.com/office/drawing/2014/main" id="{40392669-F3A5-C9DB-6716-D58F5100CB9C}"/>
              </a:ext>
            </a:extLst>
          </p:cNvPr>
          <p:cNvGrpSpPr/>
          <p:nvPr/>
        </p:nvGrpSpPr>
        <p:grpSpPr>
          <a:xfrm>
            <a:off x="490748" y="1645530"/>
            <a:ext cx="5559609" cy="2824991"/>
            <a:chOff x="5446113" y="-3171416"/>
            <a:chExt cx="5588362" cy="2824991"/>
          </a:xfrm>
        </p:grpSpPr>
        <p:grpSp>
          <p:nvGrpSpPr>
            <p:cNvPr id="43" name="그룹 42">
              <a:extLst>
                <a:ext uri="{FF2B5EF4-FFF2-40B4-BE49-F238E27FC236}">
                  <a16:creationId xmlns:a16="http://schemas.microsoft.com/office/drawing/2014/main" id="{007A52A0-9D19-8151-1BF3-A086E0D55726}"/>
                </a:ext>
              </a:extLst>
            </p:cNvPr>
            <p:cNvGrpSpPr/>
            <p:nvPr/>
          </p:nvGrpSpPr>
          <p:grpSpPr>
            <a:xfrm>
              <a:off x="5446113" y="-3171416"/>
              <a:ext cx="5588362" cy="2732522"/>
              <a:chOff x="5446113" y="-3171416"/>
              <a:chExt cx="5588362" cy="2732522"/>
            </a:xfrm>
          </p:grpSpPr>
          <p:sp>
            <p:nvSpPr>
              <p:cNvPr id="15" name="모서리가 둥근 직사각형 14">
                <a:extLst>
                  <a:ext uri="{FF2B5EF4-FFF2-40B4-BE49-F238E27FC236}">
                    <a16:creationId xmlns:a16="http://schemas.microsoft.com/office/drawing/2014/main" id="{462C63DC-FCAF-CB98-9294-7B6F9D4B6786}"/>
                  </a:ext>
                </a:extLst>
              </p:cNvPr>
              <p:cNvSpPr/>
              <p:nvPr/>
            </p:nvSpPr>
            <p:spPr>
              <a:xfrm>
                <a:off x="6401397" y="-2129654"/>
                <a:ext cx="4443666" cy="1518988"/>
              </a:xfrm>
              <a:prstGeom prst="roundRect">
                <a:avLst/>
              </a:prstGeom>
              <a:solidFill>
                <a:schemeClr val="bg1">
                  <a:alpha val="36000"/>
                </a:schemeClr>
              </a:solidFill>
              <a:ln>
                <a:noFill/>
              </a:ln>
              <a:effectLst>
                <a:outerShdw blurRad="50800" dist="50800" dir="5400000" algn="ctr" rotWithShape="0">
                  <a:srgbClr val="000000">
                    <a:alpha val="0"/>
                  </a:srgb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R" altLang="en-US" dirty="0"/>
              </a:p>
            </p:txBody>
          </p:sp>
          <p:grpSp>
            <p:nvGrpSpPr>
              <p:cNvPr id="42" name="그룹 41">
                <a:extLst>
                  <a:ext uri="{FF2B5EF4-FFF2-40B4-BE49-F238E27FC236}">
                    <a16:creationId xmlns:a16="http://schemas.microsoft.com/office/drawing/2014/main" id="{E876D3E8-8EDA-004E-045F-B6FACB2EAFC1}"/>
                  </a:ext>
                </a:extLst>
              </p:cNvPr>
              <p:cNvGrpSpPr/>
              <p:nvPr/>
            </p:nvGrpSpPr>
            <p:grpSpPr>
              <a:xfrm>
                <a:off x="5446113" y="-3171416"/>
                <a:ext cx="5588362" cy="2732522"/>
                <a:chOff x="5490316" y="33948"/>
                <a:chExt cx="5588362" cy="2732522"/>
              </a:xfrm>
            </p:grpSpPr>
            <p:grpSp>
              <p:nvGrpSpPr>
                <p:cNvPr id="25" name="그룹 24">
                  <a:extLst>
                    <a:ext uri="{FF2B5EF4-FFF2-40B4-BE49-F238E27FC236}">
                      <a16:creationId xmlns:a16="http://schemas.microsoft.com/office/drawing/2014/main" id="{5401D378-16D3-FBDA-5A0F-75AC642D4352}"/>
                    </a:ext>
                  </a:extLst>
                </p:cNvPr>
                <p:cNvGrpSpPr/>
                <p:nvPr/>
              </p:nvGrpSpPr>
              <p:grpSpPr>
                <a:xfrm>
                  <a:off x="5490316" y="33948"/>
                  <a:ext cx="1575645" cy="1334906"/>
                  <a:chOff x="888918" y="1830399"/>
                  <a:chExt cx="1575645" cy="1334906"/>
                </a:xfrm>
              </p:grpSpPr>
              <p:grpSp>
                <p:nvGrpSpPr>
                  <p:cNvPr id="27" name="그룹 26">
                    <a:extLst>
                      <a:ext uri="{FF2B5EF4-FFF2-40B4-BE49-F238E27FC236}">
                        <a16:creationId xmlns:a16="http://schemas.microsoft.com/office/drawing/2014/main" id="{4C0F0F87-A831-C0C1-D4DC-FB45CE631658}"/>
                      </a:ext>
                    </a:extLst>
                  </p:cNvPr>
                  <p:cNvGrpSpPr/>
                  <p:nvPr/>
                </p:nvGrpSpPr>
                <p:grpSpPr>
                  <a:xfrm>
                    <a:off x="888918" y="1830399"/>
                    <a:ext cx="1575645" cy="1334906"/>
                    <a:chOff x="1180625" y="2054221"/>
                    <a:chExt cx="1341839" cy="1123136"/>
                  </a:xfrm>
                </p:grpSpPr>
                <p:pic>
                  <p:nvPicPr>
                    <p:cNvPr id="30" name="그림 29" descr="스크린샷, 블랙, 도표, 디자인이(가) 표시된 사진&#10;&#10;AI 생성 콘텐츠는 정확하지 않을 수 있습니다.">
                      <a:extLst>
                        <a:ext uri="{FF2B5EF4-FFF2-40B4-BE49-F238E27FC236}">
                          <a16:creationId xmlns:a16="http://schemas.microsoft.com/office/drawing/2014/main" id="{5D44DFC3-693D-E4F7-24A2-D94DD174D98A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6">
                      <a:duotone>
                        <a:schemeClr val="accent1">
                          <a:shade val="45000"/>
                          <a:satMod val="135000"/>
                        </a:schemeClr>
                        <a:prstClr val="white"/>
                      </a:duotone>
                      <a:extLst>
                        <a:ext uri="{BEBA8EAE-BF5A-486C-A8C5-ECC9F3942E4B}">
                          <a14:imgProps xmlns:a14="http://schemas.microsoft.com/office/drawing/2010/main">
                            <a14:imgLayer r:embed="rId7">
                              <a14:imgEffect>
                                <a14:saturation sat="199000"/>
                              </a14:imgEffect>
                            </a14:imgLayer>
                          </a14:imgProps>
                        </a:ex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tretch>
                      <a:fillRect/>
                    </a:stretch>
                  </p:blipFill>
                  <p:spPr>
                    <a:xfrm>
                      <a:off x="1180625" y="2280710"/>
                      <a:ext cx="1017030" cy="896647"/>
                    </a:xfrm>
                    <a:prstGeom prst="rect">
                      <a:avLst/>
                    </a:prstGeom>
                  </p:spPr>
                </p:pic>
                <p:sp>
                  <p:nvSpPr>
                    <p:cNvPr id="34" name="TextBox 33">
                      <a:extLst>
                        <a:ext uri="{FF2B5EF4-FFF2-40B4-BE49-F238E27FC236}">
                          <a16:creationId xmlns:a16="http://schemas.microsoft.com/office/drawing/2014/main" id="{FD5C1538-2FA5-88A5-8507-FEC0866A5402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933841" y="2054221"/>
                      <a:ext cx="588623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kumimoji="1" lang="ko-KR" altLang="en-US" dirty="0">
                          <a:latin typeface="GyeonggiTitle Bold" panose="02020803020101020101" pitchFamily="18" charset="-127"/>
                          <a:ea typeface="GyeonggiTitle Bold" panose="02020803020101020101" pitchFamily="18" charset="-127"/>
                        </a:rPr>
                        <a:t>회사</a:t>
                      </a:r>
                    </a:p>
                  </p:txBody>
                </p:sp>
              </p:grpSp>
              <p:sp>
                <p:nvSpPr>
                  <p:cNvPr id="28" name="직사각형 27">
                    <a:extLst>
                      <a:ext uri="{FF2B5EF4-FFF2-40B4-BE49-F238E27FC236}">
                        <a16:creationId xmlns:a16="http://schemas.microsoft.com/office/drawing/2014/main" id="{94FA8907-77DF-E7F9-28B2-AF0ABEB15613}"/>
                      </a:ext>
                    </a:extLst>
                  </p:cNvPr>
                  <p:cNvSpPr/>
                  <p:nvPr/>
                </p:nvSpPr>
                <p:spPr>
                  <a:xfrm>
                    <a:off x="1155699" y="2117562"/>
                    <a:ext cx="721201" cy="285913"/>
                  </a:xfrm>
                  <a:prstGeom prst="rect">
                    <a:avLst/>
                  </a:prstGeom>
                  <a:solidFill>
                    <a:schemeClr val="bg1"/>
                  </a:solidFill>
                  <a:ln w="38100">
                    <a:solidFill>
                      <a:srgbClr val="1D4999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ko-KR" altLang="en-US"/>
                  </a:p>
                </p:txBody>
              </p:sp>
            </p:grpSp>
            <p:pic>
              <p:nvPicPr>
                <p:cNvPr id="41" name="그림 40" descr="스크린샷, 블랙, 라인, 그래픽이(가) 표시된 사진&#10;&#10;AI 생성 콘텐츠는 정확하지 않을 수 있습니다.">
                  <a:extLst>
                    <a:ext uri="{FF2B5EF4-FFF2-40B4-BE49-F238E27FC236}">
                      <a16:creationId xmlns:a16="http://schemas.microsoft.com/office/drawing/2014/main" id="{A6186D91-FBC4-13B2-DF91-2F2D3E50B1A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8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13799" t="31178" r="4696" b="6035"/>
                <a:stretch>
                  <a:fillRect/>
                </a:stretch>
              </p:blipFill>
              <p:spPr>
                <a:xfrm>
                  <a:off x="6263322" y="903938"/>
                  <a:ext cx="4815356" cy="1862532"/>
                </a:xfrm>
                <a:prstGeom prst="rect">
                  <a:avLst/>
                </a:prstGeom>
              </p:spPr>
            </p:pic>
          </p:grpSp>
        </p:grp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7F39509E-651D-F74D-D444-DAAE9FAFD70C}"/>
                </a:ext>
              </a:extLst>
            </p:cNvPr>
            <p:cNvSpPr txBox="1"/>
            <p:nvPr/>
          </p:nvSpPr>
          <p:spPr>
            <a:xfrm>
              <a:off x="6612638" y="-2100751"/>
              <a:ext cx="4260142" cy="175432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eaLnBrk="0" fontAlgn="base" latinLnBrk="0" hangingPunct="0">
                <a:spcBef>
                  <a:spcPct val="0"/>
                </a:spcBef>
                <a:spcAft>
                  <a:spcPct val="0"/>
                </a:spcAft>
              </a:pPr>
              <a:r>
                <a:rPr lang="ko-KR" altLang="ko-KR" dirty="0">
                  <a:latin typeface="GyeonggiTitleOTF Light" panose="02020403020101020101" pitchFamily="18" charset="-127"/>
                  <a:ea typeface="GyeonggiTitleOTF Light" panose="02020403020101020101" pitchFamily="18" charset="-127"/>
                </a:rPr>
                <a:t>회사는 일정 주기로 영웅 능력 조정(밸런스 패치)을 진행</a:t>
              </a:r>
            </a:p>
            <a:p>
              <a:pPr lvl="0" eaLnBrk="0" fontAlgn="base" latinLnBrk="0" hangingPunct="0">
                <a:spcBef>
                  <a:spcPct val="0"/>
                </a:spcBef>
                <a:spcAft>
                  <a:spcPct val="0"/>
                </a:spcAft>
              </a:pPr>
              <a:r>
                <a:rPr lang="ko-KR" altLang="ko-KR" dirty="0">
                  <a:latin typeface="GyeonggiTitleOTF Light" panose="02020403020101020101" pitchFamily="18" charset="-127"/>
                  <a:ea typeface="GyeonggiTitleOTF Light" panose="02020403020101020101" pitchFamily="18" charset="-127"/>
                </a:rPr>
                <a:t>특정 영웅이 너무 강해지면 능력을 조정하거나</a:t>
              </a:r>
              <a:br>
                <a:rPr lang="ko-KR" altLang="ko-KR" dirty="0">
                  <a:latin typeface="GyeonggiTitleOTF Light" panose="02020403020101020101" pitchFamily="18" charset="-127"/>
                  <a:ea typeface="GyeonggiTitleOTF Light" panose="02020403020101020101" pitchFamily="18" charset="-127"/>
                </a:rPr>
              </a:br>
              <a:r>
                <a:rPr lang="ko-KR" altLang="ko-KR" dirty="0">
                  <a:latin typeface="GyeonggiTitleOTF Light" panose="02020403020101020101" pitchFamily="18" charset="-127"/>
                  <a:ea typeface="GyeonggiTitleOTF Light" panose="02020403020101020101" pitchFamily="18" charset="-127"/>
                </a:rPr>
                <a:t>새로운 </a:t>
              </a:r>
              <a:r>
                <a:rPr lang="ko-KR" altLang="ko-KR" dirty="0" err="1">
                  <a:latin typeface="GyeonggiTitleOTF Light" panose="02020403020101020101" pitchFamily="18" charset="-127"/>
                  <a:ea typeface="GyeonggiTitleOTF Light" panose="02020403020101020101" pitchFamily="18" charset="-127"/>
                </a:rPr>
                <a:t>영웅·장비</a:t>
              </a:r>
              <a:r>
                <a:rPr lang="ko-KR" altLang="ko-KR" dirty="0">
                  <a:latin typeface="GyeonggiTitleOTF Light" panose="02020403020101020101" pitchFamily="18" charset="-127"/>
                  <a:ea typeface="GyeonggiTitleOTF Light" panose="02020403020101020101" pitchFamily="18" charset="-127"/>
                </a:rPr>
                <a:t>(</a:t>
              </a:r>
              <a:r>
                <a:rPr lang="ko-KR" altLang="ko-KR" dirty="0" err="1">
                  <a:latin typeface="GyeonggiTitleOTF Light" panose="02020403020101020101" pitchFamily="18" charset="-127"/>
                  <a:ea typeface="GyeonggiTitleOTF Light" panose="02020403020101020101" pitchFamily="18" charset="-127"/>
                </a:rPr>
                <a:t>아티팩트</a:t>
              </a:r>
              <a:r>
                <a:rPr lang="ko-KR" altLang="ko-KR" dirty="0">
                  <a:latin typeface="GyeonggiTitleOTF Light" panose="02020403020101020101" pitchFamily="18" charset="-127"/>
                  <a:ea typeface="GyeonggiTitleOTF Light" panose="02020403020101020101" pitchFamily="18" charset="-127"/>
                </a:rPr>
                <a:t>)</a:t>
              </a:r>
              <a:r>
                <a:rPr lang="ko-KR" altLang="ko-KR" dirty="0" err="1">
                  <a:latin typeface="GyeonggiTitleOTF Light" panose="02020403020101020101" pitchFamily="18" charset="-127"/>
                  <a:ea typeface="GyeonggiTitleOTF Light" panose="02020403020101020101" pitchFamily="18" charset="-127"/>
                </a:rPr>
                <a:t>를</a:t>
              </a:r>
              <a:r>
                <a:rPr lang="ko-KR" altLang="ko-KR" dirty="0">
                  <a:latin typeface="GyeonggiTitleOTF Light" panose="02020403020101020101" pitchFamily="18" charset="-127"/>
                  <a:ea typeface="GyeonggiTitleOTF Light" panose="02020403020101020101" pitchFamily="18" charset="-127"/>
                </a:rPr>
                <a:t> 출시해 새로운 조합을 만들 수 있게 함</a:t>
              </a:r>
            </a:p>
            <a:p>
              <a:endParaRPr kumimoji="1" lang="ko-KR" altLang="en-US" dirty="0">
                <a:latin typeface="GyeonggiTitleOTF Light" panose="02020403020101020101" pitchFamily="18" charset="-127"/>
                <a:ea typeface="GyeonggiTitleOTF Light" panose="02020403020101020101" pitchFamily="18" charset="-127"/>
              </a:endParaRPr>
            </a:p>
          </p:txBody>
        </p:sp>
      </p:grpSp>
      <p:grpSp>
        <p:nvGrpSpPr>
          <p:cNvPr id="50" name="그룹 49">
            <a:extLst>
              <a:ext uri="{FF2B5EF4-FFF2-40B4-BE49-F238E27FC236}">
                <a16:creationId xmlns:a16="http://schemas.microsoft.com/office/drawing/2014/main" id="{F2509C00-5406-DD3C-7F00-F255346C3C4E}"/>
              </a:ext>
            </a:extLst>
          </p:cNvPr>
          <p:cNvGrpSpPr/>
          <p:nvPr/>
        </p:nvGrpSpPr>
        <p:grpSpPr>
          <a:xfrm>
            <a:off x="6894639" y="415635"/>
            <a:ext cx="5119045" cy="3348843"/>
            <a:chOff x="7421586" y="576938"/>
            <a:chExt cx="5119045" cy="3348843"/>
          </a:xfrm>
        </p:grpSpPr>
        <p:grpSp>
          <p:nvGrpSpPr>
            <p:cNvPr id="48" name="그룹 47">
              <a:extLst>
                <a:ext uri="{FF2B5EF4-FFF2-40B4-BE49-F238E27FC236}">
                  <a16:creationId xmlns:a16="http://schemas.microsoft.com/office/drawing/2014/main" id="{AAFEB375-6D78-27D5-7B72-7ED1F62FDB27}"/>
                </a:ext>
              </a:extLst>
            </p:cNvPr>
            <p:cNvGrpSpPr/>
            <p:nvPr/>
          </p:nvGrpSpPr>
          <p:grpSpPr>
            <a:xfrm>
              <a:off x="7421586" y="576938"/>
              <a:ext cx="5119045" cy="3348843"/>
              <a:chOff x="6445702" y="707567"/>
              <a:chExt cx="4459561" cy="3048305"/>
            </a:xfrm>
          </p:grpSpPr>
          <p:grpSp>
            <p:nvGrpSpPr>
              <p:cNvPr id="9" name="그룹 8">
                <a:extLst>
                  <a:ext uri="{FF2B5EF4-FFF2-40B4-BE49-F238E27FC236}">
                    <a16:creationId xmlns:a16="http://schemas.microsoft.com/office/drawing/2014/main" id="{8262B31E-D609-02D9-37AC-5DBAEC46734D}"/>
                  </a:ext>
                </a:extLst>
              </p:cNvPr>
              <p:cNvGrpSpPr/>
              <p:nvPr/>
            </p:nvGrpSpPr>
            <p:grpSpPr>
              <a:xfrm>
                <a:off x="9704717" y="1149030"/>
                <a:ext cx="1184547" cy="1069576"/>
                <a:chOff x="10027770" y="3453618"/>
                <a:chExt cx="1184547" cy="1069576"/>
              </a:xfrm>
            </p:grpSpPr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283FCE7E-640B-FF67-CFA6-57140283FABC}"/>
                    </a:ext>
                  </a:extLst>
                </p:cNvPr>
                <p:cNvSpPr txBox="1"/>
                <p:nvPr/>
              </p:nvSpPr>
              <p:spPr>
                <a:xfrm>
                  <a:off x="10027770" y="3453618"/>
                  <a:ext cx="575799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kumimoji="1" lang="ko-KR" altLang="en-US" dirty="0">
                      <a:latin typeface="GyeonggiTitle Bold" panose="02020803020101020101" pitchFamily="18" charset="-127"/>
                      <a:ea typeface="GyeonggiTitle Bold" panose="02020803020101020101" pitchFamily="18" charset="-127"/>
                    </a:rPr>
                    <a:t>유저</a:t>
                  </a:r>
                </a:p>
              </p:txBody>
            </p:sp>
            <p:pic>
              <p:nvPicPr>
                <p:cNvPr id="10" name="그림 9" descr="블랙, 어둠이(가) 표시된 사진&#10;&#10;AI 생성 콘텐츠는 정확하지 않을 수 있습니다.">
                  <a:extLst>
                    <a:ext uri="{FF2B5EF4-FFF2-40B4-BE49-F238E27FC236}">
                      <a16:creationId xmlns:a16="http://schemas.microsoft.com/office/drawing/2014/main" id="{C4089130-A01E-A0E7-13F8-5292653F683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9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0315670" y="3626547"/>
                  <a:ext cx="896647" cy="896647"/>
                </a:xfrm>
                <a:prstGeom prst="rect">
                  <a:avLst/>
                </a:prstGeom>
              </p:spPr>
            </p:pic>
          </p:grpSp>
          <p:pic>
            <p:nvPicPr>
              <p:cNvPr id="47" name="그림 46" descr="스크린샷, 블랙, 직사각형, 디자인이(가) 표시된 사진&#10;&#10;AI 생성 콘텐츠는 정확하지 않을 수 있습니다.">
                <a:extLst>
                  <a:ext uri="{FF2B5EF4-FFF2-40B4-BE49-F238E27FC236}">
                    <a16:creationId xmlns:a16="http://schemas.microsoft.com/office/drawing/2014/main" id="{6414E122-B2E2-3079-DC63-0A4119E32FA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445702" y="707567"/>
                <a:ext cx="4459561" cy="3048305"/>
              </a:xfrm>
              <a:prstGeom prst="rect">
                <a:avLst/>
              </a:prstGeom>
            </p:spPr>
          </p:pic>
        </p:grp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EED9A68A-55ED-FD17-1153-CB728A8880F8}"/>
                </a:ext>
              </a:extLst>
            </p:cNvPr>
            <p:cNvSpPr txBox="1"/>
            <p:nvPr/>
          </p:nvSpPr>
          <p:spPr>
            <a:xfrm>
              <a:off x="7879755" y="2050633"/>
              <a:ext cx="4202705" cy="175432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lvl="0" indent="-285750" eaLnBrk="0" fontAlgn="base" latinLnBrk="0" hangingPunct="0">
                <a:spcBef>
                  <a:spcPct val="0"/>
                </a:spcBef>
                <a:spcAft>
                  <a:spcPct val="0"/>
                </a:spcAft>
                <a:buFontTx/>
                <a:buChar char="-"/>
              </a:pPr>
              <a:r>
                <a:rPr lang="ko-KR" altLang="ko-KR" dirty="0">
                  <a:latin typeface="GyeonggiTitleOTF Light" panose="02020403020101020101" pitchFamily="18" charset="-127"/>
                  <a:ea typeface="GyeonggiTitleOTF Light" panose="02020403020101020101" pitchFamily="18" charset="-127"/>
                </a:rPr>
                <a:t>유저는 새롭게 나온 영웅이나 조정된 영웅을 활용해</a:t>
              </a:r>
              <a:r>
                <a:rPr lang="ko-KR" altLang="en-US" dirty="0">
                  <a:latin typeface="GyeonggiTitleOTF Light" panose="02020403020101020101" pitchFamily="18" charset="-127"/>
                  <a:ea typeface="GyeonggiTitleOTF Light" panose="02020403020101020101" pitchFamily="18" charset="-127"/>
                </a:rPr>
                <a:t> </a:t>
              </a:r>
              <a:r>
                <a:rPr lang="ko-KR" altLang="ko-KR" dirty="0">
                  <a:latin typeface="GyeonggiTitleOTF Light" panose="02020403020101020101" pitchFamily="18" charset="-127"/>
                  <a:ea typeface="GyeonggiTitleOTF Light" panose="02020403020101020101" pitchFamily="18" charset="-127"/>
                </a:rPr>
                <a:t>가장 효율적인 조합을 연</a:t>
              </a:r>
              <a:r>
                <a:rPr lang="ko-KR" altLang="en-US" dirty="0">
                  <a:latin typeface="GyeonggiTitleOTF Light" panose="02020403020101020101" pitchFamily="18" charset="-127"/>
                  <a:ea typeface="GyeonggiTitleOTF Light" panose="02020403020101020101" pitchFamily="18" charset="-127"/>
                </a:rPr>
                <a:t>구</a:t>
              </a:r>
              <a:r>
                <a:rPr lang="en-US" altLang="ko-KR" dirty="0">
                  <a:latin typeface="GyeonggiTitleOTF Light" panose="02020403020101020101" pitchFamily="18" charset="-127"/>
                  <a:ea typeface="GyeonggiTitleOTF Light" panose="02020403020101020101" pitchFamily="18" charset="-127"/>
                </a:rPr>
                <a:t>.</a:t>
              </a:r>
              <a:endParaRPr lang="ko-KR" altLang="ko-KR" dirty="0">
                <a:latin typeface="GyeonggiTitleOTF Light" panose="02020403020101020101" pitchFamily="18" charset="-127"/>
                <a:ea typeface="GyeonggiTitleOTF Light" panose="02020403020101020101" pitchFamily="18" charset="-127"/>
              </a:endParaRPr>
            </a:p>
            <a:p>
              <a:pPr lvl="0" eaLnBrk="0" fontAlgn="base" latinLnBrk="0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ko-KR" dirty="0">
                  <a:latin typeface="GyeonggiTitleOTF Light" panose="02020403020101020101" pitchFamily="18" charset="-127"/>
                  <a:ea typeface="GyeonggiTitleOTF Light" panose="02020403020101020101" pitchFamily="18" charset="-127"/>
                </a:rPr>
                <a:t>-</a:t>
              </a:r>
              <a:r>
                <a:rPr lang="ko-KR" altLang="en-US" dirty="0">
                  <a:latin typeface="GyeonggiTitleOTF Light" panose="02020403020101020101" pitchFamily="18" charset="-127"/>
                  <a:ea typeface="GyeonggiTitleOTF Light" panose="02020403020101020101" pitchFamily="18" charset="-127"/>
                </a:rPr>
                <a:t> </a:t>
              </a:r>
              <a:r>
                <a:rPr lang="ko-KR" altLang="ko-KR" dirty="0" err="1">
                  <a:latin typeface="GyeonggiTitleOTF Light" panose="02020403020101020101" pitchFamily="18" charset="-127"/>
                  <a:ea typeface="GyeonggiTitleOTF Light" panose="02020403020101020101" pitchFamily="18" charset="-127"/>
                </a:rPr>
                <a:t>PvP</a:t>
              </a:r>
              <a:r>
                <a:rPr lang="ko-KR" altLang="ko-KR" dirty="0">
                  <a:latin typeface="GyeonggiTitleOTF Light" panose="02020403020101020101" pitchFamily="18" charset="-127"/>
                  <a:ea typeface="GyeonggiTitleOTF Light" panose="02020403020101020101" pitchFamily="18" charset="-127"/>
                </a:rPr>
                <a:t>(월드 아레나) 경쟁에서 이기기 위해</a:t>
              </a:r>
              <a:r>
                <a:rPr lang="ko-KR" altLang="en-US" dirty="0">
                  <a:latin typeface="GyeonggiTitleOTF Light" panose="02020403020101020101" pitchFamily="18" charset="-127"/>
                  <a:ea typeface="GyeonggiTitleOTF Light" panose="02020403020101020101" pitchFamily="18" charset="-127"/>
                </a:rPr>
                <a:t> </a:t>
              </a:r>
              <a:r>
                <a:rPr lang="ko-KR" altLang="ko-KR" b="1" dirty="0" err="1">
                  <a:latin typeface="GYEONGGITITLEOTF LIGHT" panose="02020403020101020101" pitchFamily="18" charset="-127"/>
                  <a:ea typeface="GYEONGGITITLEOTF LIGHT" panose="02020403020101020101" pitchFamily="18" charset="-127"/>
                </a:rPr>
                <a:t>속도·상성·특수</a:t>
              </a:r>
              <a:r>
                <a:rPr lang="ko-KR" altLang="ko-KR" b="1" dirty="0">
                  <a:latin typeface="GYEONGGITITLEOTF LIGHT" panose="02020403020101020101" pitchFamily="18" charset="-127"/>
                  <a:ea typeface="GYEONGGITITLEOTF LIGHT" panose="02020403020101020101" pitchFamily="18" charset="-127"/>
                </a:rPr>
                <a:t> 스킬</a:t>
              </a:r>
              <a:r>
                <a:rPr lang="ko-KR" altLang="ko-KR" dirty="0">
                  <a:latin typeface="GyeonggiTitleOTF Light" panose="02020403020101020101" pitchFamily="18" charset="-127"/>
                  <a:ea typeface="GyeonggiTitleOTF Light" panose="02020403020101020101" pitchFamily="18" charset="-127"/>
                </a:rPr>
                <a:t> 기반으로 다양한 조합을 시도함</a:t>
              </a:r>
            </a:p>
            <a:p>
              <a:endParaRPr kumimoji="1" lang="ko-KR" altLang="en-US" dirty="0"/>
            </a:p>
          </p:txBody>
        </p:sp>
      </p:grpSp>
      <p:sp>
        <p:nvSpPr>
          <p:cNvPr id="31" name="TextBox 30">
            <a:extLst>
              <a:ext uri="{FF2B5EF4-FFF2-40B4-BE49-F238E27FC236}">
                <a16:creationId xmlns:a16="http://schemas.microsoft.com/office/drawing/2014/main" id="{42E64D13-A7CB-9988-61DD-CB792919B18F}"/>
              </a:ext>
            </a:extLst>
          </p:cNvPr>
          <p:cNvSpPr txBox="1"/>
          <p:nvPr/>
        </p:nvSpPr>
        <p:spPr>
          <a:xfrm>
            <a:off x="2527460" y="5332677"/>
            <a:ext cx="7747873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000" b="1" dirty="0" err="1">
                <a:latin typeface="GyeonggiTitle Bold" panose="02020803020101020101" pitchFamily="18" charset="-127"/>
                <a:ea typeface="GyeonggiTitle Bold" panose="02020803020101020101" pitchFamily="18" charset="-127"/>
              </a:rPr>
              <a:t>에픽세븐은</a:t>
            </a:r>
            <a:r>
              <a:rPr lang="ko-KR" altLang="en-US" sz="2000" b="1" dirty="0">
                <a:latin typeface="GyeonggiTitle Bold" panose="02020803020101020101" pitchFamily="18" charset="-127"/>
                <a:ea typeface="GyeonggiTitle Bold" panose="02020803020101020101" pitchFamily="18" charset="-127"/>
              </a:rPr>
              <a:t> 정기적인 밸런스 조정과 신규 영웅 출시</a:t>
            </a:r>
            <a:r>
              <a:rPr lang="en-US" altLang="ko-KR" sz="2000" b="1" dirty="0">
                <a:latin typeface="GyeonggiTitle Bold" panose="02020803020101020101" pitchFamily="18" charset="-127"/>
                <a:ea typeface="GyeonggiTitle Bold" panose="02020803020101020101" pitchFamily="18" charset="-127"/>
              </a:rPr>
              <a:t>, </a:t>
            </a:r>
            <a:r>
              <a:rPr lang="ko-KR" altLang="en-US" sz="2000" b="1" dirty="0" err="1">
                <a:latin typeface="GyeonggiTitle Bold" panose="02020803020101020101" pitchFamily="18" charset="-127"/>
                <a:ea typeface="GyeonggiTitle Bold" panose="02020803020101020101" pitchFamily="18" charset="-127"/>
              </a:rPr>
              <a:t>시즌제</a:t>
            </a:r>
            <a:r>
              <a:rPr lang="ko-KR" altLang="en-US" sz="2000" b="1" dirty="0">
                <a:latin typeface="GyeonggiTitle Bold" panose="02020803020101020101" pitchFamily="18" charset="-127"/>
                <a:ea typeface="GyeonggiTitle Bold" panose="02020803020101020101" pitchFamily="18" charset="-127"/>
              </a:rPr>
              <a:t> </a:t>
            </a:r>
            <a:r>
              <a:rPr lang="en" altLang="ko-KR" sz="2000" b="1" dirty="0">
                <a:latin typeface="GyeonggiTitle Bold" panose="02020803020101020101" pitchFamily="18" charset="-127"/>
                <a:ea typeface="GyeonggiTitle Bold" panose="02020803020101020101" pitchFamily="18" charset="-127"/>
              </a:rPr>
              <a:t>PvP </a:t>
            </a:r>
            <a:r>
              <a:rPr lang="ko-KR" altLang="en-US" sz="2000" b="1" dirty="0">
                <a:latin typeface="GyeonggiTitle Bold" panose="02020803020101020101" pitchFamily="18" charset="-127"/>
                <a:ea typeface="GyeonggiTitle Bold" panose="02020803020101020101" pitchFamily="18" charset="-127"/>
              </a:rPr>
              <a:t>환경 덕분에</a:t>
            </a:r>
            <a:br>
              <a:rPr lang="ko-KR" altLang="en-US" sz="2000" b="1" dirty="0">
                <a:latin typeface="GyeonggiTitle Bold" panose="02020803020101020101" pitchFamily="18" charset="-127"/>
                <a:ea typeface="GyeonggiTitle Bold" panose="02020803020101020101" pitchFamily="18" charset="-127"/>
              </a:rPr>
            </a:br>
            <a:r>
              <a:rPr lang="ko-KR" altLang="en-US" sz="2000" b="1" dirty="0">
                <a:latin typeface="GyeonggiTitle Bold" panose="02020803020101020101" pitchFamily="18" charset="-127"/>
                <a:ea typeface="GyeonggiTitle Bold" panose="02020803020101020101" pitchFamily="18" charset="-127"/>
              </a:rPr>
              <a:t>특정 조합이 독점하지 않고</a:t>
            </a:r>
            <a:r>
              <a:rPr lang="en-US" altLang="ko-KR" sz="2000" b="1" dirty="0">
                <a:latin typeface="GyeonggiTitle Bold" panose="02020803020101020101" pitchFamily="18" charset="-127"/>
                <a:ea typeface="GyeonggiTitle Bold" panose="02020803020101020101" pitchFamily="18" charset="-127"/>
              </a:rPr>
              <a:t>, </a:t>
            </a:r>
            <a:r>
              <a:rPr lang="ko-KR" altLang="en-US" sz="2000" b="1" dirty="0">
                <a:latin typeface="GyeonggiTitle Bold" panose="02020803020101020101" pitchFamily="18" charset="-127"/>
                <a:ea typeface="GyeonggiTitle Bold" panose="02020803020101020101" pitchFamily="18" charset="-127"/>
              </a:rPr>
              <a:t>유저들이 여러 캐릭터를 활용하며 메타가 자연스럽게 순환되는 구조</a:t>
            </a:r>
            <a:r>
              <a:rPr lang="en-US" altLang="ko-KR" sz="2000" b="1" dirty="0">
                <a:latin typeface="GyeonggiTitle Bold" panose="02020803020101020101" pitchFamily="18" charset="-127"/>
                <a:ea typeface="GyeonggiTitle Bold" panose="02020803020101020101" pitchFamily="18" charset="-127"/>
              </a:rPr>
              <a:t>.</a:t>
            </a:r>
            <a:endParaRPr lang="ko-KR" altLang="en-US" sz="2000" b="1" dirty="0">
              <a:latin typeface="GyeonggiTitle Bold" panose="02020803020101020101" pitchFamily="18" charset="-127"/>
              <a:ea typeface="GyeonggiTitle Bold" panose="02020803020101020101" pitchFamily="18" charset="-127"/>
            </a:endParaRPr>
          </a:p>
        </p:txBody>
      </p:sp>
      <p:pic>
        <p:nvPicPr>
          <p:cNvPr id="3082" name="Picture 10" descr="hsof04qwAAAABJRU5ErkJggg== (505×100)">
            <a:extLst>
              <a:ext uri="{FF2B5EF4-FFF2-40B4-BE49-F238E27FC236}">
                <a16:creationId xmlns:a16="http://schemas.microsoft.com/office/drawing/2014/main" id="{43F94004-D951-4618-0ED4-C3807F16A6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9279" y="2022816"/>
            <a:ext cx="661443" cy="1309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6952544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DE61645-E3C5-4B82-2032-5660B7CD8F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668BBC3-5A77-B808-D966-D26BB992FE5E}"/>
              </a:ext>
            </a:extLst>
          </p:cNvPr>
          <p:cNvSpPr txBox="1"/>
          <p:nvPr/>
        </p:nvSpPr>
        <p:spPr>
          <a:xfrm>
            <a:off x="5848109" y="6412606"/>
            <a:ext cx="55328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ko-KR" sz="1000" dirty="0">
                <a:latin typeface="GyeonggiTitle Bold" panose="02020803020101020101" pitchFamily="18" charset="-127"/>
                <a:ea typeface="GyeonggiTitle Bold" panose="02020803020101020101" pitchFamily="18" charset="-127"/>
              </a:rPr>
              <a:t>- 19 - </a:t>
            </a:r>
            <a:endParaRPr kumimoji="1" lang="ko-KR" altLang="en-US" sz="1000" dirty="0">
              <a:latin typeface="GyeonggiTitle Bold" panose="02020803020101020101" pitchFamily="18" charset="-127"/>
              <a:ea typeface="GyeonggiTitle Bold" panose="02020803020101020101" pitchFamily="18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E6A8EC6-F7CF-EA60-EE7F-8EF0AD5582A8}"/>
              </a:ext>
            </a:extLst>
          </p:cNvPr>
          <p:cNvSpPr txBox="1"/>
          <p:nvPr/>
        </p:nvSpPr>
        <p:spPr>
          <a:xfrm>
            <a:off x="1072526" y="586716"/>
            <a:ext cx="4471937" cy="9079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500" dirty="0">
                <a:latin typeface="GyeonggiTitle Bold" panose="02020803020101020101" pitchFamily="18" charset="-127"/>
                <a:ea typeface="GyeonggiTitle Bold" panose="02020803020101020101" pitchFamily="18" charset="-127"/>
              </a:rPr>
              <a:t>결론</a:t>
            </a:r>
            <a:endParaRPr lang="en-US" altLang="ko-KR" sz="3500" dirty="0">
              <a:latin typeface="GyeonggiTitle Bold" panose="02020803020101020101" pitchFamily="18" charset="-127"/>
              <a:ea typeface="GyeonggiTitle Bold" panose="02020803020101020101" pitchFamily="18" charset="-127"/>
            </a:endParaRPr>
          </a:p>
          <a:p>
            <a:r>
              <a:rPr lang="ko-KR" altLang="en-US" dirty="0">
                <a:latin typeface="GyeonggiTitle Bold" panose="02020803020101020101" pitchFamily="18" charset="-127"/>
                <a:ea typeface="GyeonggiTitle Bold" panose="02020803020101020101" pitchFamily="18" charset="-127"/>
              </a:rPr>
              <a:t>영웅 및 메타 고착화에 대한 개선방안 </a:t>
            </a:r>
            <a:endParaRPr lang="en-US" altLang="ko-KR" dirty="0">
              <a:latin typeface="GyeonggiTitle Bold" panose="02020803020101020101" pitchFamily="18" charset="-127"/>
              <a:ea typeface="GyeonggiTitle Bold" panose="02020803020101020101" pitchFamily="18" charset="-127"/>
            </a:endParaRPr>
          </a:p>
        </p:txBody>
      </p:sp>
      <p:pic>
        <p:nvPicPr>
          <p:cNvPr id="1028" name="Picture 4" descr="플라튼(세븐나이츠 레볼루션) - 나무위키">
            <a:extLst>
              <a:ext uri="{FF2B5EF4-FFF2-40B4-BE49-F238E27FC236}">
                <a16:creationId xmlns:a16="http://schemas.microsoft.com/office/drawing/2014/main" id="{1B979923-EE53-3F7E-3439-4EE08B567E4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alphaModFix amt="49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540" r="11038"/>
          <a:stretch>
            <a:fillRect/>
          </a:stretch>
        </p:blipFill>
        <p:spPr bwMode="auto">
          <a:xfrm>
            <a:off x="4624672" y="179401"/>
            <a:ext cx="7369456" cy="52306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카일(세븐나이츠 레볼루션) (r2 판) - 나무위키">
            <a:extLst>
              <a:ext uri="{FF2B5EF4-FFF2-40B4-BE49-F238E27FC236}">
                <a16:creationId xmlns:a16="http://schemas.microsoft.com/office/drawing/2014/main" id="{F5C910C2-E790-6421-C689-5C41E472683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alphaModFix amt="49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5" r="10261"/>
          <a:stretch>
            <a:fillRect/>
          </a:stretch>
        </p:blipFill>
        <p:spPr bwMode="auto">
          <a:xfrm flipH="1">
            <a:off x="310320" y="1970624"/>
            <a:ext cx="5638801" cy="4887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5" name="아래쪽 화살표[D] 24">
            <a:extLst>
              <a:ext uri="{FF2B5EF4-FFF2-40B4-BE49-F238E27FC236}">
                <a16:creationId xmlns:a16="http://schemas.microsoft.com/office/drawing/2014/main" id="{A18EBE05-CF42-9439-16A6-386F076AA893}"/>
              </a:ext>
            </a:extLst>
          </p:cNvPr>
          <p:cNvSpPr/>
          <p:nvPr/>
        </p:nvSpPr>
        <p:spPr>
          <a:xfrm>
            <a:off x="5469737" y="2858067"/>
            <a:ext cx="1502076" cy="1306286"/>
          </a:xfrm>
          <a:prstGeom prst="downArrow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B23C9DB6-4D64-12BC-DA37-CB6091358B98}"/>
              </a:ext>
            </a:extLst>
          </p:cNvPr>
          <p:cNvGrpSpPr/>
          <p:nvPr/>
        </p:nvGrpSpPr>
        <p:grpSpPr>
          <a:xfrm>
            <a:off x="2066821" y="4269031"/>
            <a:ext cx="3872221" cy="1404754"/>
            <a:chOff x="3001591" y="4235119"/>
            <a:chExt cx="4501928" cy="1404754"/>
          </a:xfrm>
          <a:effectLst>
            <a:outerShdw blurRad="50800" dist="63500" dir="2700000" sx="99000" sy="99000" algn="ctr" rotWithShape="0">
              <a:srgbClr val="000000">
                <a:alpha val="60000"/>
              </a:srgbClr>
            </a:outerShdw>
          </a:effectLst>
        </p:grpSpPr>
        <p:grpSp>
          <p:nvGrpSpPr>
            <p:cNvPr id="27" name="그룹 26">
              <a:extLst>
                <a:ext uri="{FF2B5EF4-FFF2-40B4-BE49-F238E27FC236}">
                  <a16:creationId xmlns:a16="http://schemas.microsoft.com/office/drawing/2014/main" id="{432B2AE9-E70E-F271-176B-38F87DAB3C9B}"/>
                </a:ext>
              </a:extLst>
            </p:cNvPr>
            <p:cNvGrpSpPr/>
            <p:nvPr/>
          </p:nvGrpSpPr>
          <p:grpSpPr>
            <a:xfrm>
              <a:off x="3001591" y="4235119"/>
              <a:ext cx="4501928" cy="1404754"/>
              <a:chOff x="1477212" y="2024249"/>
              <a:chExt cx="2471057" cy="1404754"/>
            </a:xfrm>
          </p:grpSpPr>
          <p:grpSp>
            <p:nvGrpSpPr>
              <p:cNvPr id="28" name="그룹 27">
                <a:extLst>
                  <a:ext uri="{FF2B5EF4-FFF2-40B4-BE49-F238E27FC236}">
                    <a16:creationId xmlns:a16="http://schemas.microsoft.com/office/drawing/2014/main" id="{97FE2C6F-DCDB-D39F-5450-EBAEC29FE555}"/>
                  </a:ext>
                </a:extLst>
              </p:cNvPr>
              <p:cNvGrpSpPr/>
              <p:nvPr/>
            </p:nvGrpSpPr>
            <p:grpSpPr>
              <a:xfrm>
                <a:off x="1592054" y="2024249"/>
                <a:ext cx="2261490" cy="1404754"/>
                <a:chOff x="10220926" y="2458111"/>
                <a:chExt cx="1792437" cy="635580"/>
              </a:xfrm>
            </p:grpSpPr>
            <p:sp>
              <p:nvSpPr>
                <p:cNvPr id="30" name="대각선 방향의 모서리가 둥근 사각형 29">
                  <a:extLst>
                    <a:ext uri="{FF2B5EF4-FFF2-40B4-BE49-F238E27FC236}">
                      <a16:creationId xmlns:a16="http://schemas.microsoft.com/office/drawing/2014/main" id="{897C5877-41DD-70C5-8531-94B2BA4AC4D2}"/>
                    </a:ext>
                  </a:extLst>
                </p:cNvPr>
                <p:cNvSpPr/>
                <p:nvPr/>
              </p:nvSpPr>
              <p:spPr>
                <a:xfrm>
                  <a:off x="10220926" y="2481269"/>
                  <a:ext cx="1792436" cy="612422"/>
                </a:xfrm>
                <a:prstGeom prst="round2DiagRect">
                  <a:avLst>
                    <a:gd name="adj1" fmla="val 34781"/>
                    <a:gd name="adj2" fmla="val 0"/>
                  </a:avLst>
                </a:prstGeom>
                <a:solidFill>
                  <a:srgbClr val="DBD7D5"/>
                </a:solidFill>
                <a:ln w="25400">
                  <a:solidFill>
                    <a:srgbClr val="DFDCDA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ko-KR" altLang="en-US" sz="1600" b="1" dirty="0">
                    <a:solidFill>
                      <a:schemeClr val="tx1"/>
                    </a:solidFill>
                    <a:latin typeface="GYEONGGITITLEOTF LIGHT" panose="02020403020101020101" pitchFamily="18" charset="-127"/>
                    <a:ea typeface="GYEONGGITITLEOTF LIGHT" panose="02020403020101020101" pitchFamily="18" charset="-127"/>
                  </a:endParaRPr>
                </a:p>
              </p:txBody>
            </p:sp>
            <p:sp>
              <p:nvSpPr>
                <p:cNvPr id="31" name="대각선 방향의 모서리가 둥근 사각형 30">
                  <a:extLst>
                    <a:ext uri="{FF2B5EF4-FFF2-40B4-BE49-F238E27FC236}">
                      <a16:creationId xmlns:a16="http://schemas.microsoft.com/office/drawing/2014/main" id="{2C639B1F-7467-A598-0686-C5D4CCC10BDF}"/>
                    </a:ext>
                  </a:extLst>
                </p:cNvPr>
                <p:cNvSpPr/>
                <p:nvPr/>
              </p:nvSpPr>
              <p:spPr>
                <a:xfrm>
                  <a:off x="10220926" y="2458111"/>
                  <a:ext cx="1792437" cy="209653"/>
                </a:xfrm>
                <a:prstGeom prst="round2DiagRect">
                  <a:avLst>
                    <a:gd name="adj1" fmla="val 48374"/>
                    <a:gd name="adj2" fmla="val 0"/>
                  </a:avLst>
                </a:prstGeom>
                <a:solidFill>
                  <a:srgbClr val="393833"/>
                </a:solidFill>
                <a:ln>
                  <a:solidFill>
                    <a:srgbClr val="DFDCDA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kumimoji="1" lang="ko-KR" altLang="en-US" sz="1600" dirty="0">
                      <a:latin typeface="GyeonggiTitle Bold" panose="02020803020101020101" pitchFamily="18" charset="-127"/>
                      <a:ea typeface="GyeonggiTitle Bold" panose="02020803020101020101" pitchFamily="18" charset="-127"/>
                    </a:rPr>
                    <a:t>전략적 선택지 확장</a:t>
                  </a:r>
                </a:p>
              </p:txBody>
            </p:sp>
          </p:grpSp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711403E6-04A8-C099-FFB2-81519A60CB73}"/>
                  </a:ext>
                </a:extLst>
              </p:cNvPr>
              <p:cNvSpPr txBox="1"/>
              <p:nvPr/>
            </p:nvSpPr>
            <p:spPr>
              <a:xfrm>
                <a:off x="1477212" y="2425750"/>
                <a:ext cx="2471057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endParaRPr kumimoji="1" lang="ko-KR" altLang="en-US" sz="1400" dirty="0">
                  <a:latin typeface="GyeonggiTitleOTF Light" panose="02020403020101020101" pitchFamily="18" charset="-127"/>
                  <a:ea typeface="GyeonggiTitleOTF Light" panose="02020403020101020101" pitchFamily="18" charset="-127"/>
                </a:endParaRPr>
              </a:p>
            </p:txBody>
          </p:sp>
        </p:grp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638E4C6F-98AA-E9AA-AE0F-07A88E1DD6D7}"/>
                </a:ext>
              </a:extLst>
            </p:cNvPr>
            <p:cNvSpPr txBox="1"/>
            <p:nvPr/>
          </p:nvSpPr>
          <p:spPr>
            <a:xfrm>
              <a:off x="3226978" y="4694297"/>
              <a:ext cx="4078477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ko-KR" altLang="en-US" dirty="0">
                  <a:latin typeface="GyeonggiTitleOTF Light" panose="02020403020101020101" pitchFamily="18" charset="-127"/>
                  <a:ea typeface="GyeonggiTitleOTF Light" panose="02020403020101020101" pitchFamily="18" charset="-127"/>
                </a:rPr>
                <a:t>현재 결투장에서 사용되지 않는 </a:t>
              </a:r>
              <a:r>
                <a:rPr kumimoji="1" lang="ko-KR" altLang="en-US" b="1" dirty="0" err="1">
                  <a:solidFill>
                    <a:srgbClr val="7030A0"/>
                  </a:solidFill>
                  <a:latin typeface="GyeonggiTitleOTF Light" panose="02020403020101020101" pitchFamily="18" charset="-127"/>
                  <a:ea typeface="GyeonggiTitleOTF Light" panose="02020403020101020101" pitchFamily="18" charset="-127"/>
                </a:rPr>
                <a:t>즉사덱</a:t>
              </a:r>
              <a:r>
                <a:rPr kumimoji="1" lang="ko-KR" altLang="en-US" dirty="0" err="1">
                  <a:latin typeface="GyeonggiTitleOTF Light" panose="02020403020101020101" pitchFamily="18" charset="-127"/>
                  <a:ea typeface="GyeonggiTitleOTF Light" panose="02020403020101020101" pitchFamily="18" charset="-127"/>
                </a:rPr>
                <a:t>과</a:t>
              </a:r>
              <a:r>
                <a:rPr kumimoji="1" lang="ko-KR" altLang="en-US" dirty="0">
                  <a:latin typeface="GyeonggiTitleOTF Light" panose="02020403020101020101" pitchFamily="18" charset="-127"/>
                  <a:ea typeface="GyeonggiTitleOTF Light" panose="02020403020101020101" pitchFamily="18" charset="-127"/>
                </a:rPr>
                <a:t> </a:t>
              </a:r>
              <a:r>
                <a:rPr kumimoji="1" lang="ko-KR" altLang="en-US" b="1" dirty="0" err="1">
                  <a:solidFill>
                    <a:srgbClr val="1C5397"/>
                  </a:solidFill>
                  <a:latin typeface="GyeonggiTitleOTF Light" panose="02020403020101020101" pitchFamily="18" charset="-127"/>
                  <a:ea typeface="GyeonggiTitleOTF Light" panose="02020403020101020101" pitchFamily="18" charset="-127"/>
                </a:rPr>
                <a:t>마법덱</a:t>
              </a:r>
              <a:r>
                <a:rPr kumimoji="1" lang="ko-KR" altLang="en-US" dirty="0" err="1">
                  <a:latin typeface="GyeonggiTitleOTF Light" panose="02020403020101020101" pitchFamily="18" charset="-127"/>
                  <a:ea typeface="GyeonggiTitleOTF Light" panose="02020403020101020101" pitchFamily="18" charset="-127"/>
                </a:rPr>
                <a:t>의</a:t>
              </a:r>
              <a:r>
                <a:rPr kumimoji="1" lang="ko-KR" altLang="en-US" dirty="0">
                  <a:latin typeface="GyeonggiTitleOTF Light" panose="02020403020101020101" pitchFamily="18" charset="-127"/>
                  <a:ea typeface="GyeonggiTitleOTF Light" panose="02020403020101020101" pitchFamily="18" charset="-127"/>
                </a:rPr>
                <a:t> 주요 영웅 및 서브 영웅들의 </a:t>
              </a:r>
              <a:r>
                <a:rPr kumimoji="1" lang="ko-KR" altLang="en-US" b="1" dirty="0">
                  <a:latin typeface="GyeonggiTitleOTF Light" panose="02020403020101020101" pitchFamily="18" charset="-127"/>
                  <a:ea typeface="GyeonggiTitleOTF Light" panose="02020403020101020101" pitchFamily="18" charset="-127"/>
                </a:rPr>
                <a:t>능력치 </a:t>
              </a:r>
              <a:r>
                <a:rPr kumimoji="1" lang="ko-KR" altLang="en-US" b="1" dirty="0">
                  <a:latin typeface="GYEONGGITITLEOTF LIGHT" panose="02020403020101020101" pitchFamily="18" charset="-127"/>
                  <a:ea typeface="GYEONGGITITLEOTF LIGHT" panose="02020403020101020101" pitchFamily="18" charset="-127"/>
                </a:rPr>
                <a:t>조정</a:t>
              </a:r>
            </a:p>
          </p:txBody>
        </p:sp>
      </p:grpSp>
      <p:grpSp>
        <p:nvGrpSpPr>
          <p:cNvPr id="35" name="그룹 34">
            <a:extLst>
              <a:ext uri="{FF2B5EF4-FFF2-40B4-BE49-F238E27FC236}">
                <a16:creationId xmlns:a16="http://schemas.microsoft.com/office/drawing/2014/main" id="{D7781443-6EB6-EB87-EFCD-4A5D677606D8}"/>
              </a:ext>
            </a:extLst>
          </p:cNvPr>
          <p:cNvGrpSpPr/>
          <p:nvPr/>
        </p:nvGrpSpPr>
        <p:grpSpPr>
          <a:xfrm>
            <a:off x="6401397" y="4269031"/>
            <a:ext cx="3872221" cy="1404754"/>
            <a:chOff x="3001591" y="4235119"/>
            <a:chExt cx="4501928" cy="1404754"/>
          </a:xfrm>
          <a:effectLst>
            <a:outerShdw blurRad="50800" dist="63500" dir="2700000" sx="99000" sy="99000" algn="ctr" rotWithShape="0">
              <a:srgbClr val="000000">
                <a:alpha val="60000"/>
              </a:srgbClr>
            </a:outerShdw>
          </a:effectLst>
        </p:grpSpPr>
        <p:grpSp>
          <p:nvGrpSpPr>
            <p:cNvPr id="36" name="그룹 35">
              <a:extLst>
                <a:ext uri="{FF2B5EF4-FFF2-40B4-BE49-F238E27FC236}">
                  <a16:creationId xmlns:a16="http://schemas.microsoft.com/office/drawing/2014/main" id="{141CFE4F-5255-C4FA-1E5A-933D2F183CEB}"/>
                </a:ext>
              </a:extLst>
            </p:cNvPr>
            <p:cNvGrpSpPr/>
            <p:nvPr/>
          </p:nvGrpSpPr>
          <p:grpSpPr>
            <a:xfrm>
              <a:off x="3001591" y="4235119"/>
              <a:ext cx="4501928" cy="1404754"/>
              <a:chOff x="1477212" y="2024249"/>
              <a:chExt cx="2471057" cy="1404754"/>
            </a:xfrm>
          </p:grpSpPr>
          <p:grpSp>
            <p:nvGrpSpPr>
              <p:cNvPr id="38" name="그룹 37">
                <a:extLst>
                  <a:ext uri="{FF2B5EF4-FFF2-40B4-BE49-F238E27FC236}">
                    <a16:creationId xmlns:a16="http://schemas.microsoft.com/office/drawing/2014/main" id="{AB32BB46-EA6B-6C3F-F69E-E96C3377A919}"/>
                  </a:ext>
                </a:extLst>
              </p:cNvPr>
              <p:cNvGrpSpPr/>
              <p:nvPr/>
            </p:nvGrpSpPr>
            <p:grpSpPr>
              <a:xfrm>
                <a:off x="1592053" y="2024249"/>
                <a:ext cx="2261490" cy="1404754"/>
                <a:chOff x="10220925" y="2458111"/>
                <a:chExt cx="1792437" cy="635580"/>
              </a:xfrm>
            </p:grpSpPr>
            <p:sp>
              <p:nvSpPr>
                <p:cNvPr id="40" name="대각선 방향의 모서리가 둥근 사각형 39">
                  <a:extLst>
                    <a:ext uri="{FF2B5EF4-FFF2-40B4-BE49-F238E27FC236}">
                      <a16:creationId xmlns:a16="http://schemas.microsoft.com/office/drawing/2014/main" id="{BACF4A8E-07CA-FB50-BFF7-D79098D23F72}"/>
                    </a:ext>
                  </a:extLst>
                </p:cNvPr>
                <p:cNvSpPr/>
                <p:nvPr/>
              </p:nvSpPr>
              <p:spPr>
                <a:xfrm>
                  <a:off x="10220926" y="2481269"/>
                  <a:ext cx="1792436" cy="612422"/>
                </a:xfrm>
                <a:prstGeom prst="round2DiagRect">
                  <a:avLst>
                    <a:gd name="adj1" fmla="val 34781"/>
                    <a:gd name="adj2" fmla="val 0"/>
                  </a:avLst>
                </a:prstGeom>
                <a:solidFill>
                  <a:srgbClr val="DBD7D5"/>
                </a:solidFill>
                <a:ln w="25400">
                  <a:solidFill>
                    <a:srgbClr val="DFDCDA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ko-KR" altLang="en-US" sz="1600" b="1" dirty="0">
                    <a:solidFill>
                      <a:schemeClr val="tx1"/>
                    </a:solidFill>
                    <a:latin typeface="GYEONGGITITLEOTF LIGHT" panose="02020403020101020101" pitchFamily="18" charset="-127"/>
                    <a:ea typeface="GYEONGGITITLEOTF LIGHT" panose="02020403020101020101" pitchFamily="18" charset="-127"/>
                  </a:endParaRPr>
                </a:p>
              </p:txBody>
            </p:sp>
            <p:sp>
              <p:nvSpPr>
                <p:cNvPr id="41" name="대각선 방향의 모서리가 둥근 사각형 40">
                  <a:extLst>
                    <a:ext uri="{FF2B5EF4-FFF2-40B4-BE49-F238E27FC236}">
                      <a16:creationId xmlns:a16="http://schemas.microsoft.com/office/drawing/2014/main" id="{3531284E-BF16-7C1F-04E1-CF215C94E42D}"/>
                    </a:ext>
                  </a:extLst>
                </p:cNvPr>
                <p:cNvSpPr/>
                <p:nvPr/>
              </p:nvSpPr>
              <p:spPr>
                <a:xfrm>
                  <a:off x="10220925" y="2458111"/>
                  <a:ext cx="1792437" cy="209653"/>
                </a:xfrm>
                <a:prstGeom prst="round2DiagRect">
                  <a:avLst>
                    <a:gd name="adj1" fmla="val 48374"/>
                    <a:gd name="adj2" fmla="val 0"/>
                  </a:avLst>
                </a:prstGeom>
                <a:solidFill>
                  <a:srgbClr val="393833"/>
                </a:solidFill>
                <a:ln>
                  <a:solidFill>
                    <a:srgbClr val="DFDCDA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kumimoji="1" lang="ko-KR" altLang="en-US" sz="1600" dirty="0">
                      <a:latin typeface="GyeonggiTitle Bold" panose="02020803020101020101" pitchFamily="18" charset="-127"/>
                      <a:ea typeface="GyeonggiTitle Bold" panose="02020803020101020101" pitchFamily="18" charset="-127"/>
                    </a:rPr>
                    <a:t>메타 유동성을 위한 </a:t>
                  </a:r>
                  <a:r>
                    <a:rPr kumimoji="1" lang="ko-KR" altLang="en-US" sz="1600" dirty="0" err="1">
                      <a:latin typeface="GyeonggiTitle Bold" panose="02020803020101020101" pitchFamily="18" charset="-127"/>
                      <a:ea typeface="GyeonggiTitle Bold" panose="02020803020101020101" pitchFamily="18" charset="-127"/>
                    </a:rPr>
                    <a:t>시즌제</a:t>
                  </a:r>
                  <a:r>
                    <a:rPr kumimoji="1" lang="ko-KR" altLang="en-US" sz="1600" dirty="0">
                      <a:latin typeface="GyeonggiTitle Bold" panose="02020803020101020101" pitchFamily="18" charset="-127"/>
                      <a:ea typeface="GyeonggiTitle Bold" panose="02020803020101020101" pitchFamily="18" charset="-127"/>
                    </a:rPr>
                    <a:t> 룰</a:t>
                  </a:r>
                </a:p>
              </p:txBody>
            </p:sp>
          </p:grpSp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0C2381B8-5C42-EC78-2206-A63B21E7E0B9}"/>
                  </a:ext>
                </a:extLst>
              </p:cNvPr>
              <p:cNvSpPr txBox="1"/>
              <p:nvPr/>
            </p:nvSpPr>
            <p:spPr>
              <a:xfrm>
                <a:off x="1477212" y="2425750"/>
                <a:ext cx="2471057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endParaRPr kumimoji="1" lang="ko-KR" altLang="en-US" sz="1400" dirty="0">
                  <a:latin typeface="GyeonggiTitleOTF Light" panose="02020403020101020101" pitchFamily="18" charset="-127"/>
                  <a:ea typeface="GyeonggiTitleOTF Light" panose="02020403020101020101" pitchFamily="18" charset="-127"/>
                </a:endParaRPr>
              </a:p>
            </p:txBody>
          </p:sp>
        </p:grp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9E0A5F00-6822-4013-9341-3ED7F025B9FB}"/>
                </a:ext>
              </a:extLst>
            </p:cNvPr>
            <p:cNvSpPr txBox="1"/>
            <p:nvPr/>
          </p:nvSpPr>
          <p:spPr>
            <a:xfrm>
              <a:off x="3226978" y="4694297"/>
              <a:ext cx="4078477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dirty="0">
                  <a:latin typeface="GyeonggiTitleOTF Light" panose="02020403020101020101" pitchFamily="18" charset="-127"/>
                  <a:ea typeface="GyeonggiTitleOTF Light" panose="02020403020101020101" pitchFamily="18" charset="-127"/>
                </a:rPr>
                <a:t>시즌별 전장 효과나 </a:t>
              </a:r>
              <a:r>
                <a:rPr lang="ko-KR" altLang="en-US" dirty="0" err="1">
                  <a:latin typeface="GyeonggiTitleOTF Light" panose="02020403020101020101" pitchFamily="18" charset="-127"/>
                  <a:ea typeface="GyeonggiTitleOTF Light" panose="02020403020101020101" pitchFamily="18" charset="-127"/>
                </a:rPr>
                <a:t>밴픽과</a:t>
              </a:r>
              <a:r>
                <a:rPr lang="ko-KR" altLang="en-US" dirty="0">
                  <a:latin typeface="GyeonggiTitleOTF Light" panose="02020403020101020101" pitchFamily="18" charset="-127"/>
                  <a:ea typeface="GyeonggiTitleOTF Light" panose="02020403020101020101" pitchFamily="18" charset="-127"/>
                </a:rPr>
                <a:t> 같은 </a:t>
              </a:r>
              <a:r>
                <a:rPr lang="en-US" altLang="ko-KR" dirty="0">
                  <a:latin typeface="GyeonggiTitleOTF Light" panose="02020403020101020101" pitchFamily="18" charset="-127"/>
                  <a:ea typeface="GyeonggiTitleOTF Light" panose="02020403020101020101" pitchFamily="18" charset="-127"/>
                </a:rPr>
                <a:t>‘</a:t>
              </a:r>
              <a:r>
                <a:rPr lang="ko-KR" altLang="en-US" dirty="0">
                  <a:latin typeface="GyeonggiTitleOTF Light" panose="02020403020101020101" pitchFamily="18" charset="-127"/>
                  <a:ea typeface="GyeonggiTitleOTF Light" panose="02020403020101020101" pitchFamily="18" charset="-127"/>
                </a:rPr>
                <a:t>전략적 변수를</a:t>
              </a:r>
              <a:r>
                <a:rPr lang="en-US" altLang="ko-KR" dirty="0">
                  <a:latin typeface="GyeonggiTitleOTF Light" panose="02020403020101020101" pitchFamily="18" charset="-127"/>
                  <a:ea typeface="GyeonggiTitleOTF Light" panose="02020403020101020101" pitchFamily="18" charset="-127"/>
                </a:rPr>
                <a:t>’</a:t>
              </a:r>
              <a:r>
                <a:rPr lang="ko-KR" altLang="en-US" dirty="0">
                  <a:latin typeface="GyeonggiTitleOTF Light" panose="02020403020101020101" pitchFamily="18" charset="-127"/>
                  <a:ea typeface="GyeonggiTitleOTF Light" panose="02020403020101020101" pitchFamily="18" charset="-127"/>
                </a:rPr>
                <a:t> 도입하여 순환하는 메타 조성</a:t>
              </a:r>
              <a:endParaRPr kumimoji="1" lang="ko-KR" altLang="en-US" dirty="0">
                <a:latin typeface="GyeonggiTitleOTF Light" panose="02020403020101020101" pitchFamily="18" charset="-127"/>
                <a:ea typeface="GyeonggiTitleOTF Light" panose="02020403020101020101" pitchFamily="18" charset="-127"/>
              </a:endParaRPr>
            </a:p>
          </p:txBody>
        </p:sp>
      </p:grp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CFFD61F9-8C04-0714-793F-0111A7F8C503}"/>
              </a:ext>
            </a:extLst>
          </p:cNvPr>
          <p:cNvGrpSpPr/>
          <p:nvPr/>
        </p:nvGrpSpPr>
        <p:grpSpPr>
          <a:xfrm>
            <a:off x="2389604" y="1596563"/>
            <a:ext cx="7470298" cy="1529246"/>
            <a:chOff x="2396137" y="1615558"/>
            <a:chExt cx="7470298" cy="1529246"/>
          </a:xfrm>
        </p:grpSpPr>
        <p:grpSp>
          <p:nvGrpSpPr>
            <p:cNvPr id="11" name="그룹 10">
              <a:extLst>
                <a:ext uri="{FF2B5EF4-FFF2-40B4-BE49-F238E27FC236}">
                  <a16:creationId xmlns:a16="http://schemas.microsoft.com/office/drawing/2014/main" id="{E27969C6-73F1-0FAF-6C97-D5E4C760AACA}"/>
                </a:ext>
              </a:extLst>
            </p:cNvPr>
            <p:cNvGrpSpPr/>
            <p:nvPr/>
          </p:nvGrpSpPr>
          <p:grpSpPr>
            <a:xfrm>
              <a:off x="4967660" y="1615558"/>
              <a:ext cx="2314186" cy="1404754"/>
              <a:chOff x="1539358" y="2024249"/>
              <a:chExt cx="2314186" cy="1404754"/>
            </a:xfrm>
            <a:effectLst>
              <a:outerShdw blurRad="50800" dist="63500" dir="2700000" sx="99000" sy="99000" algn="ctr" rotWithShape="0">
                <a:srgbClr val="000000">
                  <a:alpha val="60000"/>
                </a:srgbClr>
              </a:outerShdw>
            </a:effectLst>
          </p:grpSpPr>
          <p:grpSp>
            <p:nvGrpSpPr>
              <p:cNvPr id="12" name="그룹 11">
                <a:extLst>
                  <a:ext uri="{FF2B5EF4-FFF2-40B4-BE49-F238E27FC236}">
                    <a16:creationId xmlns:a16="http://schemas.microsoft.com/office/drawing/2014/main" id="{785D3FF7-078A-BDEE-5A7A-7C3C9CE6FB7A}"/>
                  </a:ext>
                </a:extLst>
              </p:cNvPr>
              <p:cNvGrpSpPr/>
              <p:nvPr/>
            </p:nvGrpSpPr>
            <p:grpSpPr>
              <a:xfrm>
                <a:off x="1592054" y="2024249"/>
                <a:ext cx="2261490" cy="1404754"/>
                <a:chOff x="10220926" y="2458111"/>
                <a:chExt cx="1792437" cy="635580"/>
              </a:xfrm>
            </p:grpSpPr>
            <p:sp>
              <p:nvSpPr>
                <p:cNvPr id="14" name="대각선 방향의 모서리가 둥근 사각형 13">
                  <a:extLst>
                    <a:ext uri="{FF2B5EF4-FFF2-40B4-BE49-F238E27FC236}">
                      <a16:creationId xmlns:a16="http://schemas.microsoft.com/office/drawing/2014/main" id="{7C8E074B-7ED0-B900-191F-0590077EE338}"/>
                    </a:ext>
                  </a:extLst>
                </p:cNvPr>
                <p:cNvSpPr/>
                <p:nvPr/>
              </p:nvSpPr>
              <p:spPr>
                <a:xfrm>
                  <a:off x="10220926" y="2481269"/>
                  <a:ext cx="1792436" cy="612422"/>
                </a:xfrm>
                <a:prstGeom prst="round2DiagRect">
                  <a:avLst>
                    <a:gd name="adj1" fmla="val 34781"/>
                    <a:gd name="adj2" fmla="val 0"/>
                  </a:avLst>
                </a:prstGeom>
                <a:solidFill>
                  <a:srgbClr val="DBD7D5"/>
                </a:solidFill>
                <a:ln w="25400">
                  <a:solidFill>
                    <a:srgbClr val="DFDCDA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ko-KR" altLang="en-US" sz="1600" b="1" dirty="0">
                    <a:solidFill>
                      <a:schemeClr val="tx1"/>
                    </a:solidFill>
                    <a:latin typeface="GYEONGGITITLEOTF LIGHT" panose="02020403020101020101" pitchFamily="18" charset="-127"/>
                    <a:ea typeface="GYEONGGITITLEOTF LIGHT" panose="02020403020101020101" pitchFamily="18" charset="-127"/>
                  </a:endParaRPr>
                </a:p>
              </p:txBody>
            </p:sp>
            <p:sp>
              <p:nvSpPr>
                <p:cNvPr id="15" name="대각선 방향의 모서리가 둥근 사각형 14">
                  <a:extLst>
                    <a:ext uri="{FF2B5EF4-FFF2-40B4-BE49-F238E27FC236}">
                      <a16:creationId xmlns:a16="http://schemas.microsoft.com/office/drawing/2014/main" id="{F3906CBF-E20D-E455-D264-010E9A40E741}"/>
                    </a:ext>
                  </a:extLst>
                </p:cNvPr>
                <p:cNvSpPr/>
                <p:nvPr/>
              </p:nvSpPr>
              <p:spPr>
                <a:xfrm>
                  <a:off x="10220926" y="2458111"/>
                  <a:ext cx="1792437" cy="209653"/>
                </a:xfrm>
                <a:prstGeom prst="round2DiagRect">
                  <a:avLst>
                    <a:gd name="adj1" fmla="val 48374"/>
                    <a:gd name="adj2" fmla="val 0"/>
                  </a:avLst>
                </a:prstGeom>
                <a:solidFill>
                  <a:srgbClr val="393833"/>
                </a:solidFill>
                <a:ln>
                  <a:solidFill>
                    <a:srgbClr val="DFDCDA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kumimoji="1" lang="ko-KR" altLang="en-US" dirty="0">
                      <a:latin typeface="GyeonggiTitleOTF Light" panose="02020403020101020101" pitchFamily="18" charset="-127"/>
                      <a:ea typeface="GyeonggiTitleOTF Light" panose="02020403020101020101" pitchFamily="18" charset="-127"/>
                    </a:rPr>
                    <a:t>밸런스 조절 딜레마</a:t>
                  </a:r>
                </a:p>
              </p:txBody>
            </p:sp>
          </p:grp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7A59197C-A871-6ED0-D2A1-8747FBDCE06D}"/>
                  </a:ext>
                </a:extLst>
              </p:cNvPr>
              <p:cNvSpPr txBox="1"/>
              <p:nvPr/>
            </p:nvSpPr>
            <p:spPr>
              <a:xfrm>
                <a:off x="1539358" y="2581070"/>
                <a:ext cx="2261490" cy="7386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ko-KR" altLang="en-US" sz="1400" dirty="0">
                    <a:latin typeface="GyeonggiTitleOTF Light" panose="02020403020101020101" pitchFamily="18" charset="-127"/>
                    <a:ea typeface="GyeonggiTitleOTF Light" panose="02020403020101020101" pitchFamily="18" charset="-127"/>
                  </a:rPr>
                  <a:t>신규</a:t>
                </a:r>
                <a:r>
                  <a:rPr lang="en-US" altLang="ko-KR" sz="1400" dirty="0">
                    <a:latin typeface="GyeonggiTitleOTF Light" panose="02020403020101020101" pitchFamily="18" charset="-127"/>
                    <a:ea typeface="GyeonggiTitleOTF Light" panose="02020403020101020101" pitchFamily="18" charset="-127"/>
                  </a:rPr>
                  <a:t>/OP</a:t>
                </a:r>
                <a:r>
                  <a:rPr lang="ko-KR" altLang="en-US" sz="1400" dirty="0">
                    <a:latin typeface="GyeonggiTitleOTF Light" panose="02020403020101020101" pitchFamily="18" charset="-127"/>
                    <a:ea typeface="GyeonggiTitleOTF Light" panose="02020403020101020101" pitchFamily="18" charset="-127"/>
                  </a:rPr>
                  <a:t>영웅 </a:t>
                </a:r>
                <a:r>
                  <a:rPr lang="ko-KR" altLang="en-US" sz="1400" dirty="0" err="1">
                    <a:latin typeface="GyeonggiTitleOTF Light" panose="02020403020101020101" pitchFamily="18" charset="-127"/>
                    <a:ea typeface="GyeonggiTitleOTF Light" panose="02020403020101020101" pitchFamily="18" charset="-127"/>
                  </a:rPr>
                  <a:t>너프가</a:t>
                </a:r>
                <a:r>
                  <a:rPr lang="ko-KR" altLang="en-US" sz="1400" dirty="0">
                    <a:latin typeface="GyeonggiTitleOTF Light" panose="02020403020101020101" pitchFamily="18" charset="-127"/>
                    <a:ea typeface="GyeonggiTitleOTF Light" panose="02020403020101020101" pitchFamily="18" charset="-127"/>
                  </a:rPr>
                  <a:t> 운영 안정성 및 유저 신뢰를 저해하는 악순환의 딜레마 유발</a:t>
                </a:r>
                <a:endParaRPr kumimoji="1" lang="ko-KR" altLang="en-US" sz="1400" dirty="0">
                  <a:latin typeface="GyeonggiTitleOTF Light" panose="02020403020101020101" pitchFamily="18" charset="-127"/>
                  <a:ea typeface="GyeonggiTitleOTF Light" panose="02020403020101020101" pitchFamily="18" charset="-127"/>
                </a:endParaRPr>
              </a:p>
            </p:txBody>
          </p:sp>
        </p:grpSp>
        <p:grpSp>
          <p:nvGrpSpPr>
            <p:cNvPr id="18" name="그룹 17">
              <a:extLst>
                <a:ext uri="{FF2B5EF4-FFF2-40B4-BE49-F238E27FC236}">
                  <a16:creationId xmlns:a16="http://schemas.microsoft.com/office/drawing/2014/main" id="{A3E254E9-78A1-ABD2-D252-2C055AAC4526}"/>
                </a:ext>
              </a:extLst>
            </p:cNvPr>
            <p:cNvGrpSpPr/>
            <p:nvPr/>
          </p:nvGrpSpPr>
          <p:grpSpPr>
            <a:xfrm>
              <a:off x="7591878" y="1615558"/>
              <a:ext cx="2274557" cy="1404751"/>
              <a:chOff x="1578985" y="2024248"/>
              <a:chExt cx="2274557" cy="1404751"/>
            </a:xfrm>
            <a:effectLst>
              <a:outerShdw blurRad="50800" dist="63500" dir="2700000" sx="99000" sy="99000" algn="ctr" rotWithShape="0">
                <a:srgbClr val="000000">
                  <a:alpha val="60000"/>
                </a:srgbClr>
              </a:outerShdw>
            </a:effectLst>
          </p:grpSpPr>
          <p:grpSp>
            <p:nvGrpSpPr>
              <p:cNvPr id="19" name="그룹 18">
                <a:extLst>
                  <a:ext uri="{FF2B5EF4-FFF2-40B4-BE49-F238E27FC236}">
                    <a16:creationId xmlns:a16="http://schemas.microsoft.com/office/drawing/2014/main" id="{912A9CBE-B7F8-D4A8-A85D-628FD0D3CB0B}"/>
                  </a:ext>
                </a:extLst>
              </p:cNvPr>
              <p:cNvGrpSpPr/>
              <p:nvPr/>
            </p:nvGrpSpPr>
            <p:grpSpPr>
              <a:xfrm>
                <a:off x="1592052" y="2024248"/>
                <a:ext cx="2261490" cy="1404751"/>
                <a:chOff x="10220925" y="2458112"/>
                <a:chExt cx="1792437" cy="635579"/>
              </a:xfrm>
            </p:grpSpPr>
            <p:sp>
              <p:nvSpPr>
                <p:cNvPr id="21" name="대각선 방향의 모서리가 둥근 사각형 20">
                  <a:extLst>
                    <a:ext uri="{FF2B5EF4-FFF2-40B4-BE49-F238E27FC236}">
                      <a16:creationId xmlns:a16="http://schemas.microsoft.com/office/drawing/2014/main" id="{217271BA-9994-EA07-B01D-5E07ECF2E7DE}"/>
                    </a:ext>
                  </a:extLst>
                </p:cNvPr>
                <p:cNvSpPr/>
                <p:nvPr/>
              </p:nvSpPr>
              <p:spPr>
                <a:xfrm>
                  <a:off x="10220926" y="2481269"/>
                  <a:ext cx="1792436" cy="612422"/>
                </a:xfrm>
                <a:prstGeom prst="round2DiagRect">
                  <a:avLst>
                    <a:gd name="adj1" fmla="val 34781"/>
                    <a:gd name="adj2" fmla="val 0"/>
                  </a:avLst>
                </a:prstGeom>
                <a:solidFill>
                  <a:srgbClr val="DBD7D5"/>
                </a:solidFill>
                <a:ln w="25400">
                  <a:solidFill>
                    <a:srgbClr val="DFDCDA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ko-KR" altLang="en-US" sz="1600" b="1" dirty="0">
                    <a:solidFill>
                      <a:schemeClr val="tx1"/>
                    </a:solidFill>
                    <a:latin typeface="GYEONGGITITLEOTF LIGHT" panose="02020403020101020101" pitchFamily="18" charset="-127"/>
                    <a:ea typeface="GYEONGGITITLEOTF LIGHT" panose="02020403020101020101" pitchFamily="18" charset="-127"/>
                  </a:endParaRPr>
                </a:p>
              </p:txBody>
            </p:sp>
            <p:sp>
              <p:nvSpPr>
                <p:cNvPr id="22" name="대각선 방향의 모서리가 둥근 사각형 21">
                  <a:extLst>
                    <a:ext uri="{FF2B5EF4-FFF2-40B4-BE49-F238E27FC236}">
                      <a16:creationId xmlns:a16="http://schemas.microsoft.com/office/drawing/2014/main" id="{D8E5A5F3-6B44-6FE0-8CA5-E187F58E4DF8}"/>
                    </a:ext>
                  </a:extLst>
                </p:cNvPr>
                <p:cNvSpPr/>
                <p:nvPr/>
              </p:nvSpPr>
              <p:spPr>
                <a:xfrm>
                  <a:off x="10220925" y="2458112"/>
                  <a:ext cx="1792437" cy="209653"/>
                </a:xfrm>
                <a:prstGeom prst="round2DiagRect">
                  <a:avLst>
                    <a:gd name="adj1" fmla="val 48374"/>
                    <a:gd name="adj2" fmla="val 0"/>
                  </a:avLst>
                </a:prstGeom>
                <a:solidFill>
                  <a:srgbClr val="393833"/>
                </a:solidFill>
                <a:ln>
                  <a:solidFill>
                    <a:srgbClr val="DFDCDA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kumimoji="1" lang="ko-KR" altLang="en-US" dirty="0">
                      <a:latin typeface="GyeonggiTitleOTF Light" panose="02020403020101020101" pitchFamily="18" charset="-127"/>
                      <a:ea typeface="GyeonggiTitleOTF Light" panose="02020403020101020101" pitchFamily="18" charset="-127"/>
                    </a:rPr>
                    <a:t>구조적 문제점</a:t>
                  </a:r>
                </a:p>
              </p:txBody>
            </p:sp>
          </p:grp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31C66470-9EC9-91DF-1DA2-6F2488637709}"/>
                  </a:ext>
                </a:extLst>
              </p:cNvPr>
              <p:cNvSpPr txBox="1"/>
              <p:nvPr/>
            </p:nvSpPr>
            <p:spPr>
              <a:xfrm>
                <a:off x="1578985" y="2581069"/>
                <a:ext cx="2261489" cy="7386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ko-KR" altLang="en-US" sz="1400" dirty="0">
                    <a:latin typeface="GyeonggiTitleOTF Light" panose="02020403020101020101" pitchFamily="18" charset="-127"/>
                    <a:ea typeface="GyeonggiTitleOTF Light" panose="02020403020101020101" pitchFamily="18" charset="-127"/>
                  </a:rPr>
                  <a:t>재미 반감 및 장기적인 서비스 수명 위협으로 이어지는 심각한 구조적 리스크</a:t>
                </a:r>
              </a:p>
            </p:txBody>
          </p:sp>
        </p:grpSp>
        <p:grpSp>
          <p:nvGrpSpPr>
            <p:cNvPr id="5" name="그룹 4">
              <a:extLst>
                <a:ext uri="{FF2B5EF4-FFF2-40B4-BE49-F238E27FC236}">
                  <a16:creationId xmlns:a16="http://schemas.microsoft.com/office/drawing/2014/main" id="{AD7427B9-E569-269B-F42B-320C1682F691}"/>
                </a:ext>
              </a:extLst>
            </p:cNvPr>
            <p:cNvGrpSpPr/>
            <p:nvPr/>
          </p:nvGrpSpPr>
          <p:grpSpPr>
            <a:xfrm>
              <a:off x="2396137" y="1633876"/>
              <a:ext cx="2314186" cy="1510928"/>
              <a:chOff x="1539358" y="2024249"/>
              <a:chExt cx="2314186" cy="1510928"/>
            </a:xfrm>
            <a:effectLst>
              <a:outerShdw blurRad="50800" dist="63500" dir="2700000" sx="99000" sy="99000" algn="ctr" rotWithShape="0">
                <a:srgbClr val="000000">
                  <a:alpha val="60000"/>
                </a:srgbClr>
              </a:outerShdw>
            </a:effectLst>
          </p:grpSpPr>
          <p:grpSp>
            <p:nvGrpSpPr>
              <p:cNvPr id="8" name="그룹 7">
                <a:extLst>
                  <a:ext uri="{FF2B5EF4-FFF2-40B4-BE49-F238E27FC236}">
                    <a16:creationId xmlns:a16="http://schemas.microsoft.com/office/drawing/2014/main" id="{9DD12031-B5FD-806C-58D2-F5272C71B8CF}"/>
                  </a:ext>
                </a:extLst>
              </p:cNvPr>
              <p:cNvGrpSpPr/>
              <p:nvPr/>
            </p:nvGrpSpPr>
            <p:grpSpPr>
              <a:xfrm>
                <a:off x="1592054" y="2024249"/>
                <a:ext cx="2261490" cy="1404754"/>
                <a:chOff x="10220926" y="2458111"/>
                <a:chExt cx="1792437" cy="635580"/>
              </a:xfrm>
            </p:grpSpPr>
            <p:sp>
              <p:nvSpPr>
                <p:cNvPr id="17" name="대각선 방향의 모서리가 둥근 사각형 16">
                  <a:extLst>
                    <a:ext uri="{FF2B5EF4-FFF2-40B4-BE49-F238E27FC236}">
                      <a16:creationId xmlns:a16="http://schemas.microsoft.com/office/drawing/2014/main" id="{13E643CE-5355-F79A-78E6-1B7BF42B73B7}"/>
                    </a:ext>
                  </a:extLst>
                </p:cNvPr>
                <p:cNvSpPr/>
                <p:nvPr/>
              </p:nvSpPr>
              <p:spPr>
                <a:xfrm>
                  <a:off x="10220926" y="2481269"/>
                  <a:ext cx="1792436" cy="612422"/>
                </a:xfrm>
                <a:prstGeom prst="round2DiagRect">
                  <a:avLst>
                    <a:gd name="adj1" fmla="val 34781"/>
                    <a:gd name="adj2" fmla="val 0"/>
                  </a:avLst>
                </a:prstGeom>
                <a:solidFill>
                  <a:srgbClr val="DBD7D5"/>
                </a:solidFill>
                <a:ln w="25400">
                  <a:solidFill>
                    <a:srgbClr val="DFDCDA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ko-KR" altLang="en-US" sz="1600" b="1" dirty="0">
                    <a:solidFill>
                      <a:schemeClr val="tx1"/>
                    </a:solidFill>
                    <a:latin typeface="GYEONGGITITLEOTF LIGHT" panose="02020403020101020101" pitchFamily="18" charset="-127"/>
                    <a:ea typeface="GYEONGGITITLEOTF LIGHT" panose="02020403020101020101" pitchFamily="18" charset="-127"/>
                  </a:endParaRPr>
                </a:p>
              </p:txBody>
            </p:sp>
            <p:sp>
              <p:nvSpPr>
                <p:cNvPr id="23" name="대각선 방향의 모서리가 둥근 사각형 22">
                  <a:extLst>
                    <a:ext uri="{FF2B5EF4-FFF2-40B4-BE49-F238E27FC236}">
                      <a16:creationId xmlns:a16="http://schemas.microsoft.com/office/drawing/2014/main" id="{A55E41B4-0BC2-DF03-0981-5BFC05A0CEDB}"/>
                    </a:ext>
                  </a:extLst>
                </p:cNvPr>
                <p:cNvSpPr/>
                <p:nvPr/>
              </p:nvSpPr>
              <p:spPr>
                <a:xfrm>
                  <a:off x="10220926" y="2458111"/>
                  <a:ext cx="1792437" cy="209653"/>
                </a:xfrm>
                <a:prstGeom prst="round2DiagRect">
                  <a:avLst>
                    <a:gd name="adj1" fmla="val 48374"/>
                    <a:gd name="adj2" fmla="val 0"/>
                  </a:avLst>
                </a:prstGeom>
                <a:solidFill>
                  <a:srgbClr val="393833"/>
                </a:solidFill>
                <a:ln>
                  <a:solidFill>
                    <a:srgbClr val="DFDCDA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kumimoji="1" lang="ko-KR" altLang="en-US" dirty="0">
                      <a:latin typeface="GyeonggiTitleOTF Light" panose="02020403020101020101" pitchFamily="18" charset="-127"/>
                      <a:ea typeface="GyeonggiTitleOTF Light" panose="02020403020101020101" pitchFamily="18" charset="-127"/>
                    </a:rPr>
                    <a:t>극단적인 양강구도</a:t>
                  </a:r>
                </a:p>
              </p:txBody>
            </p:sp>
          </p:grp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EF9CB01C-3D90-F407-530E-67B41E9671B6}"/>
                  </a:ext>
                </a:extLst>
              </p:cNvPr>
              <p:cNvSpPr txBox="1"/>
              <p:nvPr/>
            </p:nvSpPr>
            <p:spPr>
              <a:xfrm>
                <a:off x="1539358" y="2581070"/>
                <a:ext cx="2261490" cy="9541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ko-KR" altLang="en-US" sz="1400" dirty="0">
                    <a:latin typeface="GyeonggiTitleOTF Light" panose="02020403020101020101" pitchFamily="18" charset="-127"/>
                    <a:ea typeface="GyeonggiTitleOTF Light" panose="02020403020101020101" pitchFamily="18" charset="-127"/>
                  </a:rPr>
                  <a:t>특정 </a:t>
                </a:r>
                <a:r>
                  <a:rPr lang="ko-KR" altLang="en-US" sz="1400" dirty="0" err="1">
                    <a:latin typeface="GyeonggiTitleOTF Light" panose="02020403020101020101" pitchFamily="18" charset="-127"/>
                    <a:ea typeface="GyeonggiTitleOTF Light" panose="02020403020101020101" pitchFamily="18" charset="-127"/>
                  </a:rPr>
                  <a:t>덱</a:t>
                </a:r>
                <a:r>
                  <a:rPr lang="ko-KR" altLang="en-US" sz="1400" dirty="0">
                    <a:latin typeface="GyeonggiTitleOTF Light" panose="02020403020101020101" pitchFamily="18" charset="-127"/>
                    <a:ea typeface="GyeonggiTitleOTF Light" panose="02020403020101020101" pitchFamily="18" charset="-127"/>
                  </a:rPr>
                  <a:t> 양강구도 </a:t>
                </a:r>
                <a:r>
                  <a:rPr lang="en-US" altLang="ko-KR" sz="1400" dirty="0">
                    <a:latin typeface="GyeonggiTitleOTF Light" panose="02020403020101020101" pitchFamily="18" charset="-127"/>
                    <a:ea typeface="GyeonggiTitleOTF Light" panose="02020403020101020101" pitchFamily="18" charset="-127"/>
                  </a:rPr>
                  <a:t>-&gt;</a:t>
                </a:r>
                <a:r>
                  <a:rPr lang="ko-KR" altLang="en-US" sz="1400" dirty="0">
                    <a:latin typeface="GyeonggiTitleOTF Light" panose="02020403020101020101" pitchFamily="18" charset="-127"/>
                    <a:ea typeface="GyeonggiTitleOTF Light" panose="02020403020101020101" pitchFamily="18" charset="-127"/>
                  </a:rPr>
                  <a:t> </a:t>
                </a:r>
                <a:endParaRPr lang="en-US" altLang="ko-KR" sz="1400" dirty="0">
                  <a:latin typeface="GyeonggiTitleOTF Light" panose="02020403020101020101" pitchFamily="18" charset="-127"/>
                  <a:ea typeface="GyeonggiTitleOTF Light" panose="02020403020101020101" pitchFamily="18" charset="-127"/>
                </a:endParaRPr>
              </a:p>
              <a:p>
                <a:pPr algn="ctr"/>
                <a:r>
                  <a:rPr lang="ko-KR" altLang="en-US" sz="1400" dirty="0">
                    <a:latin typeface="GyeonggiTitleOTF Light" panose="02020403020101020101" pitchFamily="18" charset="-127"/>
                    <a:ea typeface="GyeonggiTitleOTF Light" panose="02020403020101020101" pitchFamily="18" charset="-127"/>
                  </a:rPr>
                  <a:t>조합 다양성 상실 및 신규</a:t>
                </a:r>
                <a:r>
                  <a:rPr lang="en-US" altLang="ko-KR" sz="1400" dirty="0">
                    <a:latin typeface="GyeonggiTitleOTF Light" panose="02020403020101020101" pitchFamily="18" charset="-127"/>
                    <a:ea typeface="GyeonggiTitleOTF Light" panose="02020403020101020101" pitchFamily="18" charset="-127"/>
                  </a:rPr>
                  <a:t>/</a:t>
                </a:r>
                <a:r>
                  <a:rPr lang="ko-KR" altLang="en-US" sz="1400" dirty="0">
                    <a:latin typeface="GyeonggiTitleOTF Light" panose="02020403020101020101" pitchFamily="18" charset="-127"/>
                    <a:ea typeface="GyeonggiTitleOTF Light" panose="02020403020101020101" pitchFamily="18" charset="-127"/>
                  </a:rPr>
                  <a:t>비주류 영웅 육성 동기 저하</a:t>
                </a:r>
                <a:endParaRPr lang="en-US" altLang="ko-KR" sz="1400" dirty="0">
                  <a:latin typeface="GyeonggiTitleOTF Light" panose="02020403020101020101" pitchFamily="18" charset="-127"/>
                  <a:ea typeface="GyeonggiTitleOTF Light" panose="02020403020101020101" pitchFamily="18" charset="-127"/>
                </a:endParaRPr>
              </a:p>
              <a:p>
                <a:pPr algn="ctr"/>
                <a:endParaRPr kumimoji="1" lang="ko-KR" altLang="en-US" sz="1400" dirty="0">
                  <a:latin typeface="GyeonggiTitleOTF Light" panose="02020403020101020101" pitchFamily="18" charset="-127"/>
                  <a:ea typeface="GyeonggiTitleOTF Light" panose="02020403020101020101" pitchFamily="18" charset="-127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74679074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78812AF-EF7C-AC82-BAEE-5F6E0FC4BF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96585CB-CA0D-357C-258E-43F8ED3B86B5}"/>
              </a:ext>
            </a:extLst>
          </p:cNvPr>
          <p:cNvSpPr txBox="1"/>
          <p:nvPr/>
        </p:nvSpPr>
        <p:spPr>
          <a:xfrm>
            <a:off x="5848109" y="6412606"/>
            <a:ext cx="55328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ko-KR" sz="1000" dirty="0">
                <a:latin typeface="GyeonggiTitle Bold" panose="02020803020101020101" pitchFamily="18" charset="-127"/>
                <a:ea typeface="GyeonggiTitle Bold" panose="02020803020101020101" pitchFamily="18" charset="-127"/>
              </a:rPr>
              <a:t>- 20 - </a:t>
            </a:r>
            <a:endParaRPr kumimoji="1" lang="ko-KR" altLang="en-US" sz="1000" dirty="0">
              <a:latin typeface="GyeonggiTitle Bold" panose="02020803020101020101" pitchFamily="18" charset="-127"/>
              <a:ea typeface="GyeonggiTitle Bold" panose="02020803020101020101" pitchFamily="18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BA9F5E3-CAC0-EE1D-6337-A39D15A7211F}"/>
              </a:ext>
            </a:extLst>
          </p:cNvPr>
          <p:cNvSpPr txBox="1"/>
          <p:nvPr/>
        </p:nvSpPr>
        <p:spPr>
          <a:xfrm>
            <a:off x="1072526" y="586716"/>
            <a:ext cx="4471937" cy="9079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500" dirty="0">
                <a:latin typeface="GyeonggiTitle Bold" panose="02020803020101020101" pitchFamily="18" charset="-127"/>
                <a:ea typeface="GyeonggiTitle Bold" panose="02020803020101020101" pitchFamily="18" charset="-127"/>
              </a:rPr>
              <a:t>결론</a:t>
            </a:r>
            <a:endParaRPr lang="en-US" altLang="ko-KR" sz="3500" dirty="0">
              <a:latin typeface="GyeonggiTitle Bold" panose="02020803020101020101" pitchFamily="18" charset="-127"/>
              <a:ea typeface="GyeonggiTitle Bold" panose="02020803020101020101" pitchFamily="18" charset="-127"/>
            </a:endParaRPr>
          </a:p>
          <a:p>
            <a:r>
              <a:rPr lang="ko-KR" altLang="en-US" dirty="0">
                <a:latin typeface="GyeonggiTitle Bold" panose="02020803020101020101" pitchFamily="18" charset="-127"/>
                <a:ea typeface="GyeonggiTitle Bold" panose="02020803020101020101" pitchFamily="18" charset="-127"/>
              </a:rPr>
              <a:t>전략적 선택지 확장 </a:t>
            </a:r>
            <a:endParaRPr lang="en-US" altLang="ko-KR" dirty="0">
              <a:latin typeface="GyeonggiTitle Bold" panose="02020803020101020101" pitchFamily="18" charset="-127"/>
              <a:ea typeface="GyeonggiTitle Bold" panose="02020803020101020101" pitchFamily="18" charset="-127"/>
            </a:endParaRPr>
          </a:p>
        </p:txBody>
      </p: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D5F7ED34-777E-F40F-656C-46718524F45C}"/>
              </a:ext>
            </a:extLst>
          </p:cNvPr>
          <p:cNvGrpSpPr/>
          <p:nvPr/>
        </p:nvGrpSpPr>
        <p:grpSpPr>
          <a:xfrm>
            <a:off x="1854315" y="4079165"/>
            <a:ext cx="8483370" cy="2064381"/>
            <a:chOff x="778502" y="1809984"/>
            <a:chExt cx="7046393" cy="4216403"/>
          </a:xfrm>
        </p:grpSpPr>
        <p:sp>
          <p:nvSpPr>
            <p:cNvPr id="30" name="대각선 방향의 모서리가 둥근 사각형 29">
              <a:extLst>
                <a:ext uri="{FF2B5EF4-FFF2-40B4-BE49-F238E27FC236}">
                  <a16:creationId xmlns:a16="http://schemas.microsoft.com/office/drawing/2014/main" id="{1F47AD6C-2BD8-252D-4963-467632896923}"/>
                </a:ext>
              </a:extLst>
            </p:cNvPr>
            <p:cNvSpPr/>
            <p:nvPr/>
          </p:nvSpPr>
          <p:spPr>
            <a:xfrm>
              <a:off x="778502" y="1809984"/>
              <a:ext cx="7046393" cy="4216403"/>
            </a:xfrm>
            <a:prstGeom prst="round2DiagRect">
              <a:avLst>
                <a:gd name="adj1" fmla="val 5253"/>
                <a:gd name="adj2" fmla="val 0"/>
              </a:avLst>
            </a:prstGeom>
            <a:solidFill>
              <a:srgbClr val="B4B4B3">
                <a:alpha val="36515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eaLnBrk="0" fontAlgn="base" latinLnBrk="0" hangingPunct="0">
                <a:spcBef>
                  <a:spcPct val="0"/>
                </a:spcBef>
                <a:spcAft>
                  <a:spcPct val="0"/>
                </a:spcAft>
              </a:pPr>
              <a:endParaRPr lang="en-US" altLang="ko-KR" sz="1600" dirty="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grpSp>
          <p:nvGrpSpPr>
            <p:cNvPr id="31" name="그룹 30">
              <a:extLst>
                <a:ext uri="{FF2B5EF4-FFF2-40B4-BE49-F238E27FC236}">
                  <a16:creationId xmlns:a16="http://schemas.microsoft.com/office/drawing/2014/main" id="{39131C87-9EE3-87E6-01B6-E7AFFCA2BFDE}"/>
                </a:ext>
              </a:extLst>
            </p:cNvPr>
            <p:cNvGrpSpPr/>
            <p:nvPr/>
          </p:nvGrpSpPr>
          <p:grpSpPr>
            <a:xfrm>
              <a:off x="865491" y="2062828"/>
              <a:ext cx="3238806" cy="3714058"/>
              <a:chOff x="3883734" y="905654"/>
              <a:chExt cx="3238806" cy="4994694"/>
            </a:xfrm>
            <a:effectLst>
              <a:outerShdw blurRad="50800" dist="131726" dir="2700000" algn="ctr" rotWithShape="0">
                <a:srgbClr val="000000">
                  <a:alpha val="50000"/>
                </a:srgbClr>
              </a:outerShdw>
            </a:effectLst>
          </p:grpSpPr>
          <p:grpSp>
            <p:nvGrpSpPr>
              <p:cNvPr id="47" name="그룹 46">
                <a:extLst>
                  <a:ext uri="{FF2B5EF4-FFF2-40B4-BE49-F238E27FC236}">
                    <a16:creationId xmlns:a16="http://schemas.microsoft.com/office/drawing/2014/main" id="{67FF6ECF-5EC9-5113-5B30-29B27B027474}"/>
                  </a:ext>
                </a:extLst>
              </p:cNvPr>
              <p:cNvGrpSpPr/>
              <p:nvPr/>
            </p:nvGrpSpPr>
            <p:grpSpPr>
              <a:xfrm>
                <a:off x="3930766" y="905654"/>
                <a:ext cx="3191774" cy="4994694"/>
                <a:chOff x="3907766" y="931653"/>
                <a:chExt cx="3191774" cy="4994694"/>
              </a:xfrm>
            </p:grpSpPr>
            <p:sp>
              <p:nvSpPr>
                <p:cNvPr id="49" name="대각선 방향의 모서리가 둥근 사각형 48">
                  <a:extLst>
                    <a:ext uri="{FF2B5EF4-FFF2-40B4-BE49-F238E27FC236}">
                      <a16:creationId xmlns:a16="http://schemas.microsoft.com/office/drawing/2014/main" id="{F6032C1B-1C59-C2F7-9BA9-F34C4C1918F4}"/>
                    </a:ext>
                  </a:extLst>
                </p:cNvPr>
                <p:cNvSpPr/>
                <p:nvPr/>
              </p:nvSpPr>
              <p:spPr>
                <a:xfrm>
                  <a:off x="3907766" y="931653"/>
                  <a:ext cx="3191774" cy="4994694"/>
                </a:xfrm>
                <a:prstGeom prst="round2DiagRect">
                  <a:avLst>
                    <a:gd name="adj1" fmla="val 10451"/>
                    <a:gd name="adj2" fmla="val 0"/>
                  </a:avLst>
                </a:prstGeom>
                <a:solidFill>
                  <a:srgbClr val="DEDCDA"/>
                </a:solidFill>
                <a:ln>
                  <a:solidFill>
                    <a:srgbClr val="DEDCDA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ko-KR" altLang="en-US"/>
                </a:p>
              </p:txBody>
            </p:sp>
            <p:sp>
              <p:nvSpPr>
                <p:cNvPr id="50" name="대각선 방향의 모서리가 둥근 사각형 49">
                  <a:extLst>
                    <a:ext uri="{FF2B5EF4-FFF2-40B4-BE49-F238E27FC236}">
                      <a16:creationId xmlns:a16="http://schemas.microsoft.com/office/drawing/2014/main" id="{29561157-A200-E871-8572-74EAFF1CB183}"/>
                    </a:ext>
                  </a:extLst>
                </p:cNvPr>
                <p:cNvSpPr/>
                <p:nvPr/>
              </p:nvSpPr>
              <p:spPr>
                <a:xfrm>
                  <a:off x="3907766" y="931653"/>
                  <a:ext cx="3191774" cy="1108039"/>
                </a:xfrm>
                <a:prstGeom prst="round2DiagRect">
                  <a:avLst>
                    <a:gd name="adj1" fmla="val 48374"/>
                    <a:gd name="adj2" fmla="val 0"/>
                  </a:avLst>
                </a:prstGeom>
                <a:solidFill>
                  <a:srgbClr val="393833"/>
                </a:solidFill>
                <a:ln>
                  <a:solidFill>
                    <a:srgbClr val="DFDCDA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altLang="ko-KR" sz="1600" b="1" dirty="0">
                    <a:solidFill>
                      <a:schemeClr val="bg1"/>
                    </a:solidFill>
                    <a:latin typeface="경기천년제목VOTF Bold" panose="02020803020101020101" pitchFamily="18" charset="-127"/>
                    <a:ea typeface="경기천년제목VOTF Bold" panose="02020803020101020101" pitchFamily="18" charset="-127"/>
                  </a:endParaRPr>
                </a:p>
                <a:p>
                  <a:pPr algn="ctr"/>
                  <a:r>
                    <a:rPr lang="ko-KR" altLang="en-US" sz="1600" b="1" dirty="0">
                      <a:solidFill>
                        <a:schemeClr val="bg1"/>
                      </a:solidFill>
                      <a:latin typeface="경기천년제목VOTF Bold" panose="02020803020101020101" pitchFamily="18" charset="-127"/>
                      <a:ea typeface="경기천년제목VOTF Bold" panose="02020803020101020101" pitchFamily="18" charset="-127"/>
                    </a:rPr>
                    <a:t>즉사덱 능력치 재설계 </a:t>
                  </a:r>
                  <a:endParaRPr kumimoji="1" lang="ko-KR" altLang="en-US" sz="1600" b="1" dirty="0">
                    <a:solidFill>
                      <a:schemeClr val="bg1"/>
                    </a:solidFill>
                  </a:endParaRPr>
                </a:p>
                <a:p>
                  <a:pPr algn="ctr"/>
                  <a:endParaRPr kumimoji="1" lang="ko-KR" altLang="en-US" sz="1600" b="1" dirty="0"/>
                </a:p>
              </p:txBody>
            </p:sp>
          </p:grpSp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4905E5B0-5B75-BA86-076B-60DC2F68BBEF}"/>
                  </a:ext>
                </a:extLst>
              </p:cNvPr>
              <p:cNvSpPr txBox="1"/>
              <p:nvPr/>
            </p:nvSpPr>
            <p:spPr>
              <a:xfrm>
                <a:off x="3883734" y="2139470"/>
                <a:ext cx="3191771" cy="28319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1500" dirty="0" err="1">
                    <a:latin typeface="GyeonggiTitleOTF Light" panose="02020403020101020101" pitchFamily="18" charset="-127"/>
                    <a:ea typeface="GyeonggiTitleOTF Light" panose="02020403020101020101" pitchFamily="18" charset="-127"/>
                  </a:rPr>
                  <a:t>방덱의</a:t>
                </a:r>
                <a:r>
                  <a:rPr lang="ko-KR" altLang="en-US" sz="1500" dirty="0">
                    <a:latin typeface="GyeonggiTitleOTF Light" panose="02020403020101020101" pitchFamily="18" charset="-127"/>
                    <a:ea typeface="GyeonggiTitleOTF Light" panose="02020403020101020101" pitchFamily="18" charset="-127"/>
                  </a:rPr>
                  <a:t> 카운터 역할 수행 불가능</a:t>
                </a:r>
                <a:r>
                  <a:rPr lang="en-US" altLang="ko-KR" sz="1500" dirty="0">
                    <a:latin typeface="GyeonggiTitleOTF Light" panose="02020403020101020101" pitchFamily="18" charset="-127"/>
                    <a:ea typeface="GyeonggiTitleOTF Light" panose="02020403020101020101" pitchFamily="18" charset="-127"/>
                  </a:rPr>
                  <a:t>.</a:t>
                </a:r>
              </a:p>
              <a:p>
                <a:endParaRPr lang="en-US" altLang="ko-KR" sz="1500" dirty="0">
                  <a:latin typeface="GyeonggiTitleOTF Light" panose="02020403020101020101" pitchFamily="18" charset="-127"/>
                  <a:ea typeface="GyeonggiTitleOTF Light" panose="02020403020101020101" pitchFamily="18" charset="-127"/>
                </a:endParaRPr>
              </a:p>
              <a:p>
                <a:r>
                  <a:rPr lang="en-US" altLang="ko-KR" sz="1500" dirty="0">
                    <a:latin typeface="GyeonggiTitleOTF Light" panose="02020403020101020101" pitchFamily="18" charset="-127"/>
                    <a:ea typeface="GyeonggiTitleOTF Light" panose="02020403020101020101" pitchFamily="18" charset="-127"/>
                  </a:rPr>
                  <a:t>=&gt;</a:t>
                </a:r>
                <a:r>
                  <a:rPr lang="ko-KR" altLang="en-US" sz="1500" dirty="0">
                    <a:latin typeface="GyeonggiTitleOTF Light" panose="02020403020101020101" pitchFamily="18" charset="-127"/>
                    <a:ea typeface="GyeonggiTitleOTF Light" panose="02020403020101020101" pitchFamily="18" charset="-127"/>
                  </a:rPr>
                  <a:t> 방어 저항을 무력화하는 기본 적중 확률 상향</a:t>
                </a:r>
                <a:endParaRPr lang="en-US" altLang="ko-KR" sz="1500" dirty="0">
                  <a:latin typeface="GyeonggiTitleOTF Light" panose="02020403020101020101" pitchFamily="18" charset="-127"/>
                  <a:ea typeface="GyeonggiTitleOTF Light" panose="02020403020101020101" pitchFamily="18" charset="-127"/>
                </a:endParaRPr>
              </a:p>
              <a:p>
                <a:endParaRPr lang="ko-KR" altLang="en-US" sz="1600" dirty="0">
                  <a:latin typeface="GyeonggiTitleOTF Light" panose="02020403020101020101" pitchFamily="18" charset="-127"/>
                  <a:ea typeface="GyeonggiTitleOTF Light" panose="02020403020101020101" pitchFamily="18" charset="-127"/>
                </a:endParaRPr>
              </a:p>
            </p:txBody>
          </p:sp>
        </p:grpSp>
        <p:grpSp>
          <p:nvGrpSpPr>
            <p:cNvPr id="32" name="그룹 31">
              <a:extLst>
                <a:ext uri="{FF2B5EF4-FFF2-40B4-BE49-F238E27FC236}">
                  <a16:creationId xmlns:a16="http://schemas.microsoft.com/office/drawing/2014/main" id="{542746F7-F61F-6E43-2B6F-5247ADBE5B64}"/>
                </a:ext>
              </a:extLst>
            </p:cNvPr>
            <p:cNvGrpSpPr/>
            <p:nvPr/>
          </p:nvGrpSpPr>
          <p:grpSpPr>
            <a:xfrm>
              <a:off x="4431016" y="2062826"/>
              <a:ext cx="3271596" cy="3714060"/>
              <a:chOff x="2904209" y="1707507"/>
              <a:chExt cx="3271596" cy="4430276"/>
            </a:xfrm>
            <a:effectLst>
              <a:outerShdw blurRad="50800" dist="127000" dir="2700000" algn="ctr" rotWithShape="0">
                <a:srgbClr val="000000">
                  <a:alpha val="50000"/>
                </a:srgbClr>
              </a:outerShdw>
            </a:effectLst>
          </p:grpSpPr>
          <p:grpSp>
            <p:nvGrpSpPr>
              <p:cNvPr id="39" name="그룹 38">
                <a:extLst>
                  <a:ext uri="{FF2B5EF4-FFF2-40B4-BE49-F238E27FC236}">
                    <a16:creationId xmlns:a16="http://schemas.microsoft.com/office/drawing/2014/main" id="{1772B5A1-4CF6-C940-512B-90B3028B71A6}"/>
                  </a:ext>
                </a:extLst>
              </p:cNvPr>
              <p:cNvGrpSpPr/>
              <p:nvPr/>
            </p:nvGrpSpPr>
            <p:grpSpPr>
              <a:xfrm>
                <a:off x="2904209" y="1707507"/>
                <a:ext cx="3191774" cy="4430276"/>
                <a:chOff x="3907766" y="931651"/>
                <a:chExt cx="3191774" cy="4994696"/>
              </a:xfrm>
            </p:grpSpPr>
            <p:sp>
              <p:nvSpPr>
                <p:cNvPr id="43" name="대각선 방향의 모서리가 둥근 사각형 42">
                  <a:extLst>
                    <a:ext uri="{FF2B5EF4-FFF2-40B4-BE49-F238E27FC236}">
                      <a16:creationId xmlns:a16="http://schemas.microsoft.com/office/drawing/2014/main" id="{37D547CF-2B39-59E0-2DCB-E13D801EE838}"/>
                    </a:ext>
                  </a:extLst>
                </p:cNvPr>
                <p:cNvSpPr/>
                <p:nvPr/>
              </p:nvSpPr>
              <p:spPr>
                <a:xfrm>
                  <a:off x="3907766" y="931653"/>
                  <a:ext cx="3191774" cy="4994694"/>
                </a:xfrm>
                <a:prstGeom prst="round2DiagRect">
                  <a:avLst>
                    <a:gd name="adj1" fmla="val 10451"/>
                    <a:gd name="adj2" fmla="val 0"/>
                  </a:avLst>
                </a:prstGeom>
                <a:solidFill>
                  <a:srgbClr val="DEDCDA"/>
                </a:solidFill>
                <a:ln>
                  <a:solidFill>
                    <a:srgbClr val="DEDCDA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endParaRPr lang="ko-KR" altLang="en-US" dirty="0">
                    <a:latin typeface="경기천년제목VOTF Bold" panose="02020803020101020101" pitchFamily="18" charset="-127"/>
                    <a:ea typeface="경기천년제목VOTF Bold" panose="02020803020101020101" pitchFamily="18" charset="-127"/>
                  </a:endParaRPr>
                </a:p>
                <a:p>
                  <a:pPr algn="ctr"/>
                  <a:endParaRPr kumimoji="1" lang="ko-KR" altLang="en-US" dirty="0"/>
                </a:p>
              </p:txBody>
            </p:sp>
            <p:sp>
              <p:nvSpPr>
                <p:cNvPr id="44" name="대각선 방향의 모서리가 둥근 사각형 43">
                  <a:extLst>
                    <a:ext uri="{FF2B5EF4-FFF2-40B4-BE49-F238E27FC236}">
                      <a16:creationId xmlns:a16="http://schemas.microsoft.com/office/drawing/2014/main" id="{B8A32F64-0921-EA35-479E-7EF54241508D}"/>
                    </a:ext>
                  </a:extLst>
                </p:cNvPr>
                <p:cNvSpPr/>
                <p:nvPr/>
              </p:nvSpPr>
              <p:spPr>
                <a:xfrm>
                  <a:off x="3907766" y="931651"/>
                  <a:ext cx="3191774" cy="1108038"/>
                </a:xfrm>
                <a:prstGeom prst="round2DiagRect">
                  <a:avLst>
                    <a:gd name="adj1" fmla="val 48374"/>
                    <a:gd name="adj2" fmla="val 0"/>
                  </a:avLst>
                </a:prstGeom>
                <a:solidFill>
                  <a:srgbClr val="393833"/>
                </a:solidFill>
                <a:ln>
                  <a:solidFill>
                    <a:srgbClr val="DFDCDA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kumimoji="1" lang="ko-KR" altLang="en-US" sz="1600" b="1" dirty="0" err="1">
                      <a:latin typeface="GyeonggiTitle Bold" panose="02020803020101020101" pitchFamily="18" charset="-127"/>
                      <a:ea typeface="GyeonggiTitle Bold" panose="02020803020101020101" pitchFamily="18" charset="-127"/>
                    </a:rPr>
                    <a:t>마덱의</a:t>
                  </a:r>
                  <a:r>
                    <a:rPr kumimoji="1" lang="ko-KR" altLang="en-US" sz="1600" b="1" dirty="0">
                      <a:latin typeface="GyeonggiTitle Bold" panose="02020803020101020101" pitchFamily="18" charset="-127"/>
                      <a:ea typeface="GyeonggiTitle Bold" panose="02020803020101020101" pitchFamily="18" charset="-127"/>
                    </a:rPr>
                    <a:t> 상태이상 연계 데미지 강화</a:t>
                  </a:r>
                </a:p>
              </p:txBody>
            </p:sp>
          </p:grpSp>
          <p:grpSp>
            <p:nvGrpSpPr>
              <p:cNvPr id="40" name="그룹 39">
                <a:extLst>
                  <a:ext uri="{FF2B5EF4-FFF2-40B4-BE49-F238E27FC236}">
                    <a16:creationId xmlns:a16="http://schemas.microsoft.com/office/drawing/2014/main" id="{1BA2F61E-BE14-A924-2918-F7E93A8FA896}"/>
                  </a:ext>
                </a:extLst>
              </p:cNvPr>
              <p:cNvGrpSpPr/>
              <p:nvPr/>
            </p:nvGrpSpPr>
            <p:grpSpPr>
              <a:xfrm>
                <a:off x="2984034" y="1832162"/>
                <a:ext cx="3191771" cy="858174"/>
                <a:chOff x="3087551" y="1803503"/>
                <a:chExt cx="3191771" cy="858174"/>
              </a:xfrm>
            </p:grpSpPr>
            <p:sp>
              <p:nvSpPr>
                <p:cNvPr id="41" name="TextBox 40">
                  <a:extLst>
                    <a:ext uri="{FF2B5EF4-FFF2-40B4-BE49-F238E27FC236}">
                      <a16:creationId xmlns:a16="http://schemas.microsoft.com/office/drawing/2014/main" id="{BCEEBA1E-5B9D-78D2-B9BB-AA647E06408D}"/>
                    </a:ext>
                  </a:extLst>
                </p:cNvPr>
                <p:cNvSpPr txBox="1"/>
                <p:nvPr/>
              </p:nvSpPr>
              <p:spPr>
                <a:xfrm>
                  <a:off x="4257274" y="1803503"/>
                  <a:ext cx="692676" cy="73786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endParaRPr kumimoji="1" lang="ko-KR" altLang="en-US" b="1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42" name="TextBox 41">
                  <a:extLst>
                    <a:ext uri="{FF2B5EF4-FFF2-40B4-BE49-F238E27FC236}">
                      <a16:creationId xmlns:a16="http://schemas.microsoft.com/office/drawing/2014/main" id="{48000B9E-5AAF-2B34-1817-4E7E8DA4EF34}"/>
                    </a:ext>
                  </a:extLst>
                </p:cNvPr>
                <p:cNvSpPr txBox="1"/>
                <p:nvPr/>
              </p:nvSpPr>
              <p:spPr>
                <a:xfrm>
                  <a:off x="3087551" y="2323123"/>
                  <a:ext cx="3191771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endParaRPr kumimoji="1" lang="en-US" altLang="ko-KR" sz="1600" dirty="0">
                    <a:solidFill>
                      <a:srgbClr val="302F2C"/>
                    </a:solidFill>
                  </a:endParaRPr>
                </a:p>
              </p:txBody>
            </p:sp>
          </p:grpSp>
        </p:grp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D8ED1F32-AEB3-A5BD-ADB9-AB732682FF4B}"/>
                </a:ext>
              </a:extLst>
            </p:cNvPr>
            <p:cNvSpPr txBox="1"/>
            <p:nvPr/>
          </p:nvSpPr>
          <p:spPr>
            <a:xfrm>
              <a:off x="4470917" y="2980294"/>
              <a:ext cx="3151873" cy="20744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500" dirty="0" err="1">
                  <a:latin typeface="GyeonggiTitleOTF Light" panose="02020403020101020101" pitchFamily="18" charset="-127"/>
                  <a:ea typeface="GyeonggiTitleOTF Light" panose="02020403020101020101" pitchFamily="18" charset="-127"/>
                </a:rPr>
                <a:t>마덱은</a:t>
              </a:r>
              <a:r>
                <a:rPr lang="ko-KR" altLang="en-US" sz="1500" dirty="0">
                  <a:latin typeface="GyeonggiTitleOTF Light" panose="02020403020101020101" pitchFamily="18" charset="-127"/>
                  <a:ea typeface="GyeonggiTitleOTF Light" panose="02020403020101020101" pitchFamily="18" charset="-127"/>
                </a:rPr>
                <a:t> </a:t>
              </a:r>
              <a:r>
                <a:rPr lang="en-US" altLang="ko-KR" sz="1500" dirty="0">
                  <a:latin typeface="GyeonggiTitleOTF Light" panose="02020403020101020101" pitchFamily="18" charset="-127"/>
                  <a:ea typeface="GyeonggiTitleOTF Light" panose="02020403020101020101" pitchFamily="18" charset="-127"/>
                </a:rPr>
                <a:t>cc</a:t>
              </a:r>
              <a:r>
                <a:rPr lang="ko-KR" altLang="en-US" sz="1500" dirty="0">
                  <a:latin typeface="GyeonggiTitleOTF Light" panose="02020403020101020101" pitchFamily="18" charset="-127"/>
                  <a:ea typeface="GyeonggiTitleOTF Light" panose="02020403020101020101" pitchFamily="18" charset="-127"/>
                </a:rPr>
                <a:t>연계를 통한 조건부 </a:t>
              </a:r>
              <a:r>
                <a:rPr lang="ko-KR" altLang="en-US" sz="1500" dirty="0" err="1">
                  <a:latin typeface="GyeonggiTitleOTF Light" panose="02020403020101020101" pitchFamily="18" charset="-127"/>
                  <a:ea typeface="GyeonggiTitleOTF Light" panose="02020403020101020101" pitchFamily="18" charset="-127"/>
                </a:rPr>
                <a:t>폭딜</a:t>
              </a:r>
              <a:r>
                <a:rPr lang="ko-KR" altLang="en-US" sz="1500" dirty="0">
                  <a:latin typeface="GyeonggiTitleOTF Light" panose="02020403020101020101" pitchFamily="18" charset="-127"/>
                  <a:ea typeface="GyeonggiTitleOTF Light" panose="02020403020101020101" pitchFamily="18" charset="-127"/>
                </a:rPr>
                <a:t> 메커니즘</a:t>
              </a:r>
              <a:endParaRPr lang="en-US" altLang="ko-KR" sz="1500" dirty="0">
                <a:latin typeface="GyeonggiTitleOTF Light" panose="02020403020101020101" pitchFamily="18" charset="-127"/>
                <a:ea typeface="GyeonggiTitleOTF Light" panose="02020403020101020101" pitchFamily="18" charset="-127"/>
              </a:endParaRPr>
            </a:p>
            <a:p>
              <a:endParaRPr lang="en-US" altLang="ko-KR" sz="1500" dirty="0">
                <a:latin typeface="GyeonggiTitleOTF Light" panose="02020403020101020101" pitchFamily="18" charset="-127"/>
                <a:ea typeface="GyeonggiTitleOTF Light" panose="02020403020101020101" pitchFamily="18" charset="-127"/>
              </a:endParaRPr>
            </a:p>
            <a:p>
              <a:r>
                <a:rPr lang="en-US" altLang="ko-KR" sz="1500" dirty="0">
                  <a:latin typeface="GyeonggiTitleOTF Light" panose="02020403020101020101" pitchFamily="18" charset="-127"/>
                  <a:ea typeface="GyeonggiTitleOTF Light" panose="02020403020101020101" pitchFamily="18" charset="-127"/>
                </a:rPr>
                <a:t>=&gt;</a:t>
              </a:r>
              <a:r>
                <a:rPr lang="ko-KR" altLang="en-US" sz="1500" dirty="0">
                  <a:latin typeface="GyeonggiTitleOTF Light" panose="02020403020101020101" pitchFamily="18" charset="-127"/>
                  <a:ea typeface="GyeonggiTitleOTF Light" panose="02020403020101020101" pitchFamily="18" charset="-127"/>
                </a:rPr>
                <a:t> 조건부 </a:t>
              </a:r>
              <a:r>
                <a:rPr lang="ko-KR" altLang="en-US" sz="1500" dirty="0" err="1">
                  <a:latin typeface="GyeonggiTitleOTF Light" panose="02020403020101020101" pitchFamily="18" charset="-127"/>
                  <a:ea typeface="GyeonggiTitleOTF Light" panose="02020403020101020101" pitchFamily="18" charset="-127"/>
                </a:rPr>
                <a:t>딜링</a:t>
              </a:r>
              <a:r>
                <a:rPr lang="ko-KR" altLang="en-US" sz="1500" dirty="0">
                  <a:latin typeface="GyeonggiTitleOTF Light" panose="02020403020101020101" pitchFamily="18" charset="-127"/>
                  <a:ea typeface="GyeonggiTitleOTF Light" panose="02020403020101020101" pitchFamily="18" charset="-127"/>
                </a:rPr>
                <a:t> 강화를 통해 </a:t>
              </a:r>
              <a:r>
                <a:rPr lang="ko-KR" altLang="en-US" sz="1500" dirty="0" err="1">
                  <a:solidFill>
                    <a:srgbClr val="1C5397"/>
                  </a:solidFill>
                  <a:latin typeface="GyeonggiTitleOTF Light" panose="02020403020101020101" pitchFamily="18" charset="-127"/>
                  <a:ea typeface="GyeonggiTitleOTF Light" panose="02020403020101020101" pitchFamily="18" charset="-127"/>
                </a:rPr>
                <a:t>마덱</a:t>
              </a:r>
              <a:r>
                <a:rPr lang="ko-KR" altLang="en-US" sz="1500" dirty="0" err="1">
                  <a:latin typeface="GyeonggiTitleOTF Light" panose="02020403020101020101" pitchFamily="18" charset="-127"/>
                  <a:ea typeface="GyeonggiTitleOTF Light" panose="02020403020101020101" pitchFamily="18" charset="-127"/>
                </a:rPr>
                <a:t>의</a:t>
              </a:r>
              <a:r>
                <a:rPr lang="ko-KR" altLang="en-US" sz="1500" dirty="0">
                  <a:latin typeface="GyeonggiTitleOTF Light" panose="02020403020101020101" pitchFamily="18" charset="-127"/>
                  <a:ea typeface="GyeonggiTitleOTF Light" panose="02020403020101020101" pitchFamily="18" charset="-127"/>
                </a:rPr>
                <a:t> 특성은 지키고</a:t>
              </a:r>
              <a:r>
                <a:rPr lang="en-US" altLang="ko-KR" sz="1500" dirty="0">
                  <a:latin typeface="GyeonggiTitleOTF Light" panose="02020403020101020101" pitchFamily="18" charset="-127"/>
                  <a:ea typeface="GyeonggiTitleOTF Light" panose="02020403020101020101" pitchFamily="18" charset="-127"/>
                </a:rPr>
                <a:t>,</a:t>
              </a:r>
              <a:r>
                <a:rPr lang="ko-KR" altLang="en-US" sz="1500" dirty="0">
                  <a:latin typeface="GyeonggiTitleOTF Light" panose="02020403020101020101" pitchFamily="18" charset="-127"/>
                  <a:ea typeface="GyeonggiTitleOTF Light" panose="02020403020101020101" pitchFamily="18" charset="-127"/>
                </a:rPr>
                <a:t> 물리 </a:t>
              </a:r>
              <a:r>
                <a:rPr lang="ko-KR" altLang="en-US" sz="1500" dirty="0" err="1">
                  <a:solidFill>
                    <a:srgbClr val="C00000"/>
                  </a:solidFill>
                  <a:latin typeface="GyeonggiTitleOTF Light" panose="02020403020101020101" pitchFamily="18" charset="-127"/>
                  <a:ea typeface="GyeonggiTitleOTF Light" panose="02020403020101020101" pitchFamily="18" charset="-127"/>
                </a:rPr>
                <a:t>공덱</a:t>
              </a:r>
              <a:r>
                <a:rPr lang="ko-KR" altLang="en-US" sz="1500" dirty="0" err="1">
                  <a:latin typeface="GyeonggiTitleOTF Light" panose="02020403020101020101" pitchFamily="18" charset="-127"/>
                  <a:ea typeface="GyeonggiTitleOTF Light" panose="02020403020101020101" pitchFamily="18" charset="-127"/>
                </a:rPr>
                <a:t>과는</a:t>
              </a:r>
              <a:r>
                <a:rPr lang="ko-KR" altLang="en-US" sz="1500" dirty="0">
                  <a:solidFill>
                    <a:srgbClr val="C00000"/>
                  </a:solidFill>
                  <a:latin typeface="GyeonggiTitleOTF Light" panose="02020403020101020101" pitchFamily="18" charset="-127"/>
                  <a:ea typeface="GyeonggiTitleOTF Light" panose="02020403020101020101" pitchFamily="18" charset="-127"/>
                </a:rPr>
                <a:t> </a:t>
              </a:r>
              <a:r>
                <a:rPr lang="ko-KR" altLang="en-US" sz="1500" dirty="0">
                  <a:latin typeface="GyeonggiTitleOTF Light" panose="02020403020101020101" pitchFamily="18" charset="-127"/>
                  <a:ea typeface="GyeonggiTitleOTF Light" panose="02020403020101020101" pitchFamily="18" charset="-127"/>
                </a:rPr>
                <a:t>차별화된 선택지 제공</a:t>
              </a:r>
              <a:endParaRPr lang="en-US" altLang="ko-KR" sz="1500" dirty="0">
                <a:latin typeface="GyeonggiTitleOTF Light" panose="02020403020101020101" pitchFamily="18" charset="-127"/>
                <a:ea typeface="GyeonggiTitleOTF Light" panose="02020403020101020101" pitchFamily="18" charset="-127"/>
              </a:endParaRPr>
            </a:p>
          </p:txBody>
        </p:sp>
      </p:grpSp>
      <p:grpSp>
        <p:nvGrpSpPr>
          <p:cNvPr id="1027" name="그룹 1026">
            <a:extLst>
              <a:ext uri="{FF2B5EF4-FFF2-40B4-BE49-F238E27FC236}">
                <a16:creationId xmlns:a16="http://schemas.microsoft.com/office/drawing/2014/main" id="{9EC931BD-A854-3B9E-F98B-EC30F3DC6B77}"/>
              </a:ext>
            </a:extLst>
          </p:cNvPr>
          <p:cNvGrpSpPr/>
          <p:nvPr/>
        </p:nvGrpSpPr>
        <p:grpSpPr>
          <a:xfrm rot="20713679">
            <a:off x="3377334" y="1685567"/>
            <a:ext cx="1333515" cy="1948736"/>
            <a:chOff x="940842" y="2561365"/>
            <a:chExt cx="1333515" cy="1948736"/>
          </a:xfrm>
          <a:effectLst>
            <a:outerShdw blurRad="50800" dist="50800" dir="2700000" algn="ctr" rotWithShape="0">
              <a:srgbClr val="000000">
                <a:alpha val="52000"/>
              </a:srgbClr>
            </a:outerShdw>
          </a:effectLst>
        </p:grpSpPr>
        <p:pic>
          <p:nvPicPr>
            <p:cNvPr id="1029" name="그림 1028">
              <a:extLst>
                <a:ext uri="{FF2B5EF4-FFF2-40B4-BE49-F238E27FC236}">
                  <a16:creationId xmlns:a16="http://schemas.microsoft.com/office/drawing/2014/main" id="{C32B4365-CACF-0D5A-D442-AEEA7DDA5B7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40842" y="3803167"/>
              <a:ext cx="286463" cy="293792"/>
            </a:xfrm>
            <a:prstGeom prst="rect">
              <a:avLst/>
            </a:prstGeom>
          </p:spPr>
        </p:pic>
        <p:sp>
          <p:nvSpPr>
            <p:cNvPr id="1031" name="대각선 방향의 모서리가 둥근 사각형 1030">
              <a:extLst>
                <a:ext uri="{FF2B5EF4-FFF2-40B4-BE49-F238E27FC236}">
                  <a16:creationId xmlns:a16="http://schemas.microsoft.com/office/drawing/2014/main" id="{583395D6-0F93-C906-38E6-18A70EFD7979}"/>
                </a:ext>
              </a:extLst>
            </p:cNvPr>
            <p:cNvSpPr/>
            <p:nvPr/>
          </p:nvSpPr>
          <p:spPr>
            <a:xfrm>
              <a:off x="962778" y="2561365"/>
              <a:ext cx="1277965" cy="1897408"/>
            </a:xfrm>
            <a:prstGeom prst="round2DiagRect">
              <a:avLst/>
            </a:prstGeom>
            <a:solidFill>
              <a:srgbClr val="DE9B3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dirty="0"/>
            </a:p>
          </p:txBody>
        </p:sp>
        <p:sp>
          <p:nvSpPr>
            <p:cNvPr id="1032" name="대각선 방향의 모서리가 둥근 사각형 1031">
              <a:extLst>
                <a:ext uri="{FF2B5EF4-FFF2-40B4-BE49-F238E27FC236}">
                  <a16:creationId xmlns:a16="http://schemas.microsoft.com/office/drawing/2014/main" id="{8242B2CF-7ABF-B71F-ACC5-9118DFC0B87F}"/>
                </a:ext>
              </a:extLst>
            </p:cNvPr>
            <p:cNvSpPr/>
            <p:nvPr/>
          </p:nvSpPr>
          <p:spPr>
            <a:xfrm>
              <a:off x="962779" y="4096962"/>
              <a:ext cx="1277965" cy="406948"/>
            </a:xfrm>
            <a:prstGeom prst="round2DiagRect">
              <a:avLst>
                <a:gd name="adj1" fmla="val 50000"/>
                <a:gd name="adj2" fmla="val 0"/>
              </a:avLst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dirty="0"/>
            </a:p>
          </p:txBody>
        </p:sp>
        <p:sp>
          <p:nvSpPr>
            <p:cNvPr id="1033" name="대각선 방향의 모서리가 둥근 사각형 1032">
              <a:extLst>
                <a:ext uri="{FF2B5EF4-FFF2-40B4-BE49-F238E27FC236}">
                  <a16:creationId xmlns:a16="http://schemas.microsoft.com/office/drawing/2014/main" id="{4A980381-8FE5-4419-6075-BE8BF2F161BB}"/>
                </a:ext>
              </a:extLst>
            </p:cNvPr>
            <p:cNvSpPr/>
            <p:nvPr/>
          </p:nvSpPr>
          <p:spPr>
            <a:xfrm>
              <a:off x="962779" y="4096961"/>
              <a:ext cx="503781" cy="398406"/>
            </a:xfrm>
            <a:prstGeom prst="round2DiagRect">
              <a:avLst>
                <a:gd name="adj1" fmla="val 0"/>
                <a:gd name="adj2" fmla="val 0"/>
              </a:avLst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dirty="0"/>
            </a:p>
          </p:txBody>
        </p:sp>
        <p:sp>
          <p:nvSpPr>
            <p:cNvPr id="1034" name="TextBox 1033">
              <a:extLst>
                <a:ext uri="{FF2B5EF4-FFF2-40B4-BE49-F238E27FC236}">
                  <a16:creationId xmlns:a16="http://schemas.microsoft.com/office/drawing/2014/main" id="{36C1B36E-E1F8-98AA-2389-70011D775164}"/>
                </a:ext>
              </a:extLst>
            </p:cNvPr>
            <p:cNvSpPr txBox="1"/>
            <p:nvPr/>
          </p:nvSpPr>
          <p:spPr>
            <a:xfrm>
              <a:off x="1171170" y="4127392"/>
              <a:ext cx="81135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ko-KR" altLang="en-US" sz="1400" dirty="0" err="1">
                  <a:solidFill>
                    <a:schemeClr val="bg1"/>
                  </a:solidFill>
                  <a:latin typeface="GyeonggiTitleVOTF Bold" panose="02020803020101020101" pitchFamily="18" charset="-127"/>
                  <a:ea typeface="GyeonggiTitleVOTF Bold" panose="02020803020101020101" pitchFamily="18" charset="-127"/>
                </a:rPr>
                <a:t>루디</a:t>
              </a:r>
              <a:endParaRPr kumimoji="1" lang="en-US" altLang="ko-KR" sz="1400" dirty="0">
                <a:solidFill>
                  <a:schemeClr val="bg1"/>
                </a:solidFill>
                <a:latin typeface="GyeonggiTitleVOTF Bold" panose="02020803020101020101" pitchFamily="18" charset="-127"/>
                <a:ea typeface="GyeonggiTitleVOTF Bold" panose="02020803020101020101" pitchFamily="18" charset="-127"/>
              </a:endParaRPr>
            </a:p>
          </p:txBody>
        </p:sp>
        <p:sp>
          <p:nvSpPr>
            <p:cNvPr id="1035" name="대각선 방향의 모서리가 둥근 사각형 1034">
              <a:extLst>
                <a:ext uri="{FF2B5EF4-FFF2-40B4-BE49-F238E27FC236}">
                  <a16:creationId xmlns:a16="http://schemas.microsoft.com/office/drawing/2014/main" id="{3D7B68DF-FDC8-4A21-1F78-93C3E5EBEAFE}"/>
                </a:ext>
              </a:extLst>
            </p:cNvPr>
            <p:cNvSpPr/>
            <p:nvPr/>
          </p:nvSpPr>
          <p:spPr>
            <a:xfrm>
              <a:off x="948249" y="2561365"/>
              <a:ext cx="1319378" cy="1948736"/>
            </a:xfrm>
            <a:prstGeom prst="round2DiagRect">
              <a:avLst>
                <a:gd name="adj1" fmla="val 16667"/>
                <a:gd name="adj2" fmla="val 0"/>
              </a:avLst>
            </a:prstGeom>
            <a:noFill/>
            <a:ln>
              <a:solidFill>
                <a:srgbClr val="FFFFE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dirty="0"/>
            </a:p>
          </p:txBody>
        </p:sp>
        <p:pic>
          <p:nvPicPr>
            <p:cNvPr id="1036" name="Picture 6">
              <a:extLst>
                <a:ext uri="{FF2B5EF4-FFF2-40B4-BE49-F238E27FC236}">
                  <a16:creationId xmlns:a16="http://schemas.microsoft.com/office/drawing/2014/main" id="{C69A8D39-3583-D3FB-60C5-EA7C6C3792DA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862" t="166" r="7970" b="547"/>
            <a:stretch>
              <a:fillRect/>
            </a:stretch>
          </p:blipFill>
          <p:spPr bwMode="auto">
            <a:xfrm>
              <a:off x="962777" y="2571308"/>
              <a:ext cx="1277966" cy="152565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37" name="그림 1036" descr="스크린샷, 예술, 마룬, 어둠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7F3E74F9-768D-A42A-00CA-B3BA33EF504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44091" y="2561365"/>
              <a:ext cx="730266" cy="755187"/>
            </a:xfrm>
            <a:prstGeom prst="rect">
              <a:avLst/>
            </a:prstGeom>
          </p:spPr>
        </p:pic>
        <p:pic>
          <p:nvPicPr>
            <p:cNvPr id="1038" name="그림 1037">
              <a:extLst>
                <a:ext uri="{FF2B5EF4-FFF2-40B4-BE49-F238E27FC236}">
                  <a16:creationId xmlns:a16="http://schemas.microsoft.com/office/drawing/2014/main" id="{38F25F23-78E5-27F3-9B6C-BDFC82749CEE}"/>
                </a:ext>
              </a:extLst>
            </p:cNvPr>
            <p:cNvPicPr>
              <a:picLocks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62776" y="3808959"/>
              <a:ext cx="288000" cy="288000"/>
            </a:xfrm>
            <a:prstGeom prst="rect">
              <a:avLst/>
            </a:prstGeom>
          </p:spPr>
        </p:pic>
      </p:grpSp>
      <p:grpSp>
        <p:nvGrpSpPr>
          <p:cNvPr id="119" name="그룹 118">
            <a:extLst>
              <a:ext uri="{FF2B5EF4-FFF2-40B4-BE49-F238E27FC236}">
                <a16:creationId xmlns:a16="http://schemas.microsoft.com/office/drawing/2014/main" id="{361CBDAB-642C-1AFF-0AA2-0B53EA807755}"/>
              </a:ext>
            </a:extLst>
          </p:cNvPr>
          <p:cNvGrpSpPr/>
          <p:nvPr/>
        </p:nvGrpSpPr>
        <p:grpSpPr>
          <a:xfrm rot="21312609">
            <a:off x="4646896" y="1395739"/>
            <a:ext cx="1329289" cy="1968207"/>
            <a:chOff x="1722442" y="1956034"/>
            <a:chExt cx="1329289" cy="1968207"/>
          </a:xfrm>
          <a:effectLst>
            <a:outerShdw blurRad="50800" dist="50800" dir="2700000" algn="ctr" rotWithShape="0">
              <a:srgbClr val="000000">
                <a:alpha val="62000"/>
              </a:srgbClr>
            </a:outerShdw>
          </a:effectLst>
        </p:grpSpPr>
        <p:grpSp>
          <p:nvGrpSpPr>
            <p:cNvPr id="120" name="그룹 119">
              <a:extLst>
                <a:ext uri="{FF2B5EF4-FFF2-40B4-BE49-F238E27FC236}">
                  <a16:creationId xmlns:a16="http://schemas.microsoft.com/office/drawing/2014/main" id="{D0F70D20-8BEC-6FB3-E864-6269C35DF24A}"/>
                </a:ext>
              </a:extLst>
            </p:cNvPr>
            <p:cNvGrpSpPr/>
            <p:nvPr/>
          </p:nvGrpSpPr>
          <p:grpSpPr>
            <a:xfrm>
              <a:off x="1722442" y="1956034"/>
              <a:ext cx="1329289" cy="1968207"/>
              <a:chOff x="2050463" y="2359341"/>
              <a:chExt cx="1664465" cy="2118360"/>
            </a:xfrm>
          </p:grpSpPr>
          <p:sp>
            <p:nvSpPr>
              <p:cNvPr id="124" name="대각선 방향의 모서리가 둥근 사각형 123">
                <a:extLst>
                  <a:ext uri="{FF2B5EF4-FFF2-40B4-BE49-F238E27FC236}">
                    <a16:creationId xmlns:a16="http://schemas.microsoft.com/office/drawing/2014/main" id="{7A18CE26-05D3-5226-7F25-82D155DF18FC}"/>
                  </a:ext>
                </a:extLst>
              </p:cNvPr>
              <p:cNvSpPr/>
              <p:nvPr/>
            </p:nvSpPr>
            <p:spPr>
              <a:xfrm>
                <a:off x="2072640" y="2407919"/>
                <a:ext cx="1600200" cy="2042160"/>
              </a:xfrm>
              <a:prstGeom prst="round2DiagRect">
                <a:avLst/>
              </a:prstGeom>
              <a:solidFill>
                <a:srgbClr val="DE9B3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R" altLang="en-US" dirty="0">
                  <a:latin typeface="GyeonggiTitleOTF Light" panose="02020403020101020101" pitchFamily="18" charset="-127"/>
                  <a:ea typeface="GyeonggiTitleOTF Light" panose="02020403020101020101" pitchFamily="18" charset="-127"/>
                </a:endParaRPr>
              </a:p>
            </p:txBody>
          </p:sp>
          <p:grpSp>
            <p:nvGrpSpPr>
              <p:cNvPr id="125" name="그룹 124">
                <a:extLst>
                  <a:ext uri="{FF2B5EF4-FFF2-40B4-BE49-F238E27FC236}">
                    <a16:creationId xmlns:a16="http://schemas.microsoft.com/office/drawing/2014/main" id="{B5884A1F-D5A4-F515-136C-B133508E9268}"/>
                  </a:ext>
                </a:extLst>
              </p:cNvPr>
              <p:cNvGrpSpPr/>
              <p:nvPr/>
            </p:nvGrpSpPr>
            <p:grpSpPr>
              <a:xfrm>
                <a:off x="2072640" y="4012086"/>
                <a:ext cx="1600200" cy="437995"/>
                <a:chOff x="2072640" y="4035642"/>
                <a:chExt cx="1600200" cy="414437"/>
              </a:xfrm>
            </p:grpSpPr>
            <p:sp>
              <p:nvSpPr>
                <p:cNvPr id="1024" name="대각선 방향의 모서리가 둥근 사각형 1023">
                  <a:extLst>
                    <a:ext uri="{FF2B5EF4-FFF2-40B4-BE49-F238E27FC236}">
                      <a16:creationId xmlns:a16="http://schemas.microsoft.com/office/drawing/2014/main" id="{8083EE5F-E4CB-27D0-1CB9-8FC6737B655A}"/>
                    </a:ext>
                  </a:extLst>
                </p:cNvPr>
                <p:cNvSpPr/>
                <p:nvPr/>
              </p:nvSpPr>
              <p:spPr>
                <a:xfrm>
                  <a:off x="2072640" y="4035643"/>
                  <a:ext cx="1600200" cy="414436"/>
                </a:xfrm>
                <a:prstGeom prst="round2DiagRect">
                  <a:avLst>
                    <a:gd name="adj1" fmla="val 50000"/>
                    <a:gd name="adj2" fmla="val 0"/>
                  </a:avLst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ko-KR" altLang="en-US" dirty="0">
                    <a:latin typeface="GyeonggiTitleOTF Light" panose="02020403020101020101" pitchFamily="18" charset="-127"/>
                    <a:ea typeface="GyeonggiTitleOTF Light" panose="02020403020101020101" pitchFamily="18" charset="-127"/>
                  </a:endParaRPr>
                </a:p>
              </p:txBody>
            </p:sp>
            <p:sp>
              <p:nvSpPr>
                <p:cNvPr id="1025" name="대각선 방향의 모서리가 둥근 사각형 1024">
                  <a:extLst>
                    <a:ext uri="{FF2B5EF4-FFF2-40B4-BE49-F238E27FC236}">
                      <a16:creationId xmlns:a16="http://schemas.microsoft.com/office/drawing/2014/main" id="{AC2FEE09-C0C2-3BF7-5F75-FD42D1176718}"/>
                    </a:ext>
                  </a:extLst>
                </p:cNvPr>
                <p:cNvSpPr/>
                <p:nvPr/>
              </p:nvSpPr>
              <p:spPr>
                <a:xfrm>
                  <a:off x="2072640" y="4035642"/>
                  <a:ext cx="630808" cy="405737"/>
                </a:xfrm>
                <a:prstGeom prst="round2DiagRect">
                  <a:avLst>
                    <a:gd name="adj1" fmla="val 0"/>
                    <a:gd name="adj2" fmla="val 0"/>
                  </a:avLst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ko-KR" altLang="en-US" dirty="0">
                    <a:latin typeface="GyeonggiTitleOTF Light" panose="02020403020101020101" pitchFamily="18" charset="-127"/>
                    <a:ea typeface="GyeonggiTitleOTF Light" panose="02020403020101020101" pitchFamily="18" charset="-127"/>
                  </a:endParaRPr>
                </a:p>
              </p:txBody>
            </p:sp>
          </p:grpSp>
          <p:sp>
            <p:nvSpPr>
              <p:cNvPr id="126" name="대각선 방향의 모서리가 둥근 사각형 125">
                <a:extLst>
                  <a:ext uri="{FF2B5EF4-FFF2-40B4-BE49-F238E27FC236}">
                    <a16:creationId xmlns:a16="http://schemas.microsoft.com/office/drawing/2014/main" id="{574E1F84-22AA-55FB-4C20-4A72F810E8ED}"/>
                  </a:ext>
                </a:extLst>
              </p:cNvPr>
              <p:cNvSpPr/>
              <p:nvPr/>
            </p:nvSpPr>
            <p:spPr>
              <a:xfrm>
                <a:off x="2050463" y="2380297"/>
                <a:ext cx="1652055" cy="2097404"/>
              </a:xfrm>
              <a:prstGeom prst="round2DiagRect">
                <a:avLst>
                  <a:gd name="adj1" fmla="val 16667"/>
                  <a:gd name="adj2" fmla="val 0"/>
                </a:avLst>
              </a:prstGeom>
              <a:noFill/>
              <a:ln>
                <a:solidFill>
                  <a:srgbClr val="FFFFED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R" altLang="en-US" dirty="0">
                  <a:latin typeface="GyeonggiTitleOTF Light" panose="02020403020101020101" pitchFamily="18" charset="-127"/>
                  <a:ea typeface="GyeonggiTitleOTF Light" panose="02020403020101020101" pitchFamily="18" charset="-127"/>
                </a:endParaRPr>
              </a:p>
            </p:txBody>
          </p:sp>
          <p:pic>
            <p:nvPicPr>
              <p:cNvPr id="127" name="그림 126" descr="스크린샷, 예술, 마룬, 어둠이(가) 표시된 사진&#10;&#10;AI 생성 콘텐츠는 정확하지 않을 수 있습니다.">
                <a:extLst>
                  <a:ext uri="{FF2B5EF4-FFF2-40B4-BE49-F238E27FC236}">
                    <a16:creationId xmlns:a16="http://schemas.microsoft.com/office/drawing/2014/main" id="{D18C1101-27C4-649C-A603-EF2B7E79B35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800528" y="2359341"/>
                <a:ext cx="914400" cy="812800"/>
              </a:xfrm>
              <a:prstGeom prst="rect">
                <a:avLst/>
              </a:prstGeom>
            </p:spPr>
          </p:pic>
        </p:grpSp>
        <p:sp>
          <p:nvSpPr>
            <p:cNvPr id="121" name="TextBox 120">
              <a:extLst>
                <a:ext uri="{FF2B5EF4-FFF2-40B4-BE49-F238E27FC236}">
                  <a16:creationId xmlns:a16="http://schemas.microsoft.com/office/drawing/2014/main" id="{5D1B18AB-557F-9FF5-64A6-293F7D383437}"/>
                </a:ext>
              </a:extLst>
            </p:cNvPr>
            <p:cNvSpPr txBox="1"/>
            <p:nvPr/>
          </p:nvSpPr>
          <p:spPr>
            <a:xfrm>
              <a:off x="1948544" y="3522061"/>
              <a:ext cx="81135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ko-KR" altLang="en-US" sz="1400" dirty="0">
                  <a:solidFill>
                    <a:schemeClr val="bg1"/>
                  </a:solidFill>
                  <a:latin typeface="GyeonggiTitleVOTF Bold" panose="02020803020101020101" pitchFamily="18" charset="-127"/>
                  <a:ea typeface="GyeonggiTitleVOTF Bold" panose="02020803020101020101" pitchFamily="18" charset="-127"/>
                </a:rPr>
                <a:t>카일</a:t>
              </a:r>
            </a:p>
          </p:txBody>
        </p:sp>
        <p:pic>
          <p:nvPicPr>
            <p:cNvPr id="122" name="Picture 2">
              <a:extLst>
                <a:ext uri="{FF2B5EF4-FFF2-40B4-BE49-F238E27FC236}">
                  <a16:creationId xmlns:a16="http://schemas.microsoft.com/office/drawing/2014/main" id="{C4FA8B07-E7DB-8F11-8082-47C5DA64AB51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387" t="1838" r="9697"/>
            <a:stretch>
              <a:fillRect/>
            </a:stretch>
          </p:blipFill>
          <p:spPr bwMode="auto">
            <a:xfrm>
              <a:off x="1745953" y="2014042"/>
              <a:ext cx="1267334" cy="147758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3" name="그림 122">
              <a:extLst>
                <a:ext uri="{FF2B5EF4-FFF2-40B4-BE49-F238E27FC236}">
                  <a16:creationId xmlns:a16="http://schemas.microsoft.com/office/drawing/2014/main" id="{0EB9E54E-4C47-7952-2012-89AD7274C039}"/>
                </a:ext>
              </a:extLst>
            </p:cNvPr>
            <p:cNvPicPr>
              <a:picLocks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40151" y="3197836"/>
              <a:ext cx="288000" cy="288000"/>
            </a:xfrm>
            <a:prstGeom prst="rect">
              <a:avLst/>
            </a:prstGeom>
          </p:spPr>
        </p:pic>
      </p:grpSp>
      <p:grpSp>
        <p:nvGrpSpPr>
          <p:cNvPr id="117" name="그룹 116">
            <a:extLst>
              <a:ext uri="{FF2B5EF4-FFF2-40B4-BE49-F238E27FC236}">
                <a16:creationId xmlns:a16="http://schemas.microsoft.com/office/drawing/2014/main" id="{A30BBA10-CDDB-6D54-FB44-1359E2B77BB2}"/>
              </a:ext>
            </a:extLst>
          </p:cNvPr>
          <p:cNvGrpSpPr/>
          <p:nvPr/>
        </p:nvGrpSpPr>
        <p:grpSpPr>
          <a:xfrm rot="308153">
            <a:off x="5863139" y="1419411"/>
            <a:ext cx="1328400" cy="1969200"/>
            <a:chOff x="8589992" y="2056532"/>
            <a:chExt cx="1326108" cy="1948736"/>
          </a:xfrm>
        </p:grpSpPr>
        <p:grpSp>
          <p:nvGrpSpPr>
            <p:cNvPr id="109" name="그룹 108">
              <a:extLst>
                <a:ext uri="{FF2B5EF4-FFF2-40B4-BE49-F238E27FC236}">
                  <a16:creationId xmlns:a16="http://schemas.microsoft.com/office/drawing/2014/main" id="{E026FC4A-C817-1E1F-86A7-A73EF45D35A4}"/>
                </a:ext>
              </a:extLst>
            </p:cNvPr>
            <p:cNvGrpSpPr/>
            <p:nvPr/>
          </p:nvGrpSpPr>
          <p:grpSpPr>
            <a:xfrm>
              <a:off x="8589992" y="2056532"/>
              <a:ext cx="1326108" cy="1948736"/>
              <a:chOff x="3627500" y="2599000"/>
              <a:chExt cx="1326108" cy="1948736"/>
            </a:xfrm>
            <a:effectLst>
              <a:outerShdw blurRad="50800" dist="63500" dir="2700000" algn="ctr" rotWithShape="0">
                <a:srgbClr val="000000">
                  <a:alpha val="60284"/>
                </a:srgbClr>
              </a:outerShdw>
            </a:effectLst>
          </p:grpSpPr>
          <p:sp>
            <p:nvSpPr>
              <p:cNvPr id="110" name="대각선 방향의 모서리가 둥근 사각형 109">
                <a:extLst>
                  <a:ext uri="{FF2B5EF4-FFF2-40B4-BE49-F238E27FC236}">
                    <a16:creationId xmlns:a16="http://schemas.microsoft.com/office/drawing/2014/main" id="{7C7BDA7A-9386-FA57-B15F-D30D3EA15C1E}"/>
                  </a:ext>
                </a:extLst>
              </p:cNvPr>
              <p:cNvSpPr/>
              <p:nvPr/>
            </p:nvSpPr>
            <p:spPr>
              <a:xfrm>
                <a:off x="3642029" y="2599000"/>
                <a:ext cx="1277965" cy="1897408"/>
              </a:xfrm>
              <a:prstGeom prst="round2DiagRect">
                <a:avLst/>
              </a:prstGeom>
              <a:solidFill>
                <a:srgbClr val="DE9B3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R" altLang="en-US" dirty="0">
                  <a:latin typeface="GyeonggiTitle Bold" panose="02020803020101020101" pitchFamily="18" charset="-127"/>
                  <a:ea typeface="GyeonggiTitle Bold" panose="02020803020101020101" pitchFamily="18" charset="-127"/>
                </a:endParaRPr>
              </a:p>
            </p:txBody>
          </p:sp>
          <p:sp>
            <p:nvSpPr>
              <p:cNvPr id="111" name="대각선 방향의 모서리가 둥근 사각형 110">
                <a:extLst>
                  <a:ext uri="{FF2B5EF4-FFF2-40B4-BE49-F238E27FC236}">
                    <a16:creationId xmlns:a16="http://schemas.microsoft.com/office/drawing/2014/main" id="{E6CA9FC0-1243-6D6E-5145-81DC73FAA877}"/>
                  </a:ext>
                </a:extLst>
              </p:cNvPr>
              <p:cNvSpPr/>
              <p:nvPr/>
            </p:nvSpPr>
            <p:spPr>
              <a:xfrm>
                <a:off x="3642030" y="4134597"/>
                <a:ext cx="1277965" cy="406948"/>
              </a:xfrm>
              <a:prstGeom prst="round2DiagRect">
                <a:avLst>
                  <a:gd name="adj1" fmla="val 50000"/>
                  <a:gd name="adj2" fmla="val 0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R" altLang="en-US" dirty="0">
                  <a:latin typeface="GyeonggiTitle Bold" panose="02020803020101020101" pitchFamily="18" charset="-127"/>
                  <a:ea typeface="GyeonggiTitle Bold" panose="02020803020101020101" pitchFamily="18" charset="-127"/>
                </a:endParaRPr>
              </a:p>
            </p:txBody>
          </p:sp>
          <p:sp>
            <p:nvSpPr>
              <p:cNvPr id="112" name="대각선 방향의 모서리가 둥근 사각형 111">
                <a:extLst>
                  <a:ext uri="{FF2B5EF4-FFF2-40B4-BE49-F238E27FC236}">
                    <a16:creationId xmlns:a16="http://schemas.microsoft.com/office/drawing/2014/main" id="{1EBA98B3-4BC0-8214-1A1E-AD069F2B0451}"/>
                  </a:ext>
                </a:extLst>
              </p:cNvPr>
              <p:cNvSpPr/>
              <p:nvPr/>
            </p:nvSpPr>
            <p:spPr>
              <a:xfrm>
                <a:off x="3642030" y="4134596"/>
                <a:ext cx="503781" cy="398406"/>
              </a:xfrm>
              <a:prstGeom prst="round2DiagRect">
                <a:avLst>
                  <a:gd name="adj1" fmla="val 0"/>
                  <a:gd name="adj2" fmla="val 0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R" altLang="en-US" dirty="0">
                  <a:latin typeface="GyeonggiTitle Bold" panose="02020803020101020101" pitchFamily="18" charset="-127"/>
                  <a:ea typeface="GyeonggiTitle Bold" panose="02020803020101020101" pitchFamily="18" charset="-127"/>
                </a:endParaRPr>
              </a:p>
            </p:txBody>
          </p:sp>
          <p:sp>
            <p:nvSpPr>
              <p:cNvPr id="113" name="TextBox 112">
                <a:extLst>
                  <a:ext uri="{FF2B5EF4-FFF2-40B4-BE49-F238E27FC236}">
                    <a16:creationId xmlns:a16="http://schemas.microsoft.com/office/drawing/2014/main" id="{DD089FFF-395A-6691-8458-D1C6E9B913F8}"/>
                  </a:ext>
                </a:extLst>
              </p:cNvPr>
              <p:cNvSpPr txBox="1"/>
              <p:nvPr/>
            </p:nvSpPr>
            <p:spPr>
              <a:xfrm>
                <a:off x="3850421" y="4165027"/>
                <a:ext cx="81135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ko-KR" altLang="en-US" sz="1400" dirty="0">
                    <a:solidFill>
                      <a:schemeClr val="bg1"/>
                    </a:solidFill>
                    <a:latin typeface="GyeonggiTitle Bold" panose="02020803020101020101" pitchFamily="18" charset="-127"/>
                    <a:ea typeface="GyeonggiTitle Bold" panose="02020803020101020101" pitchFamily="18" charset="-127"/>
                  </a:rPr>
                  <a:t>크리스</a:t>
                </a:r>
                <a:endParaRPr kumimoji="1" lang="en-US" altLang="ko-KR" sz="1400" dirty="0">
                  <a:solidFill>
                    <a:schemeClr val="bg1"/>
                  </a:solidFill>
                  <a:latin typeface="GyeonggiTitle Bold" panose="02020803020101020101" pitchFamily="18" charset="-127"/>
                  <a:ea typeface="GyeonggiTitle Bold" panose="02020803020101020101" pitchFamily="18" charset="-127"/>
                </a:endParaRPr>
              </a:p>
            </p:txBody>
          </p:sp>
          <p:sp>
            <p:nvSpPr>
              <p:cNvPr id="114" name="대각선 방향의 모서리가 둥근 사각형 113">
                <a:extLst>
                  <a:ext uri="{FF2B5EF4-FFF2-40B4-BE49-F238E27FC236}">
                    <a16:creationId xmlns:a16="http://schemas.microsoft.com/office/drawing/2014/main" id="{E7E708EF-B380-AFC0-C969-86B7AE95EB31}"/>
                  </a:ext>
                </a:extLst>
              </p:cNvPr>
              <p:cNvSpPr/>
              <p:nvPr/>
            </p:nvSpPr>
            <p:spPr>
              <a:xfrm>
                <a:off x="3627500" y="2599000"/>
                <a:ext cx="1319378" cy="1948736"/>
              </a:xfrm>
              <a:prstGeom prst="round2DiagRect">
                <a:avLst>
                  <a:gd name="adj1" fmla="val 16667"/>
                  <a:gd name="adj2" fmla="val 0"/>
                </a:avLst>
              </a:prstGeom>
              <a:noFill/>
              <a:ln>
                <a:solidFill>
                  <a:srgbClr val="FFFFED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R" altLang="en-US" dirty="0">
                  <a:latin typeface="GyeonggiTitle Bold" panose="02020803020101020101" pitchFamily="18" charset="-127"/>
                  <a:ea typeface="GyeonggiTitle Bold" panose="02020803020101020101" pitchFamily="18" charset="-127"/>
                </a:endParaRPr>
              </a:p>
            </p:txBody>
          </p:sp>
          <p:sp>
            <p:nvSpPr>
              <p:cNvPr id="115" name="한쪽 모서리가 둥근 사각형 114">
                <a:extLst>
                  <a:ext uri="{FF2B5EF4-FFF2-40B4-BE49-F238E27FC236}">
                    <a16:creationId xmlns:a16="http://schemas.microsoft.com/office/drawing/2014/main" id="{584F1CB2-DB63-A658-DE16-E8529B46D4B6}"/>
                  </a:ext>
                </a:extLst>
              </p:cNvPr>
              <p:cNvSpPr/>
              <p:nvPr/>
            </p:nvSpPr>
            <p:spPr>
              <a:xfrm flipH="1">
                <a:off x="3634695" y="2611606"/>
                <a:ext cx="1292632" cy="1534544"/>
              </a:xfrm>
              <a:prstGeom prst="round1Rect">
                <a:avLst/>
              </a:prstGeom>
              <a:blipFill dpi="0" rotWithShape="1">
                <a:blip r:embed="rId8"/>
                <a:srcRect/>
                <a:stretch>
                  <a:fillRect/>
                </a:stretch>
              </a:blip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R" altLang="en-US" dirty="0">
                  <a:latin typeface="GyeonggiTitle Bold" panose="02020803020101020101" pitchFamily="18" charset="-127"/>
                  <a:ea typeface="GyeonggiTitle Bold" panose="02020803020101020101" pitchFamily="18" charset="-127"/>
                </a:endParaRPr>
              </a:p>
            </p:txBody>
          </p:sp>
          <p:pic>
            <p:nvPicPr>
              <p:cNvPr id="116" name="그림 115" descr="스크린샷, 예술, 마룬, 어둠이(가) 표시된 사진&#10;&#10;AI 생성 콘텐츠는 정확하지 않을 수 있습니다.">
                <a:extLst>
                  <a:ext uri="{FF2B5EF4-FFF2-40B4-BE49-F238E27FC236}">
                    <a16:creationId xmlns:a16="http://schemas.microsoft.com/office/drawing/2014/main" id="{668F506E-F15E-ABFC-CAB7-C84C1FA8D60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223342" y="2599000"/>
                <a:ext cx="730266" cy="755187"/>
              </a:xfrm>
              <a:prstGeom prst="rect">
                <a:avLst/>
              </a:prstGeom>
            </p:spPr>
          </p:pic>
        </p:grpSp>
        <p:pic>
          <p:nvPicPr>
            <p:cNvPr id="1030" name="Picture 6" descr="세븐나이츠 리버스-유형 만능형">
              <a:extLst>
                <a:ext uri="{FF2B5EF4-FFF2-40B4-BE49-F238E27FC236}">
                  <a16:creationId xmlns:a16="http://schemas.microsoft.com/office/drawing/2014/main" id="{C05D8250-8490-426D-BBE9-FBDD2EAE976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613779" y="3264778"/>
              <a:ext cx="342000" cy="342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18" name="그룹 117">
            <a:extLst>
              <a:ext uri="{FF2B5EF4-FFF2-40B4-BE49-F238E27FC236}">
                <a16:creationId xmlns:a16="http://schemas.microsoft.com/office/drawing/2014/main" id="{9E8B26B0-323A-E07C-E946-D0DA281DF64F}"/>
              </a:ext>
            </a:extLst>
          </p:cNvPr>
          <p:cNvGrpSpPr/>
          <p:nvPr/>
        </p:nvGrpSpPr>
        <p:grpSpPr>
          <a:xfrm rot="1342583">
            <a:off x="6992302" y="1735052"/>
            <a:ext cx="1328400" cy="1969200"/>
            <a:chOff x="10319198" y="2071266"/>
            <a:chExt cx="1326108" cy="1948736"/>
          </a:xfrm>
        </p:grpSpPr>
        <p:grpSp>
          <p:nvGrpSpPr>
            <p:cNvPr id="99" name="그룹 98">
              <a:extLst>
                <a:ext uri="{FF2B5EF4-FFF2-40B4-BE49-F238E27FC236}">
                  <a16:creationId xmlns:a16="http://schemas.microsoft.com/office/drawing/2014/main" id="{FD2F67E4-4AC1-9026-6B22-3474A6F3258A}"/>
                </a:ext>
              </a:extLst>
            </p:cNvPr>
            <p:cNvGrpSpPr/>
            <p:nvPr/>
          </p:nvGrpSpPr>
          <p:grpSpPr>
            <a:xfrm>
              <a:off x="10319198" y="2071266"/>
              <a:ext cx="1326108" cy="1948736"/>
              <a:chOff x="3627500" y="2599000"/>
              <a:chExt cx="1326108" cy="1948736"/>
            </a:xfrm>
            <a:effectLst>
              <a:outerShdw blurRad="50800" dist="63500" dir="2700000" algn="ctr" rotWithShape="0">
                <a:srgbClr val="000000">
                  <a:alpha val="60284"/>
                </a:srgbClr>
              </a:outerShdw>
            </a:effectLst>
          </p:grpSpPr>
          <p:sp>
            <p:nvSpPr>
              <p:cNvPr id="100" name="대각선 방향의 모서리가 둥근 사각형 99">
                <a:extLst>
                  <a:ext uri="{FF2B5EF4-FFF2-40B4-BE49-F238E27FC236}">
                    <a16:creationId xmlns:a16="http://schemas.microsoft.com/office/drawing/2014/main" id="{92233551-9CE1-24C3-2003-47973985A12F}"/>
                  </a:ext>
                </a:extLst>
              </p:cNvPr>
              <p:cNvSpPr/>
              <p:nvPr/>
            </p:nvSpPr>
            <p:spPr>
              <a:xfrm>
                <a:off x="3642029" y="2599000"/>
                <a:ext cx="1277965" cy="1897408"/>
              </a:xfrm>
              <a:prstGeom prst="round2DiagRect">
                <a:avLst/>
              </a:prstGeom>
              <a:solidFill>
                <a:srgbClr val="DE9B3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R" altLang="en-US" dirty="0">
                  <a:latin typeface="GyeonggiTitle Bold" panose="02020803020101020101" pitchFamily="18" charset="-127"/>
                  <a:ea typeface="GyeonggiTitle Bold" panose="02020803020101020101" pitchFamily="18" charset="-127"/>
                </a:endParaRPr>
              </a:p>
            </p:txBody>
          </p:sp>
          <p:sp>
            <p:nvSpPr>
              <p:cNvPr id="101" name="대각선 방향의 모서리가 둥근 사각형 100">
                <a:extLst>
                  <a:ext uri="{FF2B5EF4-FFF2-40B4-BE49-F238E27FC236}">
                    <a16:creationId xmlns:a16="http://schemas.microsoft.com/office/drawing/2014/main" id="{731A47D4-BDFC-2F1E-AC70-745A76807CE7}"/>
                  </a:ext>
                </a:extLst>
              </p:cNvPr>
              <p:cNvSpPr/>
              <p:nvPr/>
            </p:nvSpPr>
            <p:spPr>
              <a:xfrm>
                <a:off x="3642030" y="4134597"/>
                <a:ext cx="1277965" cy="406948"/>
              </a:xfrm>
              <a:prstGeom prst="round2DiagRect">
                <a:avLst>
                  <a:gd name="adj1" fmla="val 50000"/>
                  <a:gd name="adj2" fmla="val 0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R" altLang="en-US" dirty="0">
                  <a:latin typeface="GyeonggiTitle Bold" panose="02020803020101020101" pitchFamily="18" charset="-127"/>
                  <a:ea typeface="GyeonggiTitle Bold" panose="02020803020101020101" pitchFamily="18" charset="-127"/>
                </a:endParaRPr>
              </a:p>
            </p:txBody>
          </p:sp>
          <p:sp>
            <p:nvSpPr>
              <p:cNvPr id="102" name="대각선 방향의 모서리가 둥근 사각형 101">
                <a:extLst>
                  <a:ext uri="{FF2B5EF4-FFF2-40B4-BE49-F238E27FC236}">
                    <a16:creationId xmlns:a16="http://schemas.microsoft.com/office/drawing/2014/main" id="{02C4BFA2-C771-A665-2E56-B9EE65867581}"/>
                  </a:ext>
                </a:extLst>
              </p:cNvPr>
              <p:cNvSpPr/>
              <p:nvPr/>
            </p:nvSpPr>
            <p:spPr>
              <a:xfrm>
                <a:off x="3642030" y="4134596"/>
                <a:ext cx="503781" cy="398406"/>
              </a:xfrm>
              <a:prstGeom prst="round2DiagRect">
                <a:avLst>
                  <a:gd name="adj1" fmla="val 0"/>
                  <a:gd name="adj2" fmla="val 0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R" altLang="en-US" dirty="0">
                  <a:latin typeface="GyeonggiTitle Bold" panose="02020803020101020101" pitchFamily="18" charset="-127"/>
                  <a:ea typeface="GyeonggiTitle Bold" panose="02020803020101020101" pitchFamily="18" charset="-127"/>
                </a:endParaRPr>
              </a:p>
            </p:txBody>
          </p:sp>
          <p:sp>
            <p:nvSpPr>
              <p:cNvPr id="103" name="TextBox 102">
                <a:extLst>
                  <a:ext uri="{FF2B5EF4-FFF2-40B4-BE49-F238E27FC236}">
                    <a16:creationId xmlns:a16="http://schemas.microsoft.com/office/drawing/2014/main" id="{83FBA6C0-FCF5-3B94-A9D1-6D4369CA6C61}"/>
                  </a:ext>
                </a:extLst>
              </p:cNvPr>
              <p:cNvSpPr txBox="1"/>
              <p:nvPr/>
            </p:nvSpPr>
            <p:spPr>
              <a:xfrm>
                <a:off x="3850421" y="4165027"/>
                <a:ext cx="81135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ko-KR" altLang="en-US" sz="1400" dirty="0">
                    <a:solidFill>
                      <a:schemeClr val="bg1"/>
                    </a:solidFill>
                    <a:latin typeface="GyeonggiTitle Bold" panose="02020803020101020101" pitchFamily="18" charset="-127"/>
                    <a:ea typeface="GyeonggiTitle Bold" panose="02020803020101020101" pitchFamily="18" charset="-127"/>
                  </a:rPr>
                  <a:t>린</a:t>
                </a:r>
                <a:endParaRPr kumimoji="1" lang="en-US" altLang="ko-KR" sz="1400" dirty="0">
                  <a:solidFill>
                    <a:schemeClr val="bg1"/>
                  </a:solidFill>
                  <a:latin typeface="GyeonggiTitle Bold" panose="02020803020101020101" pitchFamily="18" charset="-127"/>
                  <a:ea typeface="GyeonggiTitle Bold" panose="02020803020101020101" pitchFamily="18" charset="-127"/>
                </a:endParaRPr>
              </a:p>
            </p:txBody>
          </p:sp>
          <p:sp>
            <p:nvSpPr>
              <p:cNvPr id="104" name="대각선 방향의 모서리가 둥근 사각형 103">
                <a:extLst>
                  <a:ext uri="{FF2B5EF4-FFF2-40B4-BE49-F238E27FC236}">
                    <a16:creationId xmlns:a16="http://schemas.microsoft.com/office/drawing/2014/main" id="{37D812FB-1ECA-B8AC-BC57-F684A891B553}"/>
                  </a:ext>
                </a:extLst>
              </p:cNvPr>
              <p:cNvSpPr/>
              <p:nvPr/>
            </p:nvSpPr>
            <p:spPr>
              <a:xfrm>
                <a:off x="3627500" y="2599000"/>
                <a:ext cx="1319378" cy="1948736"/>
              </a:xfrm>
              <a:prstGeom prst="round2DiagRect">
                <a:avLst>
                  <a:gd name="adj1" fmla="val 16667"/>
                  <a:gd name="adj2" fmla="val 0"/>
                </a:avLst>
              </a:prstGeom>
              <a:noFill/>
              <a:ln>
                <a:solidFill>
                  <a:srgbClr val="FFFFED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R" altLang="en-US" dirty="0">
                  <a:latin typeface="GyeonggiTitle Bold" panose="02020803020101020101" pitchFamily="18" charset="-127"/>
                  <a:ea typeface="GyeonggiTitle Bold" panose="02020803020101020101" pitchFamily="18" charset="-127"/>
                </a:endParaRPr>
              </a:p>
            </p:txBody>
          </p:sp>
          <p:sp>
            <p:nvSpPr>
              <p:cNvPr id="105" name="한쪽 모서리가 둥근 사각형 104">
                <a:extLst>
                  <a:ext uri="{FF2B5EF4-FFF2-40B4-BE49-F238E27FC236}">
                    <a16:creationId xmlns:a16="http://schemas.microsoft.com/office/drawing/2014/main" id="{350046C2-36D6-F594-C9B0-E3E45FC3D8E9}"/>
                  </a:ext>
                </a:extLst>
              </p:cNvPr>
              <p:cNvSpPr/>
              <p:nvPr/>
            </p:nvSpPr>
            <p:spPr>
              <a:xfrm flipH="1">
                <a:off x="3641890" y="2622553"/>
                <a:ext cx="1276092" cy="1514909"/>
              </a:xfrm>
              <a:prstGeom prst="round1Rect">
                <a:avLst/>
              </a:prstGeom>
              <a:blipFill dpi="0" rotWithShape="1">
                <a:blip r:embed="rId10"/>
                <a:srcRect/>
                <a:stretch>
                  <a:fillRect/>
                </a:stretch>
              </a:blip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R" altLang="en-US" dirty="0">
                  <a:latin typeface="GyeonggiTitle Bold" panose="02020803020101020101" pitchFamily="18" charset="-127"/>
                  <a:ea typeface="GyeonggiTitle Bold" panose="02020803020101020101" pitchFamily="18" charset="-127"/>
                </a:endParaRPr>
              </a:p>
            </p:txBody>
          </p:sp>
          <p:pic>
            <p:nvPicPr>
              <p:cNvPr id="106" name="그림 105" descr="스크린샷, 예술, 마룬, 어둠이(가) 표시된 사진&#10;&#10;AI 생성 콘텐츠는 정확하지 않을 수 있습니다.">
                <a:extLst>
                  <a:ext uri="{FF2B5EF4-FFF2-40B4-BE49-F238E27FC236}">
                    <a16:creationId xmlns:a16="http://schemas.microsoft.com/office/drawing/2014/main" id="{C5D0B53D-42B3-CF2E-4B4D-1FECBACB9EB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223342" y="2599000"/>
                <a:ext cx="730266" cy="755187"/>
              </a:xfrm>
              <a:prstGeom prst="rect">
                <a:avLst/>
              </a:prstGeom>
            </p:spPr>
          </p:pic>
        </p:grpSp>
        <p:pic>
          <p:nvPicPr>
            <p:cNvPr id="16" name="그림 15">
              <a:extLst>
                <a:ext uri="{FF2B5EF4-FFF2-40B4-BE49-F238E27FC236}">
                  <a16:creationId xmlns:a16="http://schemas.microsoft.com/office/drawing/2014/main" id="{CF621093-450D-A056-C64C-E9591212B223}"/>
                </a:ext>
              </a:extLst>
            </p:cNvPr>
            <p:cNvPicPr>
              <a:picLocks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10353851" y="3265076"/>
              <a:ext cx="341785" cy="34178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89518596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54BB02D-5D7F-8B37-1C42-71A2C3CEC7B3}"/>
              </a:ext>
            </a:extLst>
          </p:cNvPr>
          <p:cNvSpPr txBox="1"/>
          <p:nvPr/>
        </p:nvSpPr>
        <p:spPr>
          <a:xfrm>
            <a:off x="5848109" y="6412606"/>
            <a:ext cx="55328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ko-KR" sz="1000" dirty="0">
                <a:latin typeface="GyeonggiTitle Bold" panose="02020803020101020101" pitchFamily="18" charset="-127"/>
                <a:ea typeface="GyeonggiTitle Bold" panose="02020803020101020101" pitchFamily="18" charset="-127"/>
              </a:rPr>
              <a:t>- 21 - </a:t>
            </a:r>
            <a:endParaRPr kumimoji="1" lang="ko-KR" altLang="en-US" sz="1000" dirty="0">
              <a:latin typeface="GyeonggiTitle Bold" panose="02020803020101020101" pitchFamily="18" charset="-127"/>
              <a:ea typeface="GyeonggiTitle Bold" panose="020208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381625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14307</TotalTime>
  <Words>1588</Words>
  <Application>Microsoft Macintosh PowerPoint</Application>
  <PresentationFormat>와이드스크린</PresentationFormat>
  <Paragraphs>364</Paragraphs>
  <Slides>22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22</vt:i4>
      </vt:variant>
    </vt:vector>
  </HeadingPairs>
  <TitlesOfParts>
    <vt:vector size="30" baseType="lpstr">
      <vt:lpstr>GyeonggiTitleVOTF Bold</vt:lpstr>
      <vt:lpstr>Arial</vt:lpstr>
      <vt:lpstr>GyeonggiTitle Bold</vt:lpstr>
      <vt:lpstr>경기천년제목VOTF Bold</vt:lpstr>
      <vt:lpstr>GYEONGGITITLEOTF LIGHT</vt:lpstr>
      <vt:lpstr>맑은 고딕</vt:lpstr>
      <vt:lpstr>GYEONGGITITLEOTF LIGHT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GameSW</dc:creator>
  <cp:lastModifiedBy>하민철</cp:lastModifiedBy>
  <cp:revision>56</cp:revision>
  <dcterms:created xsi:type="dcterms:W3CDTF">2025-09-20T05:46:22Z</dcterms:created>
  <dcterms:modified xsi:type="dcterms:W3CDTF">2025-12-06T08:02:31Z</dcterms:modified>
</cp:coreProperties>
</file>